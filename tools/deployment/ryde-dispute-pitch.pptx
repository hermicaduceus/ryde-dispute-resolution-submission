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470"/>
                </a:solidFill>
                <a:latin typeface="Calibri"/>
              </a:defRPr>
            </a:pPr>
            <a:r>
              <a:rPr sz="1200" b="0" i="0" u="none" strike="noStrike">
                <a:solidFill>
                  <a:srgbClr val="5A6470"/>
                </a:solidFill>
                <a:latin typeface="Calibri"/>
              </a:rPr>
              <a:t>Cumulative spend on in-scope disputes, S$k</a:t>
            </a:r>
          </a:p>
        </c:rich>
      </c:tx>
      <c:layout/>
      <c:overlay val="0"/>
    </c:title>
    <c:autoTitleDeleted val="0"/>
    <c:plotArea>
      <c:layout/>
      <c:lineChart>
        <c:varyColors val="0"/>
        <c:ser>
          <c:idx val="0"/>
          <c:order val="0"/>
          <c:tx>
            <c:strRef>
              <c:f>Sheet1!$B$1</c:f>
              <c:strCache>
                <c:ptCount val="1"/>
                <c:pt idx="0">
                  <c:v>Do nothing (manual handling)</c:v>
                </c:pt>
              </c:strCache>
            </c:strRef>
          </c:tx>
          <c:spPr>
            <a:solidFill>
              <a:srgbClr val="31373E"/>
            </a:solidFill>
            <a:ln w="38100" cap="flat">
              <a:solidFill>
                <a:srgbClr val="3137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1373E"/>
              </a:solidFill>
              <a:ln w="9525" cap="flat">
                <a:solidFill>
                  <a:srgbClr val="31373E"/>
                </a:solidFill>
                <a:prstDash val="solid"/>
                <a:round/>
              </a:ln>
              <a:effectLst/>
            </c:spPr>
          </c:marker>
          <c:cat>
            <c:multiLvlStrRef>
              <c:f>Sheet1!$A$2:$A$38</c:f>
              <c:multiLvlStrCache>
                <c:ptCount val="37"/>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lvl>
              </c:multiLvlStrCache>
            </c:multiLvlStrRef>
          </c:cat>
          <c:val>
            <c:numRef>
              <c:f>Sheet1!$B$2:$B$38</c:f>
              <c:numCache>
                <c:formatCode>General</c:formatCode>
                <c:ptCount val="37"/>
                <c:pt idx="0">
                  <c:v>0</c:v>
                </c:pt>
                <c:pt idx="1">
                  <c:v>10</c:v>
                </c:pt>
                <c:pt idx="2">
                  <c:v>20</c:v>
                </c:pt>
                <c:pt idx="3">
                  <c:v>30</c:v>
                </c:pt>
                <c:pt idx="4">
                  <c:v>40</c:v>
                </c:pt>
                <c:pt idx="5">
                  <c:v>50</c:v>
                </c:pt>
                <c:pt idx="6">
                  <c:v>60</c:v>
                </c:pt>
                <c:pt idx="7">
                  <c:v>70</c:v>
                </c:pt>
                <c:pt idx="8">
                  <c:v>80</c:v>
                </c:pt>
                <c:pt idx="9">
                  <c:v>90</c:v>
                </c:pt>
                <c:pt idx="10">
                  <c:v>100</c:v>
                </c:pt>
                <c:pt idx="11">
                  <c:v>110</c:v>
                </c:pt>
                <c:pt idx="12">
                  <c:v>120</c:v>
                </c:pt>
                <c:pt idx="13">
                  <c:v>131</c:v>
                </c:pt>
                <c:pt idx="14">
                  <c:v>142</c:v>
                </c:pt>
                <c:pt idx="15">
                  <c:v>153</c:v>
                </c:pt>
                <c:pt idx="16">
                  <c:v>164</c:v>
                </c:pt>
                <c:pt idx="17">
                  <c:v>175</c:v>
                </c:pt>
                <c:pt idx="18">
                  <c:v>186</c:v>
                </c:pt>
                <c:pt idx="19">
                  <c:v>197</c:v>
                </c:pt>
                <c:pt idx="20">
                  <c:v>208</c:v>
                </c:pt>
                <c:pt idx="21">
                  <c:v>219</c:v>
                </c:pt>
                <c:pt idx="22">
                  <c:v>230</c:v>
                </c:pt>
                <c:pt idx="23">
                  <c:v>241</c:v>
                </c:pt>
                <c:pt idx="24">
                  <c:v>252</c:v>
                </c:pt>
                <c:pt idx="25">
                  <c:v>264.1</c:v>
                </c:pt>
                <c:pt idx="26">
                  <c:v>276.2</c:v>
                </c:pt>
                <c:pt idx="27">
                  <c:v>288.3</c:v>
                </c:pt>
                <c:pt idx="28">
                  <c:v>300.4</c:v>
                </c:pt>
                <c:pt idx="29">
                  <c:v>312.5</c:v>
                </c:pt>
                <c:pt idx="30">
                  <c:v>324.6</c:v>
                </c:pt>
                <c:pt idx="31">
                  <c:v>336.7</c:v>
                </c:pt>
                <c:pt idx="32">
                  <c:v>348.8</c:v>
                </c:pt>
                <c:pt idx="33">
                  <c:v>360.9</c:v>
                </c:pt>
                <c:pt idx="34">
                  <c:v>373</c:v>
                </c:pt>
                <c:pt idx="35">
                  <c:v>385.1</c:v>
                </c:pt>
                <c:pt idx="36">
                  <c:v>397.2</c:v>
                </c:pt>
              </c:numCache>
            </c:numRef>
          </c:val>
          <c:smooth val="0"/>
        </c:ser>
        <c:ser>
          <c:idx val="1"/>
          <c:order val="1"/>
          <c:tx>
            <c:strRef>
              <c:f>Sheet1!$C$1</c:f>
              <c:strCache>
                <c:ptCount val="1"/>
                <c:pt idx="0">
                  <c:v>With our system (staff time + tokens + remaining manual)</c:v>
                </c:pt>
              </c:strCache>
            </c:strRef>
          </c:tx>
          <c:spPr>
            <a:solidFill>
              <a:srgbClr val="E93864"/>
            </a:solidFill>
            <a:ln w="38100" cap="flat">
              <a:solidFill>
                <a:srgbClr val="E9386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93864"/>
              </a:solidFill>
              <a:ln w="9525" cap="flat">
                <a:solidFill>
                  <a:srgbClr val="E93864"/>
                </a:solidFill>
                <a:prstDash val="solid"/>
                <a:round/>
              </a:ln>
              <a:effectLst/>
            </c:spPr>
          </c:marker>
          <c:cat>
            <c:multiLvlStrRef>
              <c:f>Sheet1!$A$2:$A$38</c:f>
              <c:multiLvlStrCache>
                <c:ptCount val="37"/>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lvl>
              </c:multiLvlStrCache>
            </c:multiLvlStrRef>
          </c:cat>
          <c:val>
            <c:numRef>
              <c:f>Sheet1!$C$2:$C$38</c:f>
              <c:numCache>
                <c:formatCode>General</c:formatCode>
                <c:ptCount val="37"/>
                <c:pt idx="0">
                  <c:v>0</c:v>
                </c:pt>
                <c:pt idx="1">
                  <c:v>40.0</c:v>
                </c:pt>
                <c:pt idx="2">
                  <c:v>80.0</c:v>
                </c:pt>
                <c:pt idx="3">
                  <c:v>120.0</c:v>
                </c:pt>
                <c:pt idx="4">
                  <c:v>160.0</c:v>
                </c:pt>
                <c:pt idx="5">
                  <c:v>170.2</c:v>
                </c:pt>
                <c:pt idx="6">
                  <c:v>180.3</c:v>
                </c:pt>
                <c:pt idx="7">
                  <c:v>184.7</c:v>
                </c:pt>
                <c:pt idx="8">
                  <c:v>189.0</c:v>
                </c:pt>
                <c:pt idx="9">
                  <c:v>193.4</c:v>
                </c:pt>
                <c:pt idx="10">
                  <c:v>195.2</c:v>
                </c:pt>
                <c:pt idx="11">
                  <c:v>197.1</c:v>
                </c:pt>
                <c:pt idx="12">
                  <c:v>198.9</c:v>
                </c:pt>
                <c:pt idx="13">
                  <c:v>200.9</c:v>
                </c:pt>
                <c:pt idx="14">
                  <c:v>203.0</c:v>
                </c:pt>
                <c:pt idx="15">
                  <c:v>205.0</c:v>
                </c:pt>
                <c:pt idx="16">
                  <c:v>207.0</c:v>
                </c:pt>
                <c:pt idx="17">
                  <c:v>209.0</c:v>
                </c:pt>
                <c:pt idx="18">
                  <c:v>211.1</c:v>
                </c:pt>
                <c:pt idx="19">
                  <c:v>213.1</c:v>
                </c:pt>
                <c:pt idx="20">
                  <c:v>215.1</c:v>
                </c:pt>
                <c:pt idx="21">
                  <c:v>217.1</c:v>
                </c:pt>
                <c:pt idx="22">
                  <c:v>219.2</c:v>
                </c:pt>
                <c:pt idx="23">
                  <c:v>221.2</c:v>
                </c:pt>
                <c:pt idx="24">
                  <c:v>223.2</c:v>
                </c:pt>
                <c:pt idx="25">
                  <c:v>225.4</c:v>
                </c:pt>
                <c:pt idx="26">
                  <c:v>227.7</c:v>
                </c:pt>
                <c:pt idx="27">
                  <c:v>229.9</c:v>
                </c:pt>
                <c:pt idx="28">
                  <c:v>232.1</c:v>
                </c:pt>
                <c:pt idx="29">
                  <c:v>234.4</c:v>
                </c:pt>
                <c:pt idx="30">
                  <c:v>236.6</c:v>
                </c:pt>
                <c:pt idx="31">
                  <c:v>238.8</c:v>
                </c:pt>
                <c:pt idx="32">
                  <c:v>241.0</c:v>
                </c:pt>
                <c:pt idx="33">
                  <c:v>243.3</c:v>
                </c:pt>
                <c:pt idx="34">
                  <c:v>245.5</c:v>
                </c:pt>
                <c:pt idx="35">
                  <c:v>247.7</c:v>
                </c:pt>
                <c:pt idx="36">
                  <c:v>250.0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A6470"/>
                    </a:solidFill>
                    <a:latin typeface="Calibri"/>
                  </a:defRPr>
                </a:pPr>
                <a:r>
                  <a:rPr sz="1100" b="0" i="0" u="none" strike="noStrike">
                    <a:solidFill>
                      <a:srgbClr val="5A6470"/>
                    </a:solidFill>
                    <a:latin typeface="Calibri"/>
                  </a:rPr>
                  <a:t>Month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470"/>
                </a:solidFill>
                <a:latin typeface="Calibri"/>
              </a:defRPr>
            </a:pPr>
            <a:endParaRPr lang="en-US"/>
          </a:p>
        </c:txPr>
        <c:crossAx val="2094734552"/>
        <c:crosses val="autoZero"/>
        <c:auto val="1"/>
        <c:lblAlgn val="ctr"/>
        <c:noMultiLvlLbl val="1"/>
        <c:tickLblSkip val="6"/>
      </c:catAx>
      <c:valAx>
        <c:axId val="2094734552"/>
        <c:scaling>
          <c:orientation val="minMax"/>
          <c:max val="400"/>
          <c:min val="0"/>
        </c:scaling>
        <c:delete val="0"/>
        <c:axPos val="l"/>
        <c:majorGridlines>
          <c:spPr>
            <a:ln w="9525"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470"/>
                </a:solidFill>
                <a:latin typeface="Calibri"/>
              </a:defRPr>
            </a:pPr>
            <a:endParaRPr lang="en-US"/>
          </a:p>
        </c:txPr>
        <c:crossAx val="2094734554"/>
        <c:crosses val="autoZero"/>
        <c:crossBetween val="between"/>
        <c:majorUnit val="100"/>
      </c:valAx>
      <c:spPr>
        <a:noFill/>
        <a:ln>
          <a:noFill/>
        </a:ln>
        <a:effectLst/>
      </c:spPr>
    </c:plotArea>
    <c:legend>
      <c:legendPos val="b"/>
      <c:overlay val="0"/>
      <c:txPr>
        <a:bodyPr/>
        <a:lstStyle/>
        <a:p>
          <a:pPr>
            <a:defRPr sz="1100">
              <a:solidFill>
                <a:srgbClr val="31373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Name the case study first: Digital Native track, Ryde, Multi-Agent Autonomous Dispute Resolution. One-line pitch: a Rider Advocate and a Driver Advocate build their cases, a Judge rules with a confidence score, and the AI never does the maths and never gets the last word on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0:40-1:30. Say which numbers are real. Verified from Ryde's published first-half 2026 results: revenue S$6.7M up 17%, operating loss S$2.2M. Everything under the pink ASSUMPTION label is ours, because Ryde publishes no trips, support cost or dispute volumes. Derivation: mobility revenue S$4.5M for six months, about S$9M a year; at an assumed 15% take rate and S$15 fare that is about 4 million trips a year; 1% become disputes, 40% of those are in our two categories, about 1,300 a month. At 12 minutes and S$7.50 each that is about S$120k a year. The human cost is the 24-72 hours and the inconsistency named in the challenge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1:30-2:10. The idea in one breath. Python computes the evidence first. Two advocates argue, the Judge weighs both and applies the policy by rule ID. Gates written in Python decide whether a ruling is delivered at all: the confidence floor, the SGD 50 cap, an unmeasured deviation, and the no-show and route money rules. Withheld rulings go to a human and the party only sees a neutral message. Then cut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2:10-4:50 (about 2 min 40). Record the demo on the real Tencent model, or on the replay with its recording date shown on screen. Never present a mock run as a real ruling. Beats: file the dispute (20s); case file and event strip on RD-0109 (50s); the gate holds the SGD 55 refund against the SGD 50 cap and the rider sees only 'still under review' (40s); reviewer approves and the party status page updates (30s); NS-0202 is decided alone, refund SGD 6.61 (20s).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proposal, not a live Ryde integration. The current serving roles checked on 14 October are two advocates on DeepSeek V4 Flash and the Judge on V4 Pro. A ticket would trigger read-only evidence gathering and the decision service; Ryde would apply payments and review withheld cases in its own CS tool. The prototype records decisions, not money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One-off provision: S$120k staff time, two engineers for four months plus PM, QA and security review. It is an opportunity cost, not new cash. Current roles: Flash advocates, Pro Judge. Budget S$175/month for model tokens at 1,333.33 cases, 50k input plus 3.5k output tokens per case and S$1.30/US$1. These are assumptions, not measured billing. Public reference scenarios are about S$46 all-Flash-GA-peak and S$172 all-unversioned-Pro, not proof of our billed SKU. Extra calls, larger token use and ADP plan fees can exceed the provision. Nine months to limited autonomy is a planning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stated workload, staffing and rollout assumptions, do nothing costs S$397,200 over 36 months. Embedded costs S$249,951 including S$120k staff time and the revised S$175/month base token provision scaled with case volume. Saving S$147,249, 122.7% return on staff time, payback month 21. At 10% growth, 0.5% disputes pays back month 34; 1.5% month 17; 2% month 15. This is a scenario, not measured savings. Cash is saved only if hiring, overtime or outsourcing is avoided. Reproduce with python3 tools/deployment/cost_model.py.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routing: Flash advocates + Pro Judge. The model mix is not all Flash. Role-level token usage and billed SKU are not measured. Reference prices checked on 16 October 2026 at https://www.tencentcloud.com/document/product/1300/78937, USD per million uncached tokens: Flash 0731 GA peak 0.44 input / 1.32 output; unversioned V4 Pro 1.74 / 3.48; Pro 0813 GA peak 1.32 / 3.96. These alternative rows are not invoice verification. Assume aggregate 50,000 input + 3,500 output tokens/case, 1,333.33 cases/month, FX S$1.30/US$1. S$175/month covers even the highest input/output reference rates combined at this allowance, without assuming an equal token split. It is a provision, not a spending cap. Extra usage and platform fees are excluded. Formula: cost_model.py.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scenario recalculated with S$175/month token provision scaled with volume. Net saving and payback are from cost_model.py. At 10% growth the base saving is S$147k, payback month 21; at 0.5% disputes month 34; at 2% month 15. Break-even is 0.5065% flat or 0.4490% at 10% growth. No workload or savings result is measured. Existing Uber contact-rate comparison uses different years and all support topics, not Ryde disputes.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The rider never leaves the Ryde app: they see 'Report a problem with this trip' and the outcome shows up as a ticket status. Because the service is embedded, it publishes and consumes events through Ryde's own CS tool and queue, reads evidence from Ryde's own services, and never moves money: Ryde's payments apply any refund, keyed by the dispute id. The integration contract is the same whether Ryde hosts the service or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saved 3 October 2026 demonstration-corpus evaluation matched 17 of 18 labels and decided 14 of 18 without a human, before the 14 October switch to Flash advocates and Pro Judge. It is not a fresh measurement of the current build, real-world accuracy, or repeated-run consistency. The confidence value is model-reported. Our Python safeguards are selective, not all policy clauses. Kill switch and pre-model personal-data removal are before-go-live requirements, not shipped. Staff-time savings and workload are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This is the diagram from docs/architecture.md, re-laid out to fit a slide with the same nodes and edges. Walk it left to right: a dispute enters through the intake forms or the command-line runner; a category check sends anything outside route deviation and no-show to human review before any agent runs; the Evidence Pack is computed in Python; the two advocates argue with the policy; if they need more, the party is asked once and the run restarts with the answers; the Judge rules; the gates decide whether the ruling is delivered or withheld for a human; every step lands in the event log that the operator console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budget for Flash advocates + Pro Judge, not all-Flash billing. Embedded: S$120k setup staff time, S$175/month base token budget; 4 build, 2 shadow, 3 assist, autonomy from month 10. Hosted: S$90k setup; S$500 cloud + S$1,200 operator time + S$175 tokens = S$1,875/month at base volume; 3 build, 2 shadow, 3 assist, autonomy from month 9. Tokens scale with volume. Three-year spending is S$249,951 embedded or S$267,892.67 hosted, versus S$397,200 manual. Payback months 21 and 20. These are assumptions, not measured bills or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1373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51560"/>
            <a:ext cx="8046720" cy="320040"/>
          </a:xfrm>
          <a:prstGeom prst="rect">
            <a:avLst/>
          </a:prstGeom>
          <a:noFill/>
          <a:ln/>
        </p:spPr>
        <p:txBody>
          <a:bodyPr wrap="square" lIns="0" tIns="0" rIns="0" bIns="0" rtlCol="0" anchor="t"/>
          <a:lstStyle/>
          <a:p>
            <a:pPr indent="0" marL="0">
              <a:buNone/>
            </a:pPr>
            <a:r>
              <a:rPr lang="en-US" sz="1400" b="1" spc="200" kern="0" dirty="0">
                <a:solidFill>
                  <a:srgbClr val="E93864"/>
                </a:solidFill>
                <a:latin typeface="Calibri" pitchFamily="34" charset="0"/>
                <a:ea typeface="Calibri" pitchFamily="34" charset="-122"/>
                <a:cs typeface="Calibri" pitchFamily="34" charset="-120"/>
              </a:rPr>
              <a:t>DIGITAL NATIVE TRACK  ·  RYDE</a:t>
            </a:r>
            <a:endParaRPr lang="en-US" sz="1400" dirty="0"/>
          </a:p>
        </p:txBody>
      </p:sp>
      <p:sp>
        <p:nvSpPr>
          <p:cNvPr id="3" name="Text 1"/>
          <p:cNvSpPr txBox="1"/>
          <p:nvPr/>
        </p:nvSpPr>
        <p:spPr>
          <a:xfrm>
            <a:off x="548640" y="1463040"/>
            <a:ext cx="7863840" cy="13716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Multi-Agent Autonomous Dispute Resolution</a:t>
            </a:r>
            <a:endParaRPr lang="en-US" sz="4000" dirty="0"/>
          </a:p>
        </p:txBody>
      </p:sp>
      <p:sp>
        <p:nvSpPr>
          <p:cNvPr id="4" name="Text 2"/>
          <p:cNvSpPr txBox="1"/>
          <p:nvPr/>
        </p:nvSpPr>
        <p:spPr>
          <a:xfrm>
            <a:off x="548640" y="2971800"/>
            <a:ext cx="7498080" cy="731520"/>
          </a:xfrm>
          <a:prstGeom prst="rect">
            <a:avLst/>
          </a:prstGeom>
          <a:noFill/>
          <a:ln/>
        </p:spPr>
        <p:txBody>
          <a:bodyPr wrap="square" lIns="0" tIns="0" rIns="0" bIns="0" rtlCol="0" anchor="t"/>
          <a:lstStyle/>
          <a:p>
            <a:pPr indent="0" marL="0">
              <a:buNone/>
            </a:pPr>
            <a:r>
              <a:rPr lang="en-US" sz="1800" dirty="0">
                <a:solidFill>
                  <a:srgbClr val="F7DDE3"/>
                </a:solidFill>
                <a:latin typeface="Calibri" pitchFamily="34" charset="0"/>
                <a:ea typeface="Calibri" pitchFamily="34" charset="-122"/>
                <a:cs typeface="Calibri" pitchFamily="34" charset="-120"/>
              </a:rPr>
              <a:t>Three AI agents gather the evidence, argue both sides and rule. Code guards the money.</a:t>
            </a:r>
            <a:endParaRPr lang="en-US" sz="1800" dirty="0"/>
          </a:p>
        </p:txBody>
      </p:sp>
      <p:sp>
        <p:nvSpPr>
          <p:cNvPr id="5" name="Text 3"/>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dirty="0">
                <a:solidFill>
                  <a:srgbClr val="B8C0CA"/>
                </a:solidFill>
                <a:latin typeface="Calibri" pitchFamily="34" charset="0"/>
                <a:ea typeface="Calibri" pitchFamily="34" charset="-122"/>
                <a:cs typeface="Calibri" pitchFamily="34" charset="-120"/>
              </a:rPr>
              <a:t>Tencent Cloud “AI CAN DO IT” Hackathon Singapore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Disputes are slow, inconsistent and costly</a:t>
            </a:r>
            <a:endParaRPr lang="en-US" sz="3000" dirty="0"/>
          </a:p>
        </p:txBody>
      </p:sp>
      <p:sp>
        <p:nvSpPr>
          <p:cNvPr id="3" name="Text 1"/>
          <p:cNvSpPr txBox="1"/>
          <p:nvPr/>
        </p:nvSpPr>
        <p:spPr>
          <a:xfrm>
            <a:off x="457200" y="1188720"/>
            <a:ext cx="384048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VERIFIED  ·  RYDE 1H 2026 RESULTS</a:t>
            </a:r>
            <a:endParaRPr lang="en-US" sz="1100" dirty="0"/>
          </a:p>
        </p:txBody>
      </p:sp>
      <p:sp>
        <p:nvSpPr>
          <p:cNvPr id="4" name="Text 2"/>
          <p:cNvSpPr txBox="1"/>
          <p:nvPr/>
        </p:nvSpPr>
        <p:spPr>
          <a:xfrm>
            <a:off x="457200" y="1481328"/>
            <a:ext cx="3840480" cy="548640"/>
          </a:xfrm>
          <a:prstGeom prst="rect">
            <a:avLst/>
          </a:prstGeom>
          <a:noFill/>
          <a:ln/>
        </p:spPr>
        <p:txBody>
          <a:bodyPr wrap="square" lIns="0" tIns="0" rIns="0" bIns="0" rtlCol="0" anchor="ctr"/>
          <a:lstStyle/>
          <a:p>
            <a:pPr indent="0" marL="0">
              <a:buNone/>
            </a:pPr>
            <a:r>
              <a:rPr lang="en-US" sz="4000" b="1" dirty="0">
                <a:solidFill>
                  <a:srgbClr val="31373E"/>
                </a:solidFill>
                <a:latin typeface="Calibri" pitchFamily="34" charset="0"/>
                <a:ea typeface="Calibri" pitchFamily="34" charset="-122"/>
                <a:cs typeface="Calibri" pitchFamily="34" charset="-120"/>
              </a:rPr>
              <a:t>S$6.7M</a:t>
            </a:r>
            <a:endParaRPr lang="en-US" sz="4000" dirty="0"/>
          </a:p>
        </p:txBody>
      </p:sp>
      <p:sp>
        <p:nvSpPr>
          <p:cNvPr id="5" name="Text 3"/>
          <p:cNvSpPr txBox="1"/>
          <p:nvPr/>
        </p:nvSpPr>
        <p:spPr>
          <a:xfrm>
            <a:off x="457200" y="2048256"/>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revenue in six months, up 17%</a:t>
            </a:r>
            <a:endParaRPr lang="en-US" sz="1400" dirty="0"/>
          </a:p>
        </p:txBody>
      </p:sp>
      <p:sp>
        <p:nvSpPr>
          <p:cNvPr id="6" name="Text 4"/>
          <p:cNvSpPr txBox="1"/>
          <p:nvPr/>
        </p:nvSpPr>
        <p:spPr>
          <a:xfrm>
            <a:off x="457200" y="2542032"/>
            <a:ext cx="3840480" cy="548640"/>
          </a:xfrm>
          <a:prstGeom prst="rect">
            <a:avLst/>
          </a:prstGeom>
          <a:noFill/>
          <a:ln/>
        </p:spPr>
        <p:txBody>
          <a:bodyPr wrap="square" lIns="0" tIns="0" rIns="0" bIns="0" rtlCol="0" anchor="ctr"/>
          <a:lstStyle/>
          <a:p>
            <a:pPr indent="0" marL="0">
              <a:buNone/>
            </a:pPr>
            <a:r>
              <a:rPr lang="en-US" sz="4000" b="1" dirty="0">
                <a:solidFill>
                  <a:srgbClr val="31373E"/>
                </a:solidFill>
                <a:latin typeface="Calibri" pitchFamily="34" charset="0"/>
                <a:ea typeface="Calibri" pitchFamily="34" charset="-122"/>
                <a:cs typeface="Calibri" pitchFamily="34" charset="-120"/>
              </a:rPr>
              <a:t>S$2.2M</a:t>
            </a:r>
            <a:endParaRPr lang="en-US" sz="4000" dirty="0"/>
          </a:p>
        </p:txBody>
      </p:sp>
      <p:sp>
        <p:nvSpPr>
          <p:cNvPr id="7" name="Text 5"/>
          <p:cNvSpPr txBox="1"/>
          <p:nvPr/>
        </p:nvSpPr>
        <p:spPr>
          <a:xfrm>
            <a:off x="457200" y="3108960"/>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operating loss: every cost line matters</a:t>
            </a:r>
            <a:endParaRPr lang="en-US" sz="1400" dirty="0"/>
          </a:p>
        </p:txBody>
      </p:sp>
      <p:sp>
        <p:nvSpPr>
          <p:cNvPr id="8" name="Text 6"/>
          <p:cNvSpPr txBox="1"/>
          <p:nvPr/>
        </p:nvSpPr>
        <p:spPr>
          <a:xfrm>
            <a:off x="4846320" y="1188720"/>
            <a:ext cx="384048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ASSUMPTION  ·  OUR ESTIMATE</a:t>
            </a:r>
            <a:endParaRPr lang="en-US" sz="1100" dirty="0"/>
          </a:p>
        </p:txBody>
      </p:sp>
      <p:sp>
        <p:nvSpPr>
          <p:cNvPr id="9" name="Text 7"/>
          <p:cNvSpPr txBox="1"/>
          <p:nvPr/>
        </p:nvSpPr>
        <p:spPr>
          <a:xfrm>
            <a:off x="4846320" y="1481328"/>
            <a:ext cx="3840480" cy="548640"/>
          </a:xfrm>
          <a:prstGeom prst="rect">
            <a:avLst/>
          </a:prstGeom>
          <a:noFill/>
          <a:ln/>
        </p:spPr>
        <p:txBody>
          <a:bodyPr wrap="square" lIns="0" tIns="0" rIns="0" bIns="0" rtlCol="0" anchor="ctr"/>
          <a:lstStyle/>
          <a:p>
            <a:pPr indent="0" marL="0">
              <a:buNone/>
            </a:pPr>
            <a:r>
              <a:rPr lang="en-US" sz="4000" b="1" dirty="0">
                <a:solidFill>
                  <a:srgbClr val="E93864"/>
                </a:solidFill>
                <a:latin typeface="Calibri" pitchFamily="34" charset="0"/>
                <a:ea typeface="Calibri" pitchFamily="34" charset="-122"/>
                <a:cs typeface="Calibri" pitchFamily="34" charset="-120"/>
              </a:rPr>
              <a:t>~1,300</a:t>
            </a:r>
            <a:endParaRPr lang="en-US" sz="4000" dirty="0"/>
          </a:p>
        </p:txBody>
      </p:sp>
      <p:sp>
        <p:nvSpPr>
          <p:cNvPr id="10" name="Text 8"/>
          <p:cNvSpPr txBox="1"/>
          <p:nvPr/>
        </p:nvSpPr>
        <p:spPr>
          <a:xfrm>
            <a:off x="4846320" y="2048256"/>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route-deviation and no-show disputes a month</a:t>
            </a:r>
            <a:endParaRPr lang="en-US" sz="1400" dirty="0"/>
          </a:p>
        </p:txBody>
      </p:sp>
      <p:sp>
        <p:nvSpPr>
          <p:cNvPr id="11" name="Text 9"/>
          <p:cNvSpPr txBox="1"/>
          <p:nvPr/>
        </p:nvSpPr>
        <p:spPr>
          <a:xfrm>
            <a:off x="4846320" y="2542032"/>
            <a:ext cx="3840480" cy="548640"/>
          </a:xfrm>
          <a:prstGeom prst="rect">
            <a:avLst/>
          </a:prstGeom>
          <a:noFill/>
          <a:ln/>
        </p:spPr>
        <p:txBody>
          <a:bodyPr wrap="square" lIns="0" tIns="0" rIns="0" bIns="0" rtlCol="0" anchor="ctr"/>
          <a:lstStyle/>
          <a:p>
            <a:pPr indent="0" marL="0">
              <a:buNone/>
            </a:pPr>
            <a:r>
              <a:rPr lang="en-US" sz="4000" b="1" dirty="0">
                <a:solidFill>
                  <a:srgbClr val="E93864"/>
                </a:solidFill>
                <a:latin typeface="Calibri" pitchFamily="34" charset="0"/>
                <a:ea typeface="Calibri" pitchFamily="34" charset="-122"/>
                <a:cs typeface="Calibri" pitchFamily="34" charset="-120"/>
              </a:rPr>
              <a:t>~S$120k</a:t>
            </a:r>
            <a:endParaRPr lang="en-US" sz="4000" dirty="0"/>
          </a:p>
        </p:txBody>
      </p:sp>
      <p:sp>
        <p:nvSpPr>
          <p:cNvPr id="12" name="Text 10"/>
          <p:cNvSpPr txBox="1"/>
          <p:nvPr/>
        </p:nvSpPr>
        <p:spPr>
          <a:xfrm>
            <a:off x="4846320" y="3108960"/>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a year of support time, about 2 full-time people</a:t>
            </a:r>
            <a:endParaRPr lang="en-US" sz="1400" dirty="0"/>
          </a:p>
        </p:txBody>
      </p:sp>
      <p:sp>
        <p:nvSpPr>
          <p:cNvPr id="13" name="challenge strip"/>
          <p:cNvSpPr/>
          <p:nvPr/>
        </p:nvSpPr>
        <p:spPr>
          <a:xfrm>
            <a:off x="457200" y="3794760"/>
            <a:ext cx="8229600" cy="685800"/>
          </a:xfrm>
          <a:prstGeom prst="roundRect">
            <a:avLst>
              <a:gd name="adj" fmla="val 10667"/>
            </a:avLst>
          </a:prstGeom>
          <a:solidFill>
            <a:srgbClr val="F7DDE3"/>
          </a:solidFill>
          <a:ln w="12700">
            <a:solidFill>
              <a:srgbClr val="F7DDE3"/>
            </a:solidFill>
            <a:prstDash val="solid"/>
          </a:ln>
        </p:spPr>
      </p:sp>
      <p:sp>
        <p:nvSpPr>
          <p:cNvPr id="14" name="Text 12"/>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400" dirty="0">
                <a:solidFill>
                  <a:srgbClr val="31373E"/>
                </a:solidFill>
                <a:latin typeface="Calibri" pitchFamily="34" charset="0"/>
                <a:ea typeface="Calibri" pitchFamily="34" charset="-122"/>
                <a:cs typeface="Calibri" pitchFamily="34" charset="-120"/>
              </a:rPr>
              <a:t>The bigger cost is felt by riders and drivers: 24–72 hours to resolve, and different agents give different answers to similar cases.</a:t>
            </a:r>
            <a:endParaRPr lang="en-US" sz="1400" dirty="0"/>
          </a:p>
        </p:txBody>
      </p:sp>
      <p:sp>
        <p:nvSpPr>
          <p:cNvPr id="15" name="Text 13"/>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Verified: Ryde 1H 2026 results, 8 Oct 2026, unaudited. Ryde publishes no trip or dispute data. Assumed: 15% take rate, S$15 fare, 1% dispute rate, 40% in scope, S$7.50 a dispute.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Agents argue, a Judge rules, code guards the money</a:t>
            </a:r>
            <a:endParaRPr lang="en-US" sz="3000" dirty="0"/>
          </a:p>
        </p:txBody>
      </p:sp>
      <p:sp>
        <p:nvSpPr>
          <p:cNvPr id="3" name="flow Evidence Pack"/>
          <p:cNvSpPr/>
          <p:nvPr/>
        </p:nvSpPr>
        <p:spPr>
          <a:xfrm>
            <a:off x="457200" y="1280160"/>
            <a:ext cx="1417320" cy="914400"/>
          </a:xfrm>
          <a:prstGeom prst="roundRect">
            <a:avLst>
              <a:gd name="adj" fmla="val 8000"/>
            </a:avLst>
          </a:prstGeom>
          <a:solidFill>
            <a:srgbClr val="F7DDE3"/>
          </a:solidFill>
          <a:ln w="12700">
            <a:solidFill>
              <a:srgbClr val="F7DDE3"/>
            </a:solidFill>
            <a:prstDash val="solid"/>
          </a:ln>
        </p:spPr>
      </p:sp>
      <p:sp>
        <p:nvSpPr>
          <p:cNvPr id="4" name="Text 2"/>
          <p:cNvSpPr txBox="1"/>
          <p:nvPr/>
        </p:nvSpPr>
        <p:spPr>
          <a:xfrm>
            <a:off x="530352" y="1280160"/>
            <a:ext cx="1271016" cy="914400"/>
          </a:xfrm>
          <a:prstGeom prst="rect">
            <a:avLst/>
          </a:prstGeom>
          <a:noFill/>
          <a:ln/>
        </p:spPr>
        <p:txBody>
          <a:bodyPr wrap="square" lIns="0" tIns="0" rIns="0" bIns="0" rtlCol="0" anchor="ctr"/>
          <a:lstStyle/>
          <a:p>
            <a:pPr algn="ctr" indent="0" marL="0">
              <a:buNone/>
            </a:pPr>
            <a:r>
              <a:rPr lang="en-US" sz="1400" b="1" dirty="0">
                <a:solidFill>
                  <a:srgbClr val="31373E"/>
                </a:solidFill>
                <a:latin typeface="Calibri" pitchFamily="34" charset="0"/>
                <a:ea typeface="Calibri" pitchFamily="34" charset="-122"/>
                <a:cs typeface="Calibri" pitchFamily="34" charset="-120"/>
              </a:rPr>
              <a:t>Evidence Pack</a:t>
            </a:r>
            <a:endParaRPr lang="en-US" sz="1400" dirty="0"/>
          </a:p>
          <a:p>
            <a:pPr algn="ctr" indent="0" marL="0">
              <a:buNone/>
            </a:pPr>
            <a:r>
              <a:rPr lang="en-US" sz="1100" dirty="0">
                <a:solidFill>
                  <a:srgbClr val="5A6470"/>
                </a:solidFill>
                <a:latin typeface="Calibri" pitchFamily="34" charset="0"/>
                <a:ea typeface="Calibri" pitchFamily="34" charset="-122"/>
                <a:cs typeface="Calibri" pitchFamily="34" charset="-120"/>
              </a:rPr>
              <a:t>computed in Python</a:t>
            </a:r>
            <a:endParaRPr lang="en-US" sz="1400" dirty="0"/>
          </a:p>
        </p:txBody>
      </p:sp>
      <p:sp>
        <p:nvSpPr>
          <p:cNvPr id="5" name="Shape 3"/>
          <p:cNvSpPr/>
          <p:nvPr/>
        </p:nvSpPr>
        <p:spPr>
          <a:xfrm>
            <a:off x="1901952" y="1737360"/>
            <a:ext cx="219456" cy="0"/>
          </a:xfrm>
          <a:prstGeom prst="line">
            <a:avLst/>
          </a:prstGeom>
          <a:noFill/>
          <a:ln w="19050">
            <a:solidFill>
              <a:srgbClr val="5A6470"/>
            </a:solidFill>
            <a:prstDash val="solid"/>
            <a:tailEnd type="triangle"/>
          </a:ln>
        </p:spPr>
      </p:sp>
      <p:sp>
        <p:nvSpPr>
          <p:cNvPr id="6" name="flow Rider Advocate"/>
          <p:cNvSpPr/>
          <p:nvPr/>
        </p:nvSpPr>
        <p:spPr>
          <a:xfrm>
            <a:off x="2148840" y="1280160"/>
            <a:ext cx="1417320" cy="914400"/>
          </a:xfrm>
          <a:prstGeom prst="roundRect">
            <a:avLst>
              <a:gd name="adj" fmla="val 8000"/>
            </a:avLst>
          </a:prstGeom>
          <a:solidFill>
            <a:srgbClr val="31373E"/>
          </a:solidFill>
          <a:ln w="12700">
            <a:solidFill>
              <a:srgbClr val="31373E"/>
            </a:solidFill>
            <a:prstDash val="solid"/>
          </a:ln>
        </p:spPr>
      </p:sp>
      <p:sp>
        <p:nvSpPr>
          <p:cNvPr id="7" name="Text 5"/>
          <p:cNvSpPr txBox="1"/>
          <p:nvPr/>
        </p:nvSpPr>
        <p:spPr>
          <a:xfrm>
            <a:off x="222199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Rider Advocate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argues the rider</a:t>
            </a:r>
            <a:endParaRPr lang="en-US" sz="1400" dirty="0"/>
          </a:p>
        </p:txBody>
      </p:sp>
      <p:sp>
        <p:nvSpPr>
          <p:cNvPr id="8" name="Shape 6"/>
          <p:cNvSpPr/>
          <p:nvPr/>
        </p:nvSpPr>
        <p:spPr>
          <a:xfrm>
            <a:off x="3593592" y="1737360"/>
            <a:ext cx="219456" cy="0"/>
          </a:xfrm>
          <a:prstGeom prst="line">
            <a:avLst/>
          </a:prstGeom>
          <a:noFill/>
          <a:ln w="19050">
            <a:solidFill>
              <a:srgbClr val="5A6470"/>
            </a:solidFill>
            <a:prstDash val="solid"/>
            <a:tailEnd type="triangle"/>
          </a:ln>
        </p:spPr>
      </p:sp>
      <p:sp>
        <p:nvSpPr>
          <p:cNvPr id="9" name="flow Driver Advocate"/>
          <p:cNvSpPr/>
          <p:nvPr/>
        </p:nvSpPr>
        <p:spPr>
          <a:xfrm>
            <a:off x="3840480" y="1280160"/>
            <a:ext cx="1417320" cy="914400"/>
          </a:xfrm>
          <a:prstGeom prst="roundRect">
            <a:avLst>
              <a:gd name="adj" fmla="val 8000"/>
            </a:avLst>
          </a:prstGeom>
          <a:solidFill>
            <a:srgbClr val="31373E"/>
          </a:solidFill>
          <a:ln w="12700">
            <a:solidFill>
              <a:srgbClr val="31373E"/>
            </a:solidFill>
            <a:prstDash val="solid"/>
          </a:ln>
        </p:spPr>
      </p:sp>
      <p:sp>
        <p:nvSpPr>
          <p:cNvPr id="10" name="Text 8"/>
          <p:cNvSpPr txBox="1"/>
          <p:nvPr/>
        </p:nvSpPr>
        <p:spPr>
          <a:xfrm>
            <a:off x="391363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Driver Advocate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argues the driver</a:t>
            </a:r>
            <a:endParaRPr lang="en-US" sz="1400" dirty="0"/>
          </a:p>
        </p:txBody>
      </p:sp>
      <p:sp>
        <p:nvSpPr>
          <p:cNvPr id="11" name="Shape 9"/>
          <p:cNvSpPr/>
          <p:nvPr/>
        </p:nvSpPr>
        <p:spPr>
          <a:xfrm>
            <a:off x="5285232" y="1737360"/>
            <a:ext cx="219456" cy="0"/>
          </a:xfrm>
          <a:prstGeom prst="line">
            <a:avLst/>
          </a:prstGeom>
          <a:noFill/>
          <a:ln w="19050">
            <a:solidFill>
              <a:srgbClr val="5A6470"/>
            </a:solidFill>
            <a:prstDash val="solid"/>
            <a:tailEnd type="triangle"/>
          </a:ln>
        </p:spPr>
      </p:sp>
      <p:sp>
        <p:nvSpPr>
          <p:cNvPr id="12" name="flow Judge"/>
          <p:cNvSpPr/>
          <p:nvPr/>
        </p:nvSpPr>
        <p:spPr>
          <a:xfrm>
            <a:off x="5532120" y="1280160"/>
            <a:ext cx="1417320" cy="914400"/>
          </a:xfrm>
          <a:prstGeom prst="roundRect">
            <a:avLst>
              <a:gd name="adj" fmla="val 8000"/>
            </a:avLst>
          </a:prstGeom>
          <a:solidFill>
            <a:srgbClr val="31373E"/>
          </a:solidFill>
          <a:ln w="12700">
            <a:solidFill>
              <a:srgbClr val="31373E"/>
            </a:solidFill>
            <a:prstDash val="solid"/>
          </a:ln>
        </p:spPr>
      </p:sp>
      <p:sp>
        <p:nvSpPr>
          <p:cNvPr id="13" name="Text 11"/>
          <p:cNvSpPr txBox="1"/>
          <p:nvPr/>
        </p:nvSpPr>
        <p:spPr>
          <a:xfrm>
            <a:off x="560527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Judge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rules + confidence</a:t>
            </a:r>
            <a:endParaRPr lang="en-US" sz="1400" dirty="0"/>
          </a:p>
        </p:txBody>
      </p:sp>
      <p:sp>
        <p:nvSpPr>
          <p:cNvPr id="14" name="Shape 12"/>
          <p:cNvSpPr/>
          <p:nvPr/>
        </p:nvSpPr>
        <p:spPr>
          <a:xfrm>
            <a:off x="6976872" y="1737360"/>
            <a:ext cx="219456" cy="0"/>
          </a:xfrm>
          <a:prstGeom prst="line">
            <a:avLst/>
          </a:prstGeom>
          <a:noFill/>
          <a:ln w="19050">
            <a:solidFill>
              <a:srgbClr val="5A6470"/>
            </a:solidFill>
            <a:prstDash val="solid"/>
            <a:tailEnd type="triangle"/>
          </a:ln>
        </p:spPr>
      </p:sp>
      <p:sp>
        <p:nvSpPr>
          <p:cNvPr id="15" name="flow Gates in code"/>
          <p:cNvSpPr/>
          <p:nvPr/>
        </p:nvSpPr>
        <p:spPr>
          <a:xfrm>
            <a:off x="7223760" y="1280160"/>
            <a:ext cx="1417320" cy="914400"/>
          </a:xfrm>
          <a:prstGeom prst="roundRect">
            <a:avLst>
              <a:gd name="adj" fmla="val 8000"/>
            </a:avLst>
          </a:prstGeom>
          <a:solidFill>
            <a:srgbClr val="E93864"/>
          </a:solidFill>
          <a:ln w="12700">
            <a:solidFill>
              <a:srgbClr val="E93864"/>
            </a:solidFill>
            <a:prstDash val="solid"/>
          </a:ln>
        </p:spPr>
      </p:sp>
      <p:sp>
        <p:nvSpPr>
          <p:cNvPr id="16" name="Text 14"/>
          <p:cNvSpPr txBox="1"/>
          <p:nvPr/>
        </p:nvSpPr>
        <p:spPr>
          <a:xfrm>
            <a:off x="729691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Gates in code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cap, confidence, NS/RD</a:t>
            </a:r>
            <a:endParaRPr lang="en-US" sz="1400" dirty="0"/>
          </a:p>
        </p:txBody>
      </p:sp>
      <p:sp>
        <p:nvSpPr>
          <p:cNvPr id="17" name="Text 15"/>
          <p:cNvSpPr txBox="1"/>
          <p:nvPr/>
        </p:nvSpPr>
        <p:spPr>
          <a:xfrm>
            <a:off x="457200" y="2331720"/>
            <a:ext cx="8229600" cy="3200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Ruled: the party gets a plain-language decision.   Withheld: a person decides, and the party sees only “still under review”.</a:t>
            </a:r>
            <a:endParaRPr lang="en-US" sz="1200" dirty="0"/>
          </a:p>
        </p:txBody>
      </p:sp>
      <p:sp>
        <p:nvSpPr>
          <p:cNvPr id="18" name="card"/>
          <p:cNvSpPr/>
          <p:nvPr/>
        </p:nvSpPr>
        <p:spPr>
          <a:xfrm>
            <a:off x="45720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62179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No AI arithmetic</a:t>
            </a:r>
            <a:endParaRPr lang="en-US" sz="1600" dirty="0"/>
          </a:p>
        </p:txBody>
      </p:sp>
      <p:sp>
        <p:nvSpPr>
          <p:cNvPr id="20" name="Text 18"/>
          <p:cNvSpPr txBox="1"/>
          <p:nvPr/>
        </p:nvSpPr>
        <p:spPr>
          <a:xfrm>
            <a:off x="62179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Every number comes from the Evidence Pack. Agents cite fields, never calculate.</a:t>
            </a:r>
            <a:endParaRPr lang="en-US" sz="1400" dirty="0"/>
          </a:p>
        </p:txBody>
      </p:sp>
      <p:sp>
        <p:nvSpPr>
          <p:cNvPr id="21" name="card"/>
          <p:cNvSpPr/>
          <p:nvPr/>
        </p:nvSpPr>
        <p:spPr>
          <a:xfrm>
            <a:off x="329184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345643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Rules enforced in code</a:t>
            </a:r>
            <a:endParaRPr lang="en-US" sz="1600" dirty="0"/>
          </a:p>
        </p:txBody>
      </p:sp>
      <p:sp>
        <p:nvSpPr>
          <p:cNvPr id="23" name="Text 21"/>
          <p:cNvSpPr txBox="1"/>
          <p:nvPr/>
        </p:nvSpPr>
        <p:spPr>
          <a:xfrm>
            <a:off x="345643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SGD 50 cap, 0.65 confidence floor and four money gates. A prompt is a request, code is a guarantee.</a:t>
            </a:r>
            <a:endParaRPr lang="en-US" sz="1400" dirty="0"/>
          </a:p>
        </p:txBody>
      </p:sp>
      <p:sp>
        <p:nvSpPr>
          <p:cNvPr id="24" name="card"/>
          <p:cNvSpPr/>
          <p:nvPr/>
        </p:nvSpPr>
        <p:spPr>
          <a:xfrm>
            <a:off x="612648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25" name="Text 23"/>
          <p:cNvSpPr txBox="1"/>
          <p:nvPr/>
        </p:nvSpPr>
        <p:spPr>
          <a:xfrm>
            <a:off x="629107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Every step observable</a:t>
            </a:r>
            <a:endParaRPr lang="en-US" sz="1600" dirty="0"/>
          </a:p>
        </p:txBody>
      </p:sp>
      <p:sp>
        <p:nvSpPr>
          <p:cNvPr id="26" name="Text 24"/>
          <p:cNvSpPr txBox="1"/>
          <p:nvPr/>
        </p:nvSpPr>
        <p:spPr>
          <a:xfrm>
            <a:off x="629107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A timestamped event strip shows who sent what to whom. One click opens the full payload.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8046720" cy="320040"/>
          </a:xfrm>
          <a:prstGeom prst="rect">
            <a:avLst/>
          </a:prstGeom>
          <a:noFill/>
          <a:ln/>
        </p:spPr>
        <p:txBody>
          <a:bodyPr wrap="square" lIns="0" tIns="0" rIns="0" bIns="0" rtlCol="0" anchor="t"/>
          <a:lstStyle/>
          <a:p>
            <a:pPr indent="0" marL="0">
              <a:buNone/>
            </a:pPr>
            <a:r>
              <a:rPr lang="en-US" sz="1400" b="1" spc="200" kern="0" dirty="0">
                <a:solidFill>
                  <a:srgbClr val="E93864"/>
                </a:solidFill>
                <a:latin typeface="Calibri" pitchFamily="34" charset="0"/>
                <a:ea typeface="Calibri" pitchFamily="34" charset="-122"/>
                <a:cs typeface="Calibri" pitchFamily="34" charset="-120"/>
              </a:rPr>
              <a:t>LIVE DEMO  ·  ABOUT 2 MIN 40</a:t>
            </a:r>
            <a:endParaRPr lang="en-US" sz="1400" dirty="0"/>
          </a:p>
        </p:txBody>
      </p:sp>
      <p:sp>
        <p:nvSpPr>
          <p:cNvPr id="3" name="Text 1"/>
          <p:cNvSpPr txBox="1"/>
          <p:nvPr/>
        </p:nvSpPr>
        <p:spPr>
          <a:xfrm>
            <a:off x="548640" y="822960"/>
            <a:ext cx="804672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Demo starts here: 2:10 in the video</a:t>
            </a:r>
            <a:endParaRPr lang="en-US" sz="3200" dirty="0"/>
          </a:p>
        </p:txBody>
      </p:sp>
      <p:sp>
        <p:nvSpPr>
          <p:cNvPr id="4" name="step 1"/>
          <p:cNvSpPr/>
          <p:nvPr/>
        </p:nvSpPr>
        <p:spPr>
          <a:xfrm>
            <a:off x="548640" y="1783080"/>
            <a:ext cx="384048" cy="384048"/>
          </a:xfrm>
          <a:prstGeom prst="ellipse">
            <a:avLst/>
          </a:prstGeom>
          <a:solidFill>
            <a:srgbClr val="E93864"/>
          </a:solidFill>
          <a:ln w="12700">
            <a:solidFill>
              <a:srgbClr val="E93864"/>
            </a:solidFill>
            <a:prstDash val="solid"/>
          </a:ln>
        </p:spPr>
      </p:sp>
      <p:sp>
        <p:nvSpPr>
          <p:cNvPr id="5" name="Text 3"/>
          <p:cNvSpPr txBox="1"/>
          <p:nvPr/>
        </p:nvSpPr>
        <p:spPr>
          <a:xfrm>
            <a:off x="548640" y="17830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783080"/>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File it</a:t>
            </a:r>
            <a:endParaRPr lang="en-US" sz="1800" dirty="0"/>
          </a:p>
        </p:txBody>
      </p:sp>
      <p:sp>
        <p:nvSpPr>
          <p:cNvPr id="7" name="Text 5"/>
          <p:cNvSpPr txBox="1"/>
          <p:nvPr/>
        </p:nvSpPr>
        <p:spPr>
          <a:xfrm>
            <a:off x="4023360" y="1783080"/>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Rider form → route deviation</a:t>
            </a:r>
            <a:endParaRPr lang="en-US" sz="1600" dirty="0"/>
          </a:p>
        </p:txBody>
      </p:sp>
      <p:sp>
        <p:nvSpPr>
          <p:cNvPr id="8" name="step 2"/>
          <p:cNvSpPr/>
          <p:nvPr/>
        </p:nvSpPr>
        <p:spPr>
          <a:xfrm>
            <a:off x="548640" y="2313432"/>
            <a:ext cx="384048" cy="384048"/>
          </a:xfrm>
          <a:prstGeom prst="ellipse">
            <a:avLst/>
          </a:prstGeom>
          <a:solidFill>
            <a:srgbClr val="E93864"/>
          </a:solidFill>
          <a:ln w="12700">
            <a:solidFill>
              <a:srgbClr val="E93864"/>
            </a:solidFill>
            <a:prstDash val="solid"/>
          </a:ln>
        </p:spPr>
      </p:sp>
      <p:sp>
        <p:nvSpPr>
          <p:cNvPr id="9" name="Text 7"/>
          <p:cNvSpPr txBox="1"/>
          <p:nvPr/>
        </p:nvSpPr>
        <p:spPr>
          <a:xfrm>
            <a:off x="548640" y="2313432"/>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097280" y="2313432"/>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Watch the agents</a:t>
            </a:r>
            <a:endParaRPr lang="en-US" sz="1800" dirty="0"/>
          </a:p>
        </p:txBody>
      </p:sp>
      <p:sp>
        <p:nvSpPr>
          <p:cNvPr id="11" name="Text 9"/>
          <p:cNvSpPr txBox="1"/>
          <p:nvPr/>
        </p:nvSpPr>
        <p:spPr>
          <a:xfrm>
            <a:off x="4023360" y="2313432"/>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Case file + event strip (RD-0109)</a:t>
            </a:r>
            <a:endParaRPr lang="en-US" sz="1600" dirty="0"/>
          </a:p>
        </p:txBody>
      </p:sp>
      <p:sp>
        <p:nvSpPr>
          <p:cNvPr id="12" name="step 3"/>
          <p:cNvSpPr/>
          <p:nvPr/>
        </p:nvSpPr>
        <p:spPr>
          <a:xfrm>
            <a:off x="548640" y="2843784"/>
            <a:ext cx="384048" cy="384048"/>
          </a:xfrm>
          <a:prstGeom prst="ellipse">
            <a:avLst/>
          </a:prstGeom>
          <a:solidFill>
            <a:srgbClr val="E93864"/>
          </a:solidFill>
          <a:ln w="12700">
            <a:solidFill>
              <a:srgbClr val="E93864"/>
            </a:solidFill>
            <a:prstDash val="solid"/>
          </a:ln>
        </p:spPr>
      </p:sp>
      <p:sp>
        <p:nvSpPr>
          <p:cNvPr id="13" name="Text 11"/>
          <p:cNvSpPr txBox="1"/>
          <p:nvPr/>
        </p:nvSpPr>
        <p:spPr>
          <a:xfrm>
            <a:off x="548640" y="2843784"/>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097280" y="2843784"/>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See the gate hold</a:t>
            </a:r>
            <a:endParaRPr lang="en-US" sz="1800" dirty="0"/>
          </a:p>
        </p:txBody>
      </p:sp>
      <p:sp>
        <p:nvSpPr>
          <p:cNvPr id="15" name="Text 13"/>
          <p:cNvSpPr txBox="1"/>
          <p:nvPr/>
        </p:nvSpPr>
        <p:spPr>
          <a:xfrm>
            <a:off x="4023360" y="2843784"/>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SGD 55 refund &gt; SGD 50 cap</a:t>
            </a:r>
            <a:endParaRPr lang="en-US" sz="1600" dirty="0"/>
          </a:p>
        </p:txBody>
      </p:sp>
      <p:sp>
        <p:nvSpPr>
          <p:cNvPr id="16" name="step 4"/>
          <p:cNvSpPr/>
          <p:nvPr/>
        </p:nvSpPr>
        <p:spPr>
          <a:xfrm>
            <a:off x="548640" y="3374136"/>
            <a:ext cx="384048" cy="384048"/>
          </a:xfrm>
          <a:prstGeom prst="ellipse">
            <a:avLst/>
          </a:prstGeom>
          <a:solidFill>
            <a:srgbClr val="E93864"/>
          </a:solidFill>
          <a:ln w="12700">
            <a:solidFill>
              <a:srgbClr val="E93864"/>
            </a:solidFill>
            <a:prstDash val="solid"/>
          </a:ln>
        </p:spPr>
      </p:sp>
      <p:sp>
        <p:nvSpPr>
          <p:cNvPr id="17" name="Text 15"/>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097280" y="3374136"/>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Human decides</a:t>
            </a:r>
            <a:endParaRPr lang="en-US" sz="1800" dirty="0"/>
          </a:p>
        </p:txBody>
      </p:sp>
      <p:sp>
        <p:nvSpPr>
          <p:cNvPr id="19" name="Text 17"/>
          <p:cNvSpPr txBox="1"/>
          <p:nvPr/>
        </p:nvSpPr>
        <p:spPr>
          <a:xfrm>
            <a:off x="4023360" y="3374136"/>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Approve → party status page</a:t>
            </a:r>
            <a:endParaRPr lang="en-US" sz="1600" dirty="0"/>
          </a:p>
        </p:txBody>
      </p:sp>
      <p:sp>
        <p:nvSpPr>
          <p:cNvPr id="20" name="step 5"/>
          <p:cNvSpPr/>
          <p:nvPr/>
        </p:nvSpPr>
        <p:spPr>
          <a:xfrm>
            <a:off x="548640" y="3904488"/>
            <a:ext cx="384048" cy="384048"/>
          </a:xfrm>
          <a:prstGeom prst="ellipse">
            <a:avLst/>
          </a:prstGeom>
          <a:solidFill>
            <a:srgbClr val="E93864"/>
          </a:solidFill>
          <a:ln w="12700">
            <a:solidFill>
              <a:srgbClr val="E93864"/>
            </a:solidFill>
            <a:prstDash val="solid"/>
          </a:ln>
        </p:spPr>
      </p:sp>
      <p:sp>
        <p:nvSpPr>
          <p:cNvPr id="21" name="Text 19"/>
          <p:cNvSpPr txBox="1"/>
          <p:nvPr/>
        </p:nvSpPr>
        <p:spPr>
          <a:xfrm>
            <a:off x="548640" y="390448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1097280" y="3904488"/>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Clear case, no human</a:t>
            </a:r>
            <a:endParaRPr lang="en-US" sz="1800" dirty="0"/>
          </a:p>
        </p:txBody>
      </p:sp>
      <p:sp>
        <p:nvSpPr>
          <p:cNvPr id="23" name="Text 21"/>
          <p:cNvSpPr txBox="1"/>
          <p:nvPr/>
        </p:nvSpPr>
        <p:spPr>
          <a:xfrm>
            <a:off x="4023360" y="3904488"/>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NS-0202 ruled alone: SGD 6.61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Embed it in Ryde’s existing system</a:t>
            </a:r>
            <a:endParaRPr lang="en-US" sz="3000" dirty="0"/>
          </a:p>
        </p:txBody>
      </p:sp>
      <p:pic>
        <p:nvPicPr>
          <p:cNvPr id="3" name="Image 0" descr="Architecture: the Ryde app creates a ticket in Ryde's existing CS tool; a dispute event goes to the decision service running in Ryde's own cluster (Evidence Pack, three agents, gates), which reads trips, GPS, fares and chat from Ryde's data services, calls Tencent Cloud ADP: V4 Flash for the two advocates, V4 Pro for the Judge, and returns a ruling or a withheld case to the CS tool; Ryde payments apply any refund and CS agents review withheld cases.">    </p:cNvPr>
          <p:cNvPicPr>
            <a:picLocks noChangeAspect="1"/>
          </p:cNvPicPr>
          <p:nvPr/>
        </p:nvPicPr>
        <p:blipFill>
          <a:blip r:embed="rId1"/>
          <a:stretch>
            <a:fillRect/>
          </a:stretch>
        </p:blipFill>
        <p:spPr>
          <a:xfrm>
            <a:off x="640080" y="1051560"/>
            <a:ext cx="7863840" cy="3099396"/>
          </a:xfrm>
          <a:prstGeom prst="rect">
            <a:avLst/>
          </a:prstGeom>
        </p:spPr>
      </p:pic>
      <p:sp>
        <p:nvSpPr>
          <p:cNvPr id="4" name="Text 1"/>
          <p:cNvSpPr txBox="1"/>
          <p:nvPr/>
        </p:nvSpPr>
        <p:spPr>
          <a:xfrm>
            <a:off x="457200" y="4224528"/>
            <a:ext cx="8229600" cy="502920"/>
          </a:xfrm>
          <a:prstGeom prst="rect">
            <a:avLst/>
          </a:prstGeom>
          <a:noFill/>
          <a:ln/>
        </p:spPr>
        <p:txBody>
          <a:bodyPr wrap="square" lIns="0" tIns="0" rIns="0" bIns="0" rtlCol="0" anchor="t"/>
          <a:lstStyle/>
          <a:p>
            <a:pPr indent="0" marL="0">
              <a:buNone/>
            </a:pPr>
            <a:r>
              <a:rPr lang="en-US" sz="1400" b="1" dirty="0">
                <a:solidFill>
                  <a:srgbClr val="E93864"/>
                </a:solidFill>
                <a:latin typeface="Calibri" pitchFamily="34" charset="0"/>
                <a:ea typeface="Calibri" pitchFamily="34" charset="-122"/>
                <a:cs typeface="Calibri" pitchFamily="34" charset="-120"/>
              </a:rPr>
              <a:t>Ryde keeps the money and the customer: the service only recommends. </a:t>
            </a:r>
            <a:pPr indent="0" marL="0">
              <a:buNone/>
            </a:pPr>
            <a:r>
              <a:rPr lang="en-US" sz="1400" dirty="0">
                <a:solidFill>
                  <a:srgbClr val="31373E"/>
                </a:solidFill>
                <a:latin typeface="Calibri" pitchFamily="34" charset="0"/>
                <a:ea typeface="Calibri" pitchFamily="34" charset="-122"/>
                <a:cs typeface="Calibri" pitchFamily="34" charset="-120"/>
              </a:rPr>
              <a:t>Rollout: shadow, assist, limited autonomy, expand.</a:t>
            </a:r>
            <a:endParaRPr lang="en-US" sz="1400" dirty="0"/>
          </a:p>
        </p:txBody>
      </p:sp>
      <p:sp>
        <p:nvSpPr>
          <p:cNvPr id="5" name="Text 2"/>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Runs on Ryde’s own infrastructure: only the model calls leave, to Tencent Cloud ADP. A hosted option is on slide 13.</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About S$120k of staff time; budget S$175 a month</a:t>
            </a:r>
            <a:endParaRPr lang="en-US" sz="3000" dirty="0"/>
          </a:p>
        </p:txBody>
      </p:sp>
      <p:sp>
        <p:nvSpPr>
          <p:cNvPr id="3" name="card"/>
          <p:cNvSpPr/>
          <p:nvPr/>
        </p:nvSpPr>
        <p:spPr>
          <a:xfrm>
            <a:off x="45720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S$120k</a:t>
            </a:r>
            <a:endParaRPr lang="en-US" sz="3800" dirty="0"/>
          </a:p>
        </p:txBody>
      </p:sp>
      <p:sp>
        <p:nvSpPr>
          <p:cNvPr id="5" name="Text 3"/>
          <p:cNvSpPr txBox="1"/>
          <p:nvPr/>
        </p:nvSpPr>
        <p:spPr>
          <a:xfrm>
            <a:off x="64008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one-off, staff time</a:t>
            </a:r>
            <a:endParaRPr lang="en-US" sz="1600" dirty="0"/>
          </a:p>
        </p:txBody>
      </p:sp>
      <p:sp>
        <p:nvSpPr>
          <p:cNvPr id="6" name="Text 4"/>
          <p:cNvSpPr txBox="1"/>
          <p:nvPr/>
        </p:nvSpPr>
        <p:spPr>
          <a:xfrm>
            <a:off x="64008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Ryde’s own people: 2 engineers × 4 months, plus PM, QA and security review. Not a new cash outlay.</a:t>
            </a:r>
            <a:endParaRPr lang="en-US" sz="1300" dirty="0"/>
          </a:p>
        </p:txBody>
      </p:sp>
      <p:sp>
        <p:nvSpPr>
          <p:cNvPr id="7" name="card"/>
          <p:cNvSpPr/>
          <p:nvPr/>
        </p:nvSpPr>
        <p:spPr>
          <a:xfrm>
            <a:off x="329184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47472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S$175</a:t>
            </a:r>
            <a:endParaRPr lang="en-US" sz="3800" dirty="0"/>
          </a:p>
        </p:txBody>
      </p:sp>
      <p:sp>
        <p:nvSpPr>
          <p:cNvPr id="9" name="Text 7"/>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monthly token budget</a:t>
            </a:r>
            <a:endParaRPr lang="en-US" sz="1600" dirty="0"/>
          </a:p>
        </p:txBody>
      </p:sp>
      <p:sp>
        <p:nvSpPr>
          <p:cNvPr id="10" name="Text 8"/>
          <p:cNvSpPr txBox="1"/>
          <p:nvPr/>
        </p:nvSpPr>
        <p:spPr>
          <a:xfrm>
            <a:off x="347472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Flash advocates + Pro Judge. Not measured billing. The embedded option assumes existing infrastructure and support staff.</a:t>
            </a:r>
            <a:endParaRPr lang="en-US" sz="1300" dirty="0"/>
          </a:p>
        </p:txBody>
      </p:sp>
      <p:sp>
        <p:nvSpPr>
          <p:cNvPr id="11" name="card"/>
          <p:cNvSpPr/>
          <p:nvPr/>
        </p:nvSpPr>
        <p:spPr>
          <a:xfrm>
            <a:off x="612648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630936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9 months</a:t>
            </a:r>
            <a:endParaRPr lang="en-US" sz="3800" dirty="0"/>
          </a:p>
        </p:txBody>
      </p:sp>
      <p:sp>
        <p:nvSpPr>
          <p:cNvPr id="13" name="Text 11"/>
          <p:cNvSpPr txBox="1"/>
          <p:nvPr/>
        </p:nvSpPr>
        <p:spPr>
          <a:xfrm>
            <a:off x="630936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to limited autonomy</a:t>
            </a:r>
            <a:endParaRPr lang="en-US" sz="1600" dirty="0"/>
          </a:p>
        </p:txBody>
      </p:sp>
      <p:sp>
        <p:nvSpPr>
          <p:cNvPr id="14" name="Text 12"/>
          <p:cNvSpPr txBox="1"/>
          <p:nvPr/>
        </p:nvSpPr>
        <p:spPr>
          <a:xfrm>
            <a:off x="630936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4 build · 2 shadow · 3 assist. We measure before we trust.</a:t>
            </a:r>
            <a:endParaRPr lang="en-US" sz="1300" dirty="0"/>
          </a:p>
        </p:txBody>
      </p:sp>
      <p:sp>
        <p:nvSpPr>
          <p:cNvPr id="15" name="sizing strip"/>
          <p:cNvSpPr/>
          <p:nvPr/>
        </p:nvSpPr>
        <p:spPr>
          <a:xfrm>
            <a:off x="457200" y="3931920"/>
            <a:ext cx="8229600" cy="594360"/>
          </a:xfrm>
          <a:prstGeom prst="roundRect">
            <a:avLst>
              <a:gd name="adj" fmla="val 12308"/>
            </a:avLst>
          </a:prstGeom>
          <a:solidFill>
            <a:srgbClr val="F7DDE3"/>
          </a:solidFill>
          <a:ln w="12700">
            <a:solidFill>
              <a:srgbClr val="F7DDE3"/>
            </a:solidFill>
            <a:prstDash val="solid"/>
          </a:ln>
        </p:spPr>
      </p:sp>
      <p:sp>
        <p:nvSpPr>
          <p:cNvPr id="16"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rgbClr val="31373E"/>
                </a:solidFill>
                <a:latin typeface="Calibri" pitchFamily="34" charset="0"/>
                <a:ea typeface="Calibri" pitchFamily="34" charset="-122"/>
                <a:cs typeface="Calibri" pitchFamily="34" charset="-120"/>
              </a:rPr>
              <a:t>At 1,333 cases/month and assumed tokens: reference scenarios S$46–172. Budget S$175; no per-role token split assumed.</a:t>
            </a:r>
            <a:endParaRPr lang="en-US" sz="1400" dirty="0"/>
          </a:p>
        </p:txBody>
      </p:sp>
      <p:sp>
        <p:nvSpPr>
          <p:cNvPr id="17" name="Text 1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ASSUMPTIONS: token use, workload, FX and staff cost. Not measured spending. Extra calls/fees may exceed budget. See slide 8.</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Doing nothing costs about S$400k over three years</a:t>
            </a:r>
            <a:endParaRPr lang="en-US" sz="3000" dirty="0"/>
          </a:p>
        </p:txBody>
      </p:sp>
      <p:graphicFrame>
        <p:nvGraphicFramePr>
          <p:cNvPr id="3" name="Chart 0" descr=""/>
          <p:cNvGraphicFramePr/>
          <p:nvPr/>
        </p:nvGraphicFramePr>
        <p:xfrm>
          <a:off x="365760" y="114300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852160" y="1097280"/>
            <a:ext cx="2834640" cy="502920"/>
          </a:xfrm>
          <a:prstGeom prst="rect">
            <a:avLst/>
          </a:prstGeom>
          <a:noFill/>
          <a:ln/>
        </p:spPr>
        <p:txBody>
          <a:bodyPr wrap="square" lIns="0" tIns="0" rIns="0" bIns="0" rtlCol="0" anchor="ctr"/>
          <a:lstStyle/>
          <a:p>
            <a:pPr indent="0" marL="0">
              <a:buNone/>
            </a:pPr>
            <a:r>
              <a:rPr lang="en-US" sz="3600" b="1" dirty="0">
                <a:solidFill>
                  <a:srgbClr val="31373E"/>
                </a:solidFill>
                <a:latin typeface="Calibri" pitchFamily="34" charset="0"/>
                <a:ea typeface="Calibri" pitchFamily="34" charset="-122"/>
                <a:cs typeface="Calibri" pitchFamily="34" charset="-120"/>
              </a:rPr>
              <a:t>S$397k</a:t>
            </a:r>
            <a:endParaRPr lang="en-US" sz="3600" dirty="0"/>
          </a:p>
        </p:txBody>
      </p:sp>
      <p:sp>
        <p:nvSpPr>
          <p:cNvPr id="5" name="Text 2"/>
          <p:cNvSpPr txBox="1"/>
          <p:nvPr/>
        </p:nvSpPr>
        <p:spPr>
          <a:xfrm>
            <a:off x="5852160" y="1600200"/>
            <a:ext cx="2834640" cy="27432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if nothing changes</a:t>
            </a:r>
            <a:endParaRPr lang="en-US" sz="1400" dirty="0"/>
          </a:p>
        </p:txBody>
      </p:sp>
      <p:sp>
        <p:nvSpPr>
          <p:cNvPr id="6" name="Text 3"/>
          <p:cNvSpPr txBox="1"/>
          <p:nvPr/>
        </p:nvSpPr>
        <p:spPr>
          <a:xfrm>
            <a:off x="5852160" y="1920240"/>
            <a:ext cx="2834640" cy="502920"/>
          </a:xfrm>
          <a:prstGeom prst="rect">
            <a:avLst/>
          </a:prstGeom>
          <a:noFill/>
          <a:ln/>
        </p:spPr>
        <p:txBody>
          <a:bodyPr wrap="square" lIns="0" tIns="0" rIns="0" bIns="0" rtlCol="0" anchor="ctr"/>
          <a:lstStyle/>
          <a:p>
            <a:pPr indent="0" marL="0">
              <a:buNone/>
            </a:pPr>
            <a:r>
              <a:rPr lang="en-US" sz="3600" b="1" dirty="0">
                <a:solidFill>
                  <a:srgbClr val="E93864"/>
                </a:solidFill>
                <a:latin typeface="Calibri" pitchFamily="34" charset="0"/>
                <a:ea typeface="Calibri" pitchFamily="34" charset="-122"/>
                <a:cs typeface="Calibri" pitchFamily="34" charset="-120"/>
              </a:rPr>
              <a:t>S$250k</a:t>
            </a:r>
            <a:endParaRPr lang="en-US" sz="3600" dirty="0"/>
          </a:p>
        </p:txBody>
      </p:sp>
      <p:sp>
        <p:nvSpPr>
          <p:cNvPr id="7" name="Text 4"/>
          <p:cNvSpPr txBox="1"/>
          <p:nvPr/>
        </p:nvSpPr>
        <p:spPr>
          <a:xfrm>
            <a:off x="5852160" y="2423160"/>
            <a:ext cx="2834640" cy="27432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with our system, staff time included</a:t>
            </a:r>
            <a:endParaRPr lang="en-US" sz="1400" dirty="0"/>
          </a:p>
        </p:txBody>
      </p:sp>
      <p:sp>
        <p:nvSpPr>
          <p:cNvPr id="8" name="Text 5"/>
          <p:cNvSpPr txBox="1"/>
          <p:nvPr/>
        </p:nvSpPr>
        <p:spPr>
          <a:xfrm>
            <a:off x="5852160" y="2788920"/>
            <a:ext cx="2834640" cy="457200"/>
          </a:xfrm>
          <a:prstGeom prst="rect">
            <a:avLst/>
          </a:prstGeom>
          <a:noFill/>
          <a:ln/>
        </p:spPr>
        <p:txBody>
          <a:bodyPr wrap="square" lIns="0" tIns="0" rIns="0" bIns="0" rtlCol="0" anchor="t"/>
          <a:lstStyle/>
          <a:p>
            <a:pPr indent="0" marL="0">
              <a:buNone/>
            </a:pPr>
            <a:r>
              <a:rPr lang="en-US" sz="1200" b="1" dirty="0">
                <a:solidFill>
                  <a:srgbClr val="31373E"/>
                </a:solidFill>
                <a:latin typeface="Calibri" pitchFamily="34" charset="0"/>
                <a:ea typeface="Calibri" pitchFamily="34" charset="-122"/>
                <a:cs typeface="Calibri" pitchFamily="34" charset="-120"/>
              </a:rPr>
              <a:t>S$147k saved, 123% return on the staff time.</a:t>
            </a:r>
            <a:pPr indent="0" marL="0">
              <a:buNone/>
            </a:pPr>
            <a:r>
              <a:rPr lang="en-US" sz="1200" dirty="0">
                <a:solidFill>
                  <a:srgbClr val="5A6470"/>
                </a:solidFill>
                <a:latin typeface="Calibri" pitchFamily="34" charset="0"/>
                <a:ea typeface="Calibri" pitchFamily="34" charset="-122"/>
                <a:cs typeface="Calibri" pitchFamily="34" charset="-120"/>
              </a:rPr>
              <a:t/>
            </a:r>
            <a:endParaRPr lang="en-US" sz="1200" dirty="0"/>
          </a:p>
        </p:txBody>
      </p:sp>
      <p:graphicFrame>
        <p:nvGraphicFramePr>
          <p:cNvPr id="8" name="payback table"/>
          <p:cNvGraphicFramePr>
            <a:graphicFrameLocks noGrp="1"/>
          </p:cNvGraphicFramePr>
          <p:nvPr>
            <p:extLst>
              <p:ext uri="{D42A27DB-BD31-4B8C-83A1-F6EECF244321}">
                <p14:modId xmlns:p14="http://schemas.microsoft.com/office/powerpoint/2010/main" val="1579011935"/>
              </p:ext>
            </p:extLst>
          </p:nvPr>
        </p:nvGraphicFramePr>
        <p:xfrm>
          <a:off x="5852160" y="3291840"/>
          <a:ext cx="2834640" cy="914400"/>
        </p:xfrm>
        <a:graphic>
          <a:graphicData uri="http://schemas.openxmlformats.org/drawingml/2006/table">
            <a:tbl>
              <a:tblPr/>
              <a:tblGrid>
                <a:gridCol w="1463040"/>
                <a:gridCol w="137160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Disputes, % of trips</a:t>
                      </a:r>
                      <a:endParaRPr lang="en-US" sz="11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34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 (base)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E93864"/>
                          </a:solidFill>
                          <a:latin typeface="Calibri" pitchFamily="34" charset="0"/>
                          <a:ea typeface="Calibri" pitchFamily="34" charset="-122"/>
                          <a:cs typeface="Calibri" pitchFamily="34" charset="-120"/>
                        </a:rPr>
                        <a:t>month 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0" name="Text 6"/>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ASSUMPTIONS: 1% disputed, 40% in scope, S$7.50 each, 10% growth, 60% autonomous after rollout. Includes S$175/month token budget, scaled with volume. Not measured savings.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cost breakdown</a:t>
            </a:r>
            <a:endParaRPr lang="en-US" sz="3000" dirty="0"/>
          </a:p>
        </p:txBody>
      </p:sp>
      <p:graphicFrame>
        <p:nvGraphicFramePr>
          <p:cNvPr id="9" name="staff cost table"/>
          <p:cNvGraphicFramePr>
            <a:graphicFrameLocks noGrp="1"/>
          </p:cNvGraphicFramePr>
          <p:nvPr>
            <p:extLst>
              <p:ext uri="{D42A27DB-BD31-4B8C-83A1-F6EECF244321}">
                <p14:modId xmlns:p14="http://schemas.microsoft.com/office/powerpoint/2010/main" val="1579011935"/>
              </p:ext>
            </p:extLst>
          </p:nvPr>
        </p:nvGraphicFramePr>
        <p:xfrm>
          <a:off x="457200" y="1143000"/>
          <a:ext cx="4206240" cy="914400"/>
        </p:xfrm>
        <a:graphic>
          <a:graphicData uri="http://schemas.openxmlformats.org/drawingml/2006/table">
            <a:tbl>
              <a:tblPr/>
              <a:tblGrid>
                <a:gridCol w="2560320"/>
                <a:gridCol w="640080"/>
                <a:gridCol w="1005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One-off: Ryde staff time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457200">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 engineers × 4 months at S$12,000 a month</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B3264A"/>
                          </a:solidFill>
                          <a:latin typeface="Calibri" pitchFamily="34" charset="0"/>
                          <a:ea typeface="Calibri" pitchFamily="34" charset="-122"/>
                          <a:cs typeface="Calibri" pitchFamily="34" charset="-120"/>
                        </a:rPr>
                        <a:t>Assumed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PM, QA and security review</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B3264A"/>
                          </a:solidFill>
                          <a:latin typeface="Calibri" pitchFamily="34" charset="0"/>
                          <a:ea typeface="Calibri" pitchFamily="34" charset="-122"/>
                          <a:cs typeface="Calibri" pitchFamily="34" charset="-120"/>
                        </a:rPr>
                        <a:t>Assumed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017520"/>
            <a:ext cx="4206240" cy="10058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Staff time is an opportunity cost, not cash: Ryde’s engineers are already salaried. There is no new infrastructure: the service runs on what Ryde already operates, and support is absorbed by the existing team.</a:t>
            </a:r>
            <a:endParaRPr lang="en-US" sz="1200" dirty="0"/>
          </a:p>
        </p:txBody>
      </p:sp>
      <p:graphicFrame>
        <p:nvGraphicFramePr>
          <p:cNvPr id="17" name="model cost table"/>
          <p:cNvGraphicFramePr>
            <a:graphicFrameLocks noGrp="1"/>
          </p:cNvGraphicFramePr>
          <p:nvPr>
            <p:extLst>
              <p:ext uri="{D42A27DB-BD31-4B8C-83A1-F6EECF244321}">
                <p14:modId xmlns:p14="http://schemas.microsoft.com/office/powerpoint/2010/main" val="1579011935"/>
              </p:ext>
            </p:extLst>
          </p:nvPr>
        </p:nvGraphicFramePr>
        <p:xfrm>
          <a:off x="4937760" y="1143000"/>
          <a:ext cx="3749040" cy="914400"/>
        </p:xfrm>
        <a:graphic>
          <a:graphicData uri="http://schemas.openxmlformats.org/drawingml/2006/table">
            <a:tbl>
              <a:tblPr/>
              <a:tblGrid>
                <a:gridCol w="2011680"/>
                <a:gridCol w="822960"/>
                <a:gridCol w="9144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(ADP)</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US$/mo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S$/mo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310896">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Current mix: token budget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Flash 0731 GA peak, all tokens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Unversioned V4 Pro, all tokens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172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Actual mixed-model usage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6" name="total box"/>
          <p:cNvSpPr/>
          <p:nvPr/>
        </p:nvSpPr>
        <p:spPr>
          <a:xfrm>
            <a:off x="4937760" y="2926080"/>
            <a:ext cx="3749040" cy="1463040"/>
          </a:xfrm>
          <a:prstGeom prst="roundRect">
            <a:avLst>
              <a:gd name="adj" fmla="val 5000"/>
            </a:avLst>
          </a:prstGeom>
          <a:solidFill>
            <a:srgbClr val="F7DDE3"/>
          </a:solidFill>
          <a:ln w="12700">
            <a:solidFill>
              <a:srgbClr val="F7DDE3"/>
            </a:solidFill>
            <a:prstDash val="solid"/>
          </a:ln>
        </p:spPr>
      </p:sp>
      <p:sp>
        <p:nvSpPr>
          <p:cNvPr id="7" name="Text 3"/>
          <p:cNvSpPr txBox="1"/>
          <p:nvPr/>
        </p:nvSpPr>
        <p:spPr>
          <a:xfrm>
            <a:off x="5120640" y="3017520"/>
            <a:ext cx="3383280" cy="411480"/>
          </a:xfrm>
          <a:prstGeom prst="rect">
            <a:avLst/>
          </a:prstGeom>
          <a:noFill/>
          <a:ln/>
        </p:spPr>
        <p:txBody>
          <a:bodyPr wrap="square" lIns="0" tIns="0" rIns="0" bIns="0" rtlCol="0" anchor="ctr"/>
          <a:lstStyle/>
          <a:p>
            <a:pPr indent="0" marL="0">
              <a:buNone/>
            </a:pPr>
            <a:r>
              <a:rPr lang="en-US" sz="2000" b="1" dirty="0">
                <a:solidFill>
                  <a:srgbClr val="E93864"/>
                </a:solidFill>
                <a:latin typeface="Calibri" pitchFamily="34" charset="0"/>
                <a:ea typeface="Calibri" pitchFamily="34" charset="-122"/>
                <a:cs typeface="Calibri" pitchFamily="34" charset="-120"/>
              </a:rPr>
              <a:t>S$175/month token budget</a:t>
            </a:r>
            <a:endParaRPr lang="en-US" sz="2000" dirty="0"/>
          </a:p>
        </p:txBody>
      </p:sp>
      <p:sp>
        <p:nvSpPr>
          <p:cNvPr id="8" name="Text 4"/>
          <p:cNvSpPr txBox="1"/>
          <p:nvPr/>
        </p:nvSpPr>
        <p:spPr>
          <a:xfrm>
            <a:off x="5120640" y="3474720"/>
            <a:ext cx="3383280" cy="868680"/>
          </a:xfrm>
          <a:prstGeom prst="rect">
            <a:avLst/>
          </a:prstGeom>
          <a:noFill/>
          <a:ln/>
        </p:spPr>
        <p:txBody>
          <a:bodyPr wrap="square" lIns="0" tIns="0" rIns="0" bIns="0" rtlCol="0" anchor="t"/>
          <a:lstStyle/>
          <a:p>
            <a:pPr indent="0" marL="0">
              <a:buNone/>
            </a:pPr>
            <a:r>
              <a:rPr lang="en-US" sz="1200" dirty="0">
                <a:solidFill>
                  <a:srgbClr val="31373E"/>
                </a:solidFill>
                <a:latin typeface="Calibri" pitchFamily="34" charset="0"/>
                <a:ea typeface="Calibri" pitchFamily="34" charset="-122"/>
                <a:cs typeface="Calibri" pitchFamily="34" charset="-120"/>
              </a:rPr>
              <a:t>Flash advocates + Pro Judge. Actual use is not measured. Reference rows are alternative price scenarios, not the billed SKU.</a:t>
            </a:r>
            <a:endParaRPr lang="en-US" sz="1200" dirty="0"/>
          </a:p>
        </p:txBody>
      </p:sp>
      <p:sp>
        <p:nvSpPr>
          <p:cNvPr id="9" name="Text 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ASSUMED: 50k input + 3.5k output tokens/case; 1,333/month; S$1.30/US$1. Excludes ADP plan fees. Billed SKU needs confirmation. Formula: cost_model.py.</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dispute-rate sensitivity and benchmarks</a:t>
            </a:r>
            <a:endParaRPr lang="en-US" sz="3000" dirty="0"/>
          </a:p>
        </p:txBody>
      </p:sp>
      <p:graphicFrame>
        <p:nvGraphicFramePr>
          <p:cNvPr id="10" name="sensitivity table"/>
          <p:cNvGraphicFramePr>
            <a:graphicFrameLocks noGrp="1"/>
          </p:cNvGraphicFramePr>
          <p:nvPr>
            <p:extLst>
              <p:ext uri="{D42A27DB-BD31-4B8C-83A1-F6EECF244321}">
                <p14:modId xmlns:p14="http://schemas.microsoft.com/office/powerpoint/2010/main" val="1579011935"/>
              </p:ext>
            </p:extLst>
          </p:nvPr>
        </p:nvGraphicFramePr>
        <p:xfrm>
          <a:off x="457200" y="1143000"/>
          <a:ext cx="5303520" cy="914400"/>
        </p:xfrm>
        <a:graphic>
          <a:graphicData uri="http://schemas.openxmlformats.org/drawingml/2006/table">
            <a:tbl>
              <a:tblPr/>
              <a:tblGrid>
                <a:gridCol w="1554480"/>
                <a:gridCol w="1252728"/>
                <a:gridCol w="1252728"/>
                <a:gridCol w="1243584"/>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Disputes, % of trips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10%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−61k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−53k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−48k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+14k · m34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+25k · m32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+117k · m22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+147k · m21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+170k · m21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+235k · m17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+281k · m17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+314k · m17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+354k · m15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+414k · m15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+459k · m14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291840"/>
            <a:ext cx="5303520" cy="5486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Cells: 3-year net saving, S$k, and payback month. Includes revised token budget. Break-even: 0.51% of trips at flat volume, 0.45% at 10% growth.</a:t>
            </a:r>
            <a:endParaRPr lang="en-US" sz="1200" dirty="0"/>
          </a:p>
        </p:txBody>
      </p:sp>
      <p:sp>
        <p:nvSpPr>
          <p:cNvPr id="5" name="benchmarks box"/>
          <p:cNvSpPr/>
          <p:nvPr/>
        </p:nvSpPr>
        <p:spPr>
          <a:xfrm>
            <a:off x="5989320" y="1143000"/>
            <a:ext cx="2697480" cy="3383280"/>
          </a:xfrm>
          <a:prstGeom prst="roundRect">
            <a:avLst>
              <a:gd name="adj" fmla="val 2712"/>
            </a:avLst>
          </a:prstGeom>
          <a:solidFill>
            <a:srgbClr val="F7DDE3"/>
          </a:solidFill>
          <a:ln w="12700">
            <a:solidFill>
              <a:srgbClr val="F7DDE3"/>
            </a:solidFill>
            <a:prstDash val="solid"/>
          </a:ln>
        </p:spPr>
      </p:sp>
      <p:sp>
        <p:nvSpPr>
          <p:cNvPr id="6" name="Text 3"/>
          <p:cNvSpPr txBox="1"/>
          <p:nvPr/>
        </p:nvSpPr>
        <p:spPr>
          <a:xfrm>
            <a:off x="6172200" y="1280160"/>
            <a:ext cx="237744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REFERENCE POINTS</a:t>
            </a:r>
            <a:endParaRPr lang="en-US" sz="1100" dirty="0"/>
          </a:p>
        </p:txBody>
      </p:sp>
      <p:sp>
        <p:nvSpPr>
          <p:cNvPr id="7" name="Text 4"/>
          <p:cNvSpPr txBox="1"/>
          <p:nvPr/>
        </p:nvSpPr>
        <p:spPr>
          <a:xfrm>
            <a:off x="6172200" y="1600200"/>
            <a:ext cx="2377440" cy="2834640"/>
          </a:xfrm>
          <a:prstGeom prst="rect">
            <a:avLst/>
          </a:prstGeom>
          <a:noFill/>
          <a:ln/>
        </p:spPr>
        <p:txBody>
          <a:bodyPr wrap="square" lIns="0" tIns="0" rIns="0" bIns="0" rtlCol="0" anchor="t"/>
          <a:lstStyle/>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Grab: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publishes no dispute or contact rate.</a:t>
            </a:r>
            <a:endParaRPr lang="en-US" sz="1200" dirty="0"/>
          </a:p>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Uber: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about 1.3 support contacts per 100 trips, all topics (3M tickets a week ÷ about 288M trips a week). Disputes are a subset.</a:t>
            </a:r>
            <a:endParaRPr lang="en-US" sz="1200" dirty="0"/>
          </a:p>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Ryde (verified):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revenue +17%, mobility +8%.</a:t>
            </a:r>
            <a:endParaRPr lang="en-US" sz="1200" dirty="0"/>
          </a:p>
        </p:txBody>
      </p:sp>
      <p:sp>
        <p:nvSpPr>
          <p:cNvPr id="8" name="Text 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Sources: Uber engineering blog (Feb 2024); Uber FY2025 10-K (Q4 trips 3,751M); Ryde 1H 2026 results. The Uber figure is derived from figures two years apart: a rough indicator only.</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how it plugs into Ryde</a:t>
            </a:r>
            <a:endParaRPr lang="en-US" sz="3000" dirty="0"/>
          </a:p>
        </p:txBody>
      </p:sp>
      <p:graphicFrame>
        <p:nvGraphicFramePr>
          <p:cNvPr id="11" name="integrati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4114800"/>
                <a:gridCol w="41148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Ryde does</a:t>
                      </a:r>
                      <a:endParaRPr lang="en-US" sz="13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The service does</a:t>
                      </a:r>
                      <a:endParaRPr lang="en-US" sz="13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Publishes a dispute event from its CS tool, with trip id, category, claim</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Reads evidence read-only from Ryde’s own services, builds the Evidence Pack, runs the agents</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Shows status in its own ticket screen</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Returns ruling.issued, ruling.withheld, needs_info or human_review</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Applies the refund through its payments, idempotently</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Never moves money, never talks to the rider’s app</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Shows withheld cases to its CS agents in the tool they already use</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Records every reviewer decision and who made it</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611880"/>
            <a:ext cx="8229600" cy="9601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Runs in Ryde’s own cluster: only the model calls leave, to Tencent Cloud ADP.</a:t>
            </a:r>
            <a:endParaRPr lang="en-US" sz="1300" dirty="0"/>
          </a:p>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The party view stays a five-key allowlist: no confidence, no model text.</a:t>
            </a:r>
            <a:endParaRPr lang="en-US" sz="1300" dirty="0"/>
          </a:p>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The same contract works if Ryde prefers a hosted service (slide 13).</a:t>
            </a:r>
            <a:endParaRPr lang="en-US" sz="1300" dirty="0"/>
          </a:p>
        </p:txBody>
      </p:sp>
      <p:sp>
        <p:nvSpPr>
          <p:cNvPr id="5" name="Text 2"/>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Contract: tools/deployment/openapi.json (proposal, not a deployed API).</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controls and honest limits</a:t>
            </a:r>
            <a:endParaRPr lang="en-US" sz="3000" dirty="0"/>
          </a:p>
        </p:txBody>
      </p:sp>
      <p:sp>
        <p:nvSpPr>
          <p:cNvPr id="3" name="card"/>
          <p:cNvSpPr/>
          <p:nvPr/>
        </p:nvSpPr>
        <p:spPr>
          <a:xfrm>
            <a:off x="457200" y="1143000"/>
            <a:ext cx="4023360" cy="3200400"/>
          </a:xfrm>
          <a:prstGeom prst="roundRect">
            <a:avLst>
              <a:gd name="adj" fmla="val 2286"/>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280160"/>
            <a:ext cx="365760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BUILT TODAY / BEFORE GO-LIVE</a:t>
            </a:r>
            <a:endParaRPr lang="en-US" sz="1100" dirty="0"/>
          </a:p>
        </p:txBody>
      </p:sp>
      <p:sp>
        <p:nvSpPr>
          <p:cNvPr id="5" name="Text 3"/>
          <p:cNvSpPr txBox="1"/>
          <p:nvPr/>
        </p:nvSpPr>
        <p:spPr>
          <a:xfrm>
            <a:off x="640080" y="1600200"/>
            <a:ext cx="365760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SGD 50 cap and 0.65 confidence floor, enforced in code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Before go-live: add a kill switch to pause rulings</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Before go-live: remove personal data before AI</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Data stays in Ryde’s environment; only model calls leave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Every reviewer decision logged with who made it</a:t>
            </a:r>
            <a:endParaRPr lang="en-US" sz="1300" dirty="0"/>
          </a:p>
        </p:txBody>
      </p:sp>
      <p:sp>
        <p:nvSpPr>
          <p:cNvPr id="6" name="card"/>
          <p:cNvSpPr/>
          <p:nvPr/>
        </p:nvSpPr>
        <p:spPr>
          <a:xfrm>
            <a:off x="4663440" y="1143000"/>
            <a:ext cx="4023360" cy="3200400"/>
          </a:xfrm>
          <a:prstGeom prst="roundRect">
            <a:avLst>
              <a:gd name="adj" fmla="val 2286"/>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4846320" y="1280160"/>
            <a:ext cx="365760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HONEST LIMITS</a:t>
            </a:r>
            <a:endParaRPr lang="en-US" sz="1100" dirty="0"/>
          </a:p>
        </p:txBody>
      </p:sp>
      <p:sp>
        <p:nvSpPr>
          <p:cNvPr id="8" name="Text 6"/>
          <p:cNvSpPr txBox="1"/>
          <p:nvPr/>
        </p:nvSpPr>
        <p:spPr>
          <a:xfrm>
            <a:off x="4846320" y="1600200"/>
            <a:ext cx="365760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Policy is synthesised: Ryde ops, legal and finance adopt it before autonomy</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3 October 2026: 17 of 18 demo labels matched; not real-world accuracy</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No platform publishes its dispute rate; ours is an assumption until shadow mode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Pre-switch result; Flash advocates + Pro Judge not re-scored</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Staff time is not cash: savings are cash only if Ryde avoids hiring</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system architecture</a:t>
            </a:r>
            <a:endParaRPr lang="en-US" sz="3000" dirty="0"/>
          </a:p>
        </p:txBody>
      </p:sp>
      <p:pic>
        <p:nvPicPr>
          <p:cNvPr id="3" name="Image 0" descr="System architecture flow: intake forms and the command-line runner feed the server; a category check routes out-of-scope disputes to human review and the two handled categories to the Evidence Pack; Rider and Driver Advocates, with the policy document, argue; a question check either asks the party once or sends both cases to the Judge; code gates then decide whether the ruling is issued or withheld for human review; every step emits an event that the operator console shows.">    </p:cNvPr>
          <p:cNvPicPr>
            <a:picLocks noChangeAspect="1"/>
          </p:cNvPicPr>
          <p:nvPr/>
        </p:nvPicPr>
        <p:blipFill>
          <a:blip r:embed="rId1"/>
          <a:stretch>
            <a:fillRect/>
          </a:stretch>
        </p:blipFill>
        <p:spPr>
          <a:xfrm>
            <a:off x="274320" y="1024128"/>
            <a:ext cx="8595360" cy="3781958"/>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deployment options compared</a:t>
            </a:r>
            <a:endParaRPr lang="en-US" sz="3000" dirty="0"/>
          </a:p>
        </p:txBody>
      </p:sp>
      <p:graphicFrame>
        <p:nvGraphicFramePr>
          <p:cNvPr id="14" name="option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188720"/>
                <a:gridCol w="2651760"/>
                <a:gridCol w="2651760"/>
                <a:gridCol w="1737360"/>
              </a:tblGrid>
              <a:tr h="310896">
                <a:tc>
                  <a:txBody>
                    <a:bodyPr/>
                    <a:lstStyle/>
                    <a:p>
                      <a:pPr indent="0" marL="0">
                        <a:buNone/>
                      </a:pP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 Embedded in Ryde (proposed)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386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 Hosted service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 No AI</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How</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Our service runs in Ryde’s cluster, inside its CS tool</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We host it on Tencent Cloud: signed events in, decisions out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Human agents, as today</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1148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One-off</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S$120k of Ryde staff time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S$90k, paid to build it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Running / month</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S$175 token budget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About S$1.9k (cloud, tokens, 0.1 engineer)</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None, but cost grows with volume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3-year spend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S$250k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S$268k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S$397k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Payback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Month 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Trade-off</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Needs Ryde engineers; slower start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Fast and isolated; new infrastructure to run</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24–72 h resolution, inconsistent rulings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ASSUMPTIONS: 1% disputed, 40% in scope, S$7.50 each, 10% growth, 60% autonomous after rollout. Flash advocates + Pro Judge; S$175/month base token provision, not a bill.</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yde Dispute Pitch">
  <a:themeElements>
    <a:clrScheme name="Ryde Dispute Pitch">
      <a:dk1>
        <a:srgbClr val="31373E"/>
      </a:dk1>
      <a:lt1>
        <a:srgbClr val="FFFFFF"/>
      </a:lt1>
      <a:dk2>
        <a:srgbClr val="5A6470"/>
      </a:dk2>
      <a:lt2>
        <a:srgbClr val="F7DDE3"/>
      </a:lt2>
      <a:accent1>
        <a:srgbClr val="E93864"/>
      </a:accent1>
      <a:accent2>
        <a:srgbClr val="31373E"/>
      </a:accent2>
      <a:accent3>
        <a:srgbClr val="8A94A0"/>
      </a:accent3>
      <a:accent4>
        <a:srgbClr val="F6A5B8"/>
      </a:accent4>
      <a:accent5>
        <a:srgbClr val="B3264A"/>
      </a:accent5>
      <a:accent6>
        <a:srgbClr val="D9DEE4"/>
      </a:accent6>
      <a:hlink>
        <a:srgbClr val="E93864"/>
      </a:hlink>
      <a:folHlink>
        <a:srgbClr val="5A6470"/>
      </a:folHlink>
    </a:clrScheme>
    <a:fontScheme name="Ryde Dispute Pit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 Multi-Agent Autonomous Dispute Resolution</dc:title>
  <dc:subject>PptxGenJS Presentation</dc:subject>
  <dc:creator>Ryde dispute resolution team</dc:creator>
  <cp:lastModifiedBy>Ryde dispute resolution team</cp:lastModifiedBy>
  <cp:revision>1</cp:revision>
  <dcterms:created xsi:type="dcterms:W3CDTF">2026-10-13T15:57:05Z</dcterms:created>
  <dcterms:modified xsi:type="dcterms:W3CDTF">2026-10-13T15:57:05Z</dcterms:modified>
</cp:coreProperties>
</file>