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A6470"/>
                </a:solidFill>
                <a:latin typeface="Calibri"/>
              </a:defRPr>
            </a:pPr>
            <a:r>
              <a:rPr sz="1200" b="0" i="0" u="none" strike="noStrike">
                <a:solidFill>
                  <a:srgbClr val="5A6470"/>
                </a:solidFill>
                <a:latin typeface="Calibri"/>
              </a:rPr>
              <a:t>Cumulative spend on in-scope disputes, S$k</a:t>
            </a:r>
          </a:p>
        </c:rich>
      </c:tx>
      <c:layout/>
      <c:overlay val="0"/>
    </c:title>
    <c:autoTitleDeleted val="0"/>
    <c:plotArea>
      <c:layout/>
      <c:lineChart>
        <c:varyColors val="0"/>
        <c:ser>
          <c:idx val="0"/>
          <c:order val="0"/>
          <c:tx>
            <c:strRef>
              <c:f>Sheet1!$B$1</c:f>
              <c:strCache>
                <c:ptCount val="1"/>
                <c:pt idx="0">
                  <c:v>Do nothing (manual handling)</c:v>
                </c:pt>
              </c:strCache>
            </c:strRef>
          </c:tx>
          <c:spPr>
            <a:solidFill>
              <a:srgbClr val="31373E"/>
            </a:solidFill>
            <a:ln w="38100" cap="flat">
              <a:solidFill>
                <a:srgbClr val="31373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1373E"/>
              </a:solidFill>
              <a:ln w="9525" cap="flat">
                <a:solidFill>
                  <a:srgbClr val="31373E"/>
                </a:solidFill>
                <a:prstDash val="solid"/>
                <a:round/>
              </a:ln>
              <a:effectLst/>
            </c:spPr>
          </c:marker>
          <c:cat>
            <c:multiLvlStrRef>
              <c:f>Sheet1!$A$2:$A$38</c:f>
              <c:multiLvlStrCache>
                <c:ptCount val="3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lvl>
              </c:multiLvlStrCache>
            </c:multiLvlStrRef>
          </c:cat>
          <c:val>
            <c:numRef>
              <c:f>Sheet1!$B$2:$B$38</c:f>
              <c:numCache>
                <c:formatCode>General</c:formatCode>
                <c:ptCount val="37"/>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131</c:v>
                </c:pt>
                <c:pt idx="14">
                  <c:v>142</c:v>
                </c:pt>
                <c:pt idx="15">
                  <c:v>153</c:v>
                </c:pt>
                <c:pt idx="16">
                  <c:v>164</c:v>
                </c:pt>
                <c:pt idx="17">
                  <c:v>175</c:v>
                </c:pt>
                <c:pt idx="18">
                  <c:v>186</c:v>
                </c:pt>
                <c:pt idx="19">
                  <c:v>197</c:v>
                </c:pt>
                <c:pt idx="20">
                  <c:v>208</c:v>
                </c:pt>
                <c:pt idx="21">
                  <c:v>219</c:v>
                </c:pt>
                <c:pt idx="22">
                  <c:v>230</c:v>
                </c:pt>
                <c:pt idx="23">
                  <c:v>241</c:v>
                </c:pt>
                <c:pt idx="24">
                  <c:v>252</c:v>
                </c:pt>
                <c:pt idx="25">
                  <c:v>264.1</c:v>
                </c:pt>
                <c:pt idx="26">
                  <c:v>276.2</c:v>
                </c:pt>
                <c:pt idx="27">
                  <c:v>288.3</c:v>
                </c:pt>
                <c:pt idx="28">
                  <c:v>300.4</c:v>
                </c:pt>
                <c:pt idx="29">
                  <c:v>312.5</c:v>
                </c:pt>
                <c:pt idx="30">
                  <c:v>324.6</c:v>
                </c:pt>
                <c:pt idx="31">
                  <c:v>336.7</c:v>
                </c:pt>
                <c:pt idx="32">
                  <c:v>348.8</c:v>
                </c:pt>
                <c:pt idx="33">
                  <c:v>360.9</c:v>
                </c:pt>
                <c:pt idx="34">
                  <c:v>373</c:v>
                </c:pt>
                <c:pt idx="35">
                  <c:v>385.1</c:v>
                </c:pt>
                <c:pt idx="36">
                  <c:v>397.2</c:v>
                </c:pt>
              </c:numCache>
            </c:numRef>
          </c:val>
          <c:smooth val="0"/>
        </c:ser>
        <c:ser>
          <c:idx val="1"/>
          <c:order val="1"/>
          <c:tx>
            <c:strRef>
              <c:f>Sheet1!$C$1</c:f>
              <c:strCache>
                <c:ptCount val="1"/>
                <c:pt idx="0">
                  <c:v>With our system (build + run + remaining manual)</c:v>
                </c:pt>
              </c:strCache>
            </c:strRef>
          </c:tx>
          <c:spPr>
            <a:solidFill>
              <a:srgbClr val="E93864"/>
            </a:solidFill>
            <a:ln w="38100" cap="flat">
              <a:solidFill>
                <a:srgbClr val="E9386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93864"/>
              </a:solidFill>
              <a:ln w="9525" cap="flat">
                <a:solidFill>
                  <a:srgbClr val="E93864"/>
                </a:solidFill>
                <a:prstDash val="solid"/>
                <a:round/>
              </a:ln>
              <a:effectLst/>
            </c:spPr>
          </c:marker>
          <c:cat>
            <c:multiLvlStrRef>
              <c:f>Sheet1!$A$2:$A$38</c:f>
              <c:multiLvlStrCache>
                <c:ptCount val="3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lvl>
              </c:multiLvlStrCache>
            </c:multiLvlStrRef>
          </c:cat>
          <c:val>
            <c:numRef>
              <c:f>Sheet1!$C$2:$C$38</c:f>
              <c:numCache>
                <c:formatCode>General</c:formatCode>
                <c:ptCount val="37"/>
                <c:pt idx="0">
                  <c:v>0</c:v>
                </c:pt>
                <c:pt idx="1">
                  <c:v>40</c:v>
                </c:pt>
                <c:pt idx="2">
                  <c:v>80</c:v>
                </c:pt>
                <c:pt idx="3">
                  <c:v>120</c:v>
                </c:pt>
                <c:pt idx="4">
                  <c:v>132.3</c:v>
                </c:pt>
                <c:pt idx="5">
                  <c:v>144.5</c:v>
                </c:pt>
                <c:pt idx="6">
                  <c:v>151</c:v>
                </c:pt>
                <c:pt idx="7">
                  <c:v>157.4</c:v>
                </c:pt>
                <c:pt idx="8">
                  <c:v>163.8</c:v>
                </c:pt>
                <c:pt idx="9">
                  <c:v>167.8</c:v>
                </c:pt>
                <c:pt idx="10">
                  <c:v>171.7</c:v>
                </c:pt>
                <c:pt idx="11">
                  <c:v>175.7</c:v>
                </c:pt>
                <c:pt idx="12">
                  <c:v>179.6</c:v>
                </c:pt>
                <c:pt idx="13">
                  <c:v>183.7</c:v>
                </c:pt>
                <c:pt idx="14">
                  <c:v>187.8</c:v>
                </c:pt>
                <c:pt idx="15">
                  <c:v>191.9</c:v>
                </c:pt>
                <c:pt idx="16">
                  <c:v>196</c:v>
                </c:pt>
                <c:pt idx="17">
                  <c:v>200.1</c:v>
                </c:pt>
                <c:pt idx="18">
                  <c:v>204.2</c:v>
                </c:pt>
                <c:pt idx="19">
                  <c:v>208.3</c:v>
                </c:pt>
                <c:pt idx="20">
                  <c:v>212.4</c:v>
                </c:pt>
                <c:pt idx="21">
                  <c:v>216.5</c:v>
                </c:pt>
                <c:pt idx="22">
                  <c:v>220.6</c:v>
                </c:pt>
                <c:pt idx="23">
                  <c:v>224.7</c:v>
                </c:pt>
                <c:pt idx="24">
                  <c:v>228.8</c:v>
                </c:pt>
                <c:pt idx="25">
                  <c:v>233.1</c:v>
                </c:pt>
                <c:pt idx="26">
                  <c:v>237.4</c:v>
                </c:pt>
                <c:pt idx="27">
                  <c:v>241.7</c:v>
                </c:pt>
                <c:pt idx="28">
                  <c:v>246</c:v>
                </c:pt>
                <c:pt idx="29">
                  <c:v>250.3</c:v>
                </c:pt>
                <c:pt idx="30">
                  <c:v>254.6</c:v>
                </c:pt>
                <c:pt idx="31">
                  <c:v>258.8</c:v>
                </c:pt>
                <c:pt idx="32">
                  <c:v>263.1</c:v>
                </c:pt>
                <c:pt idx="33">
                  <c:v>267.4</c:v>
                </c:pt>
                <c:pt idx="34">
                  <c:v>271.7</c:v>
                </c:pt>
                <c:pt idx="35">
                  <c:v>276</c:v>
                </c:pt>
                <c:pt idx="36">
                  <c:v>280.3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470"/>
                    </a:solidFill>
                    <a:latin typeface="Calibri"/>
                  </a:defRPr>
                </a:pPr>
                <a:r>
                  <a:rPr sz="1100" b="0" i="0" u="none" strike="noStrike">
                    <a:solidFill>
                      <a:srgbClr val="5A6470"/>
                    </a:solidFill>
                    <a:latin typeface="Calibri"/>
                  </a:rPr>
                  <a:t>Month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0"/>
                </a:solidFill>
                <a:latin typeface="Calibri"/>
              </a:defRPr>
            </a:pPr>
            <a:endParaRPr lang="en-US"/>
          </a:p>
        </c:txPr>
        <c:crossAx val="2094734552"/>
        <c:crosses val="autoZero"/>
        <c:auto val="1"/>
        <c:lblAlgn val="ctr"/>
        <c:noMultiLvlLbl val="1"/>
        <c:tickLblSkip val="6"/>
      </c:catAx>
      <c:valAx>
        <c:axId val="2094734552"/>
        <c:scaling>
          <c:orientation val="minMax"/>
          <c:max val="400"/>
          <c:min val="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470"/>
                </a:solidFill>
                <a:latin typeface="Calibri"/>
              </a:defRPr>
            </a:pPr>
            <a:endParaRPr lang="en-US"/>
          </a:p>
        </c:txPr>
        <c:crossAx val="2094734554"/>
        <c:crosses val="autoZero"/>
        <c:crossBetween val="between"/>
        <c:majorUnit val="100"/>
      </c:valAx>
      <c:spPr>
        <a:noFill/>
        <a:ln>
          <a:noFill/>
        </a:ln>
        <a:effectLst/>
      </c:spPr>
    </c:plotArea>
    <c:legend>
      <c:legendPos val="b"/>
      <c:overlay val="0"/>
      <c:txPr>
        <a:bodyPr/>
        <a:lstStyle/>
        <a:p>
          <a:pPr>
            <a:defRPr sz="1100">
              <a:solidFill>
                <a:srgbClr val="31373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Name the case study first: Digital Native track, Ryde, Multi-Agent Autonomous Dispute Resolution. One-line pitch: a Rider Advocate and a Driver Advocate build their cases, a Judge rules with a confidence score, and the AI never does the maths and never gets the last word on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0:40-1:30. Say which numbers are real. Verified from Ryde's published first-half 2026 results: revenue S$6.7M up 17%, operating loss S$2.2M. Everything under the pink ASSUMPTION label is ours, because Ryde publishes no trips, support cost or dispute volumes. Derivation: mobility revenue S$4.5M for six months, about S$9M a year; at an assumed 15% take rate and S$15 fare that is about 4 million trips a year; 1% become disputes, 40% of those are in our two categories, about 1,300 a month. At 12 minutes and S$7.50 each that is about S$120k a year. The human cost is the 24-72 hours and the inconsistency named in the challenge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1:30-2:10. The idea in one breath. Python computes the evidence first. Two advocates argue, the Judge weighs both and applies the policy by rule ID. Gates written in Python decide whether a ruling is delivered at all: the confidence floor, the SGD 50 cap, an unmeasured deviation, and the no-show and route money rules. Withheld rulings go to a human and the party only sees a neutral message. Then cut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2:10-4:50 (about 2 min 40). Record the demo on the real Tencent model, or on the replay with its recording date shown on screen. Never present a mock run as a real ruling. Beats: file the dispute (20s); case file and event strip on RD-0109 (50s); the gate holds the SGD 55 refund against the SGD 50 cap and the rider sees only 'still under review' (40s); reviewer approves and the party status page updates (30s); NS-0202 is decided alone, refund SGD 6.61 (20s).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4:50-5:30. The decision core is unchanged; only storage, transport and identity change. Ryde sends a signed webhook when a dispute is created, our workers read evidence read-only, run the three ADP apps, and send a signed callback. Ryde keeps the money. Rollout starts in shadow mode so customers see nothing while we measure agreement with human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5:30-6:15. Model rates and a few cloud prices are verified from Tencent Cloud's published pages; everything else is an assumption and slide 9 shows which is which. Ryde has an operating loss of S$2.2M, so we sized the deployment lean: about S$90k one-off (two engineers for three months plus review), and about S$2.2k a month to run, which is S$26k a year. Rollout is eight months to limited autonomy. The full breakdown is on the reference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6:15-7:00. Start from the do-nothing line: at our base assumptions the in-scope disputes cost about S$400k over three years if handled by hand, growing with Ryde's volume. With our system the same period costs about S$280k: the S$90k build, about S$2.2k a month to run, and the manual work that remains. The lines cross around month 21, the payback, and the gap at month 36 is about S$117k. The dispute rate is the swing factor, and no platform publishes it: the closest reference is Uber, whose total support contacts, all topics, are about 1.3 per 100 trips, so 1% disputed is already generous and the rate that breaks even over three years is about 0.6%. Shadow mode measures Ryde's real rate before anything is switched on. Faster answers, one standard and fewer lost riders are not priced.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shown in the video timeline: keep for Q&amp;A. Verified lines come from Tencent Cloud's published ADP, EdgeOne and TKE pages. Estimates are placeholders until exact Singapore prices are pulled from the pricing calculator: CVM, TencentDB for PostgreSQL, load balancer, API Gateway tiers and storage/logging. Token usage per case is our estimate because the repo does not record real usage; the model actually used by the three ADP apps should be confirmed. The 0.1 engineer (S$1,200) is the largest line and is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shown in the video timeline: keep for Q&amp;A. No platform publishes its dispute rate; Grab does not, and the closest public reference is Uber's total support-contact rate of about 1.3 per 100 trips across all topics, derived from its engineering blog and 10-K. Disputes are a subset of contacts, so the 1% base is generous, and the table shows what happens at lower and higher rates and at different volume growth. Shadow mode replaces all of this with Ryde's measured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shown in the video timeline: keep for Q&amp;A. The rider never leaves the Ryde app. They see 'Report a problem with this trip', and the outcome shows up as a ticket status. The same fail-closed party view we show today is what the callback carries. Ryde keeps the money: the service only recommends, and Ryde's payments apply any refund, keyed by the dispute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shown in the video timeline: keep for Q&amp;A. Earn autonomy with data, not claims. Shadow mode is the first deliverable: it produces the first real accuracy number and the human-override data without risking a customer. Say the limits out loud: the policy is ours, 17 cases show consistency not accuracy, and the dispute rate and some prices are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shown in the video timeline: keep for Q&amp;A. This is the diagram from docs/architecture.md, re-laid out to fit a slide with the same nodes and edges. Walk it left to right: a dispute enters through the intake forms or the command-line runner; a category check sends anything outside route deviation and no-show to human review before any agent runs; the Evidence Pack is computed in Python; the two advocates argue with the policy; if they need more, the party is asked once and the run restarts with the answers; the Judge rules; the gates decide whether the ruling is delivered or withheld for a human; every step lands in the event log that the operator console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31373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51560"/>
            <a:ext cx="8046720" cy="320040"/>
          </a:xfrm>
          <a:prstGeom prst="rect">
            <a:avLst/>
          </a:prstGeom>
          <a:noFill/>
          <a:ln/>
        </p:spPr>
        <p:txBody>
          <a:bodyPr wrap="square" lIns="0" tIns="0" rIns="0" bIns="0" rtlCol="0" anchor="t"/>
          <a:lstStyle/>
          <a:p>
            <a:pPr indent="0" marL="0">
              <a:buNone/>
            </a:pPr>
            <a:r>
              <a:rPr lang="en-US" sz="1400" b="1" spc="200" kern="0" dirty="0">
                <a:solidFill>
                  <a:srgbClr val="E93864"/>
                </a:solidFill>
                <a:latin typeface="Calibri" pitchFamily="34" charset="0"/>
                <a:ea typeface="Calibri" pitchFamily="34" charset="-122"/>
                <a:cs typeface="Calibri" pitchFamily="34" charset="-120"/>
              </a:rPr>
              <a:t>DIGITAL NATIVE TRACK  ·  RYDE</a:t>
            </a:r>
            <a:endParaRPr lang="en-US" sz="1400" dirty="0"/>
          </a:p>
        </p:txBody>
      </p:sp>
      <p:sp>
        <p:nvSpPr>
          <p:cNvPr id="3" name="Text 1"/>
          <p:cNvSpPr txBox="1"/>
          <p:nvPr/>
        </p:nvSpPr>
        <p:spPr>
          <a:xfrm>
            <a:off x="548640" y="1463040"/>
            <a:ext cx="786384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Multi-Agent Autonomous Dispute Resolution</a:t>
            </a:r>
            <a:endParaRPr lang="en-US" sz="4000" dirty="0"/>
          </a:p>
        </p:txBody>
      </p:sp>
      <p:sp>
        <p:nvSpPr>
          <p:cNvPr id="4" name="Text 2"/>
          <p:cNvSpPr txBox="1"/>
          <p:nvPr/>
        </p:nvSpPr>
        <p:spPr>
          <a:xfrm>
            <a:off x="548640" y="2971800"/>
            <a:ext cx="7498080" cy="731520"/>
          </a:xfrm>
          <a:prstGeom prst="rect">
            <a:avLst/>
          </a:prstGeom>
          <a:noFill/>
          <a:ln/>
        </p:spPr>
        <p:txBody>
          <a:bodyPr wrap="square" lIns="0" tIns="0" rIns="0" bIns="0" rtlCol="0" anchor="t"/>
          <a:lstStyle/>
          <a:p>
            <a:pPr indent="0" marL="0">
              <a:buNone/>
            </a:pPr>
            <a:r>
              <a:rPr lang="en-US" sz="1800" dirty="0">
                <a:solidFill>
                  <a:srgbClr val="F7DDE3"/>
                </a:solidFill>
                <a:latin typeface="Calibri" pitchFamily="34" charset="0"/>
                <a:ea typeface="Calibri" pitchFamily="34" charset="-122"/>
                <a:cs typeface="Calibri" pitchFamily="34" charset="-120"/>
              </a:rPr>
              <a:t>Three AI agents gather the evidence, argue both sides and rule. Code guards the money.</a:t>
            </a:r>
            <a:endParaRPr lang="en-US" sz="1800" dirty="0"/>
          </a:p>
        </p:txBody>
      </p:sp>
      <p:sp>
        <p:nvSpPr>
          <p:cNvPr id="5" name="Text 3"/>
          <p:cNvSpPr txBox="1"/>
          <p:nvPr/>
        </p:nvSpPr>
        <p:spPr>
          <a:xfrm>
            <a:off x="548640" y="4297680"/>
            <a:ext cx="8046720" cy="274320"/>
          </a:xfrm>
          <a:prstGeom prst="rect">
            <a:avLst/>
          </a:prstGeom>
          <a:noFill/>
          <a:ln/>
        </p:spPr>
        <p:txBody>
          <a:bodyPr wrap="square" lIns="0" tIns="0" rIns="0" bIns="0" rtlCol="0" anchor="t"/>
          <a:lstStyle/>
          <a:p>
            <a:pPr indent="0" marL="0">
              <a:buNone/>
            </a:pPr>
            <a:r>
              <a:rPr lang="en-US" sz="1200" dirty="0">
                <a:solidFill>
                  <a:srgbClr val="B8C0CA"/>
                </a:solidFill>
                <a:latin typeface="Calibri" pitchFamily="34" charset="0"/>
                <a:ea typeface="Calibri" pitchFamily="34" charset="-122"/>
                <a:cs typeface="Calibri" pitchFamily="34" charset="-120"/>
              </a:rPr>
              <a:t>Tencent Cloud “AI CAN DO IT” Hackathon Singapore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Disputes are slow, inconsistent and costly</a:t>
            </a:r>
            <a:endParaRPr lang="en-US" sz="3000" dirty="0"/>
          </a:p>
        </p:txBody>
      </p:sp>
      <p:sp>
        <p:nvSpPr>
          <p:cNvPr id="3" name="Text 1"/>
          <p:cNvSpPr txBox="1"/>
          <p:nvPr/>
        </p:nvSpPr>
        <p:spPr>
          <a:xfrm>
            <a:off x="457200" y="1188720"/>
            <a:ext cx="3840480" cy="256032"/>
          </a:xfrm>
          <a:prstGeom prst="rect">
            <a:avLst/>
          </a:prstGeom>
          <a:noFill/>
          <a:ln/>
        </p:spPr>
        <p:txBody>
          <a:bodyPr wrap="square" lIns="0" tIns="0" rIns="0" bIns="0" rtlCol="0" anchor="t"/>
          <a:lstStyle/>
          <a:p>
            <a:pPr indent="0" marL="0">
              <a:buNone/>
            </a:pPr>
            <a:r>
              <a:rPr lang="en-US" sz="1100" b="1" spc="100" kern="0" dirty="0">
                <a:solidFill>
                  <a:srgbClr val="E93864"/>
                </a:solidFill>
                <a:latin typeface="Calibri" pitchFamily="34" charset="0"/>
                <a:ea typeface="Calibri" pitchFamily="34" charset="-122"/>
                <a:cs typeface="Calibri" pitchFamily="34" charset="-120"/>
              </a:rPr>
              <a:t>VERIFIED  ·  RYDE 1H 2026 RESULTS</a:t>
            </a:r>
            <a:endParaRPr lang="en-US" sz="1100" dirty="0"/>
          </a:p>
        </p:txBody>
      </p:sp>
      <p:sp>
        <p:nvSpPr>
          <p:cNvPr id="4" name="Text 2"/>
          <p:cNvSpPr txBox="1"/>
          <p:nvPr/>
        </p:nvSpPr>
        <p:spPr>
          <a:xfrm>
            <a:off x="457200" y="1481328"/>
            <a:ext cx="3840480" cy="548640"/>
          </a:xfrm>
          <a:prstGeom prst="rect">
            <a:avLst/>
          </a:prstGeom>
          <a:noFill/>
          <a:ln/>
        </p:spPr>
        <p:txBody>
          <a:bodyPr wrap="square" lIns="0" tIns="0" rIns="0" bIns="0" rtlCol="0" anchor="ctr"/>
          <a:lstStyle/>
          <a:p>
            <a:pPr indent="0" marL="0">
              <a:buNone/>
            </a:pPr>
            <a:r>
              <a:rPr lang="en-US" sz="4000" b="1" dirty="0">
                <a:solidFill>
                  <a:srgbClr val="31373E"/>
                </a:solidFill>
                <a:latin typeface="Calibri" pitchFamily="34" charset="0"/>
                <a:ea typeface="Calibri" pitchFamily="34" charset="-122"/>
                <a:cs typeface="Calibri" pitchFamily="34" charset="-120"/>
              </a:rPr>
              <a:t>S$6.7M</a:t>
            </a:r>
            <a:endParaRPr lang="en-US" sz="4000" dirty="0"/>
          </a:p>
        </p:txBody>
      </p:sp>
      <p:sp>
        <p:nvSpPr>
          <p:cNvPr id="5" name="Text 3"/>
          <p:cNvSpPr txBox="1"/>
          <p:nvPr/>
        </p:nvSpPr>
        <p:spPr>
          <a:xfrm>
            <a:off x="457200" y="2048256"/>
            <a:ext cx="3840480" cy="457200"/>
          </a:xfrm>
          <a:prstGeom prst="rect">
            <a:avLst/>
          </a:prstGeom>
          <a:noFill/>
          <a:ln/>
        </p:spPr>
        <p:txBody>
          <a:bodyPr wrap="square" lIns="0" tIns="0" rIns="0" bIns="0" rtlCol="0" anchor="t"/>
          <a:lstStyle/>
          <a:p>
            <a:pPr indent="0" marL="0">
              <a:buNone/>
            </a:pPr>
            <a:r>
              <a:rPr lang="en-US" sz="1400" dirty="0">
                <a:solidFill>
                  <a:srgbClr val="5A6470"/>
                </a:solidFill>
                <a:latin typeface="Calibri" pitchFamily="34" charset="0"/>
                <a:ea typeface="Calibri" pitchFamily="34" charset="-122"/>
                <a:cs typeface="Calibri" pitchFamily="34" charset="-120"/>
              </a:rPr>
              <a:t>revenue in six months, up 17%</a:t>
            </a:r>
            <a:endParaRPr lang="en-US" sz="1400" dirty="0"/>
          </a:p>
        </p:txBody>
      </p:sp>
      <p:sp>
        <p:nvSpPr>
          <p:cNvPr id="6" name="Text 4"/>
          <p:cNvSpPr txBox="1"/>
          <p:nvPr/>
        </p:nvSpPr>
        <p:spPr>
          <a:xfrm>
            <a:off x="457200" y="2542032"/>
            <a:ext cx="3840480" cy="548640"/>
          </a:xfrm>
          <a:prstGeom prst="rect">
            <a:avLst/>
          </a:prstGeom>
          <a:noFill/>
          <a:ln/>
        </p:spPr>
        <p:txBody>
          <a:bodyPr wrap="square" lIns="0" tIns="0" rIns="0" bIns="0" rtlCol="0" anchor="ctr"/>
          <a:lstStyle/>
          <a:p>
            <a:pPr indent="0" marL="0">
              <a:buNone/>
            </a:pPr>
            <a:r>
              <a:rPr lang="en-US" sz="4000" b="1" dirty="0">
                <a:solidFill>
                  <a:srgbClr val="31373E"/>
                </a:solidFill>
                <a:latin typeface="Calibri" pitchFamily="34" charset="0"/>
                <a:ea typeface="Calibri" pitchFamily="34" charset="-122"/>
                <a:cs typeface="Calibri" pitchFamily="34" charset="-120"/>
              </a:rPr>
              <a:t>S$2.2M</a:t>
            </a:r>
            <a:endParaRPr lang="en-US" sz="4000" dirty="0"/>
          </a:p>
        </p:txBody>
      </p:sp>
      <p:sp>
        <p:nvSpPr>
          <p:cNvPr id="7" name="Text 5"/>
          <p:cNvSpPr txBox="1"/>
          <p:nvPr/>
        </p:nvSpPr>
        <p:spPr>
          <a:xfrm>
            <a:off x="457200" y="3108960"/>
            <a:ext cx="3840480" cy="457200"/>
          </a:xfrm>
          <a:prstGeom prst="rect">
            <a:avLst/>
          </a:prstGeom>
          <a:noFill/>
          <a:ln/>
        </p:spPr>
        <p:txBody>
          <a:bodyPr wrap="square" lIns="0" tIns="0" rIns="0" bIns="0" rtlCol="0" anchor="t"/>
          <a:lstStyle/>
          <a:p>
            <a:pPr indent="0" marL="0">
              <a:buNone/>
            </a:pPr>
            <a:r>
              <a:rPr lang="en-US" sz="1400" dirty="0">
                <a:solidFill>
                  <a:srgbClr val="5A6470"/>
                </a:solidFill>
                <a:latin typeface="Calibri" pitchFamily="34" charset="0"/>
                <a:ea typeface="Calibri" pitchFamily="34" charset="-122"/>
                <a:cs typeface="Calibri" pitchFamily="34" charset="-120"/>
              </a:rPr>
              <a:t>operating loss: every cost line matters</a:t>
            </a:r>
            <a:endParaRPr lang="en-US" sz="1400" dirty="0"/>
          </a:p>
        </p:txBody>
      </p:sp>
      <p:sp>
        <p:nvSpPr>
          <p:cNvPr id="8" name="Text 6"/>
          <p:cNvSpPr txBox="1"/>
          <p:nvPr/>
        </p:nvSpPr>
        <p:spPr>
          <a:xfrm>
            <a:off x="4846320" y="1188720"/>
            <a:ext cx="3840480" cy="256032"/>
          </a:xfrm>
          <a:prstGeom prst="rect">
            <a:avLst/>
          </a:prstGeom>
          <a:noFill/>
          <a:ln/>
        </p:spPr>
        <p:txBody>
          <a:bodyPr wrap="square" lIns="0" tIns="0" rIns="0" bIns="0" rtlCol="0" anchor="t"/>
          <a:lstStyle/>
          <a:p>
            <a:pPr indent="0" marL="0">
              <a:buNone/>
            </a:pPr>
            <a:r>
              <a:rPr lang="en-US" sz="1100" b="1" spc="100" kern="0" dirty="0">
                <a:solidFill>
                  <a:srgbClr val="E93864"/>
                </a:solidFill>
                <a:latin typeface="Calibri" pitchFamily="34" charset="0"/>
                <a:ea typeface="Calibri" pitchFamily="34" charset="-122"/>
                <a:cs typeface="Calibri" pitchFamily="34" charset="-120"/>
              </a:rPr>
              <a:t>ASSUMPTION  ·  OUR ESTIMATE</a:t>
            </a:r>
            <a:endParaRPr lang="en-US" sz="1100" dirty="0"/>
          </a:p>
        </p:txBody>
      </p:sp>
      <p:sp>
        <p:nvSpPr>
          <p:cNvPr id="9" name="Text 7"/>
          <p:cNvSpPr txBox="1"/>
          <p:nvPr/>
        </p:nvSpPr>
        <p:spPr>
          <a:xfrm>
            <a:off x="4846320" y="1481328"/>
            <a:ext cx="3840480" cy="548640"/>
          </a:xfrm>
          <a:prstGeom prst="rect">
            <a:avLst/>
          </a:prstGeom>
          <a:noFill/>
          <a:ln/>
        </p:spPr>
        <p:txBody>
          <a:bodyPr wrap="square" lIns="0" tIns="0" rIns="0" bIns="0" rtlCol="0" anchor="ctr"/>
          <a:lstStyle/>
          <a:p>
            <a:pPr indent="0" marL="0">
              <a:buNone/>
            </a:pPr>
            <a:r>
              <a:rPr lang="en-US" sz="4000" b="1" dirty="0">
                <a:solidFill>
                  <a:srgbClr val="E93864"/>
                </a:solidFill>
                <a:latin typeface="Calibri" pitchFamily="34" charset="0"/>
                <a:ea typeface="Calibri" pitchFamily="34" charset="-122"/>
                <a:cs typeface="Calibri" pitchFamily="34" charset="-120"/>
              </a:rPr>
              <a:t>~1,300</a:t>
            </a:r>
            <a:endParaRPr lang="en-US" sz="4000" dirty="0"/>
          </a:p>
        </p:txBody>
      </p:sp>
      <p:sp>
        <p:nvSpPr>
          <p:cNvPr id="10" name="Text 8"/>
          <p:cNvSpPr txBox="1"/>
          <p:nvPr/>
        </p:nvSpPr>
        <p:spPr>
          <a:xfrm>
            <a:off x="4846320" y="2048256"/>
            <a:ext cx="3840480" cy="457200"/>
          </a:xfrm>
          <a:prstGeom prst="rect">
            <a:avLst/>
          </a:prstGeom>
          <a:noFill/>
          <a:ln/>
        </p:spPr>
        <p:txBody>
          <a:bodyPr wrap="square" lIns="0" tIns="0" rIns="0" bIns="0" rtlCol="0" anchor="t"/>
          <a:lstStyle/>
          <a:p>
            <a:pPr indent="0" marL="0">
              <a:buNone/>
            </a:pPr>
            <a:r>
              <a:rPr lang="en-US" sz="1400" dirty="0">
                <a:solidFill>
                  <a:srgbClr val="5A6470"/>
                </a:solidFill>
                <a:latin typeface="Calibri" pitchFamily="34" charset="0"/>
                <a:ea typeface="Calibri" pitchFamily="34" charset="-122"/>
                <a:cs typeface="Calibri" pitchFamily="34" charset="-120"/>
              </a:rPr>
              <a:t>route-deviation and no-show disputes a month</a:t>
            </a:r>
            <a:endParaRPr lang="en-US" sz="1400" dirty="0"/>
          </a:p>
        </p:txBody>
      </p:sp>
      <p:sp>
        <p:nvSpPr>
          <p:cNvPr id="11" name="Text 9"/>
          <p:cNvSpPr txBox="1"/>
          <p:nvPr/>
        </p:nvSpPr>
        <p:spPr>
          <a:xfrm>
            <a:off x="4846320" y="2542032"/>
            <a:ext cx="3840480" cy="548640"/>
          </a:xfrm>
          <a:prstGeom prst="rect">
            <a:avLst/>
          </a:prstGeom>
          <a:noFill/>
          <a:ln/>
        </p:spPr>
        <p:txBody>
          <a:bodyPr wrap="square" lIns="0" tIns="0" rIns="0" bIns="0" rtlCol="0" anchor="ctr"/>
          <a:lstStyle/>
          <a:p>
            <a:pPr indent="0" marL="0">
              <a:buNone/>
            </a:pPr>
            <a:r>
              <a:rPr lang="en-US" sz="4000" b="1" dirty="0">
                <a:solidFill>
                  <a:srgbClr val="E93864"/>
                </a:solidFill>
                <a:latin typeface="Calibri" pitchFamily="34" charset="0"/>
                <a:ea typeface="Calibri" pitchFamily="34" charset="-122"/>
                <a:cs typeface="Calibri" pitchFamily="34" charset="-120"/>
              </a:rPr>
              <a:t>~S$120k</a:t>
            </a:r>
            <a:endParaRPr lang="en-US" sz="4000" dirty="0"/>
          </a:p>
        </p:txBody>
      </p:sp>
      <p:sp>
        <p:nvSpPr>
          <p:cNvPr id="12" name="Text 10"/>
          <p:cNvSpPr txBox="1"/>
          <p:nvPr/>
        </p:nvSpPr>
        <p:spPr>
          <a:xfrm>
            <a:off x="4846320" y="3108960"/>
            <a:ext cx="3840480" cy="457200"/>
          </a:xfrm>
          <a:prstGeom prst="rect">
            <a:avLst/>
          </a:prstGeom>
          <a:noFill/>
          <a:ln/>
        </p:spPr>
        <p:txBody>
          <a:bodyPr wrap="square" lIns="0" tIns="0" rIns="0" bIns="0" rtlCol="0" anchor="t"/>
          <a:lstStyle/>
          <a:p>
            <a:pPr indent="0" marL="0">
              <a:buNone/>
            </a:pPr>
            <a:r>
              <a:rPr lang="en-US" sz="1400" dirty="0">
                <a:solidFill>
                  <a:srgbClr val="5A6470"/>
                </a:solidFill>
                <a:latin typeface="Calibri" pitchFamily="34" charset="0"/>
                <a:ea typeface="Calibri" pitchFamily="34" charset="-122"/>
                <a:cs typeface="Calibri" pitchFamily="34" charset="-120"/>
              </a:rPr>
              <a:t>a year of support time, about 2 full-time people</a:t>
            </a:r>
            <a:endParaRPr lang="en-US" sz="1400" dirty="0"/>
          </a:p>
        </p:txBody>
      </p:sp>
      <p:sp>
        <p:nvSpPr>
          <p:cNvPr id="13" name="challenge strip"/>
          <p:cNvSpPr/>
          <p:nvPr/>
        </p:nvSpPr>
        <p:spPr>
          <a:xfrm>
            <a:off x="457200" y="3794760"/>
            <a:ext cx="8229600" cy="685800"/>
          </a:xfrm>
          <a:prstGeom prst="roundRect">
            <a:avLst>
              <a:gd name="adj" fmla="val 10667"/>
            </a:avLst>
          </a:prstGeom>
          <a:solidFill>
            <a:srgbClr val="F7DDE3"/>
          </a:solidFill>
          <a:ln w="12700">
            <a:solidFill>
              <a:srgbClr val="F7DDE3"/>
            </a:solidFill>
            <a:prstDash val="solid"/>
          </a:ln>
        </p:spPr>
      </p:sp>
      <p:sp>
        <p:nvSpPr>
          <p:cNvPr id="14" name="Text 12"/>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400" dirty="0">
                <a:solidFill>
                  <a:srgbClr val="31373E"/>
                </a:solidFill>
                <a:latin typeface="Calibri" pitchFamily="34" charset="0"/>
                <a:ea typeface="Calibri" pitchFamily="34" charset="-122"/>
                <a:cs typeface="Calibri" pitchFamily="34" charset="-120"/>
              </a:rPr>
              <a:t>The bigger cost is felt by riders and drivers: 24–72 hours to resolve, and different agents give different answers to similar cases.</a:t>
            </a:r>
            <a:endParaRPr lang="en-US" sz="1400" dirty="0"/>
          </a:p>
        </p:txBody>
      </p:sp>
      <p:sp>
        <p:nvSpPr>
          <p:cNvPr id="15" name="Text 13"/>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rgbClr val="5A6470"/>
                </a:solidFill>
                <a:latin typeface="Calibri" pitchFamily="34" charset="0"/>
                <a:ea typeface="Calibri" pitchFamily="34" charset="-122"/>
                <a:cs typeface="Calibri" pitchFamily="34" charset="-120"/>
              </a:rPr>
              <a:t>Verified: Ryde 1H 2026 results, 8 Oct 2026, unaudited. Ryde publishes no trip or dispute data. Assumed: 15% take rate, S$15 fare, 1% dispute rate, 40% in scope, S$7.50 a dispute.</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Agents argue, a Judge rules, code guards the money</a:t>
            </a:r>
            <a:endParaRPr lang="en-US" sz="3000" dirty="0"/>
          </a:p>
        </p:txBody>
      </p:sp>
      <p:sp>
        <p:nvSpPr>
          <p:cNvPr id="3" name="flow Evidence Pack"/>
          <p:cNvSpPr/>
          <p:nvPr/>
        </p:nvSpPr>
        <p:spPr>
          <a:xfrm>
            <a:off x="457200" y="1280160"/>
            <a:ext cx="1417320" cy="914400"/>
          </a:xfrm>
          <a:prstGeom prst="roundRect">
            <a:avLst>
              <a:gd name="adj" fmla="val 8000"/>
            </a:avLst>
          </a:prstGeom>
          <a:solidFill>
            <a:srgbClr val="F7DDE3"/>
          </a:solidFill>
          <a:ln w="12700">
            <a:solidFill>
              <a:srgbClr val="F7DDE3"/>
            </a:solidFill>
            <a:prstDash val="solid"/>
          </a:ln>
        </p:spPr>
      </p:sp>
      <p:sp>
        <p:nvSpPr>
          <p:cNvPr id="4" name="Text 2"/>
          <p:cNvSpPr txBox="1"/>
          <p:nvPr/>
        </p:nvSpPr>
        <p:spPr>
          <a:xfrm>
            <a:off x="530352" y="1280160"/>
            <a:ext cx="1271016" cy="914400"/>
          </a:xfrm>
          <a:prstGeom prst="rect">
            <a:avLst/>
          </a:prstGeom>
          <a:noFill/>
          <a:ln/>
        </p:spPr>
        <p:txBody>
          <a:bodyPr wrap="square" lIns="0" tIns="0" rIns="0" bIns="0" rtlCol="0" anchor="ctr"/>
          <a:lstStyle/>
          <a:p>
            <a:pPr algn="ctr" indent="0" marL="0">
              <a:buNone/>
            </a:pPr>
            <a:r>
              <a:rPr lang="en-US" sz="1400" b="1" dirty="0">
                <a:solidFill>
                  <a:srgbClr val="31373E"/>
                </a:solidFill>
                <a:latin typeface="Calibri" pitchFamily="34" charset="0"/>
                <a:ea typeface="Calibri" pitchFamily="34" charset="-122"/>
                <a:cs typeface="Calibri" pitchFamily="34" charset="-120"/>
              </a:rPr>
              <a:t>Evidence Pack</a:t>
            </a:r>
            <a:endParaRPr lang="en-US" sz="1400" dirty="0"/>
          </a:p>
          <a:p>
            <a:pPr algn="ctr" indent="0" marL="0">
              <a:buNone/>
            </a:pPr>
            <a:r>
              <a:rPr lang="en-US" sz="1100" dirty="0">
                <a:solidFill>
                  <a:srgbClr val="5A6470"/>
                </a:solidFill>
                <a:latin typeface="Calibri" pitchFamily="34" charset="0"/>
                <a:ea typeface="Calibri" pitchFamily="34" charset="-122"/>
                <a:cs typeface="Calibri" pitchFamily="34" charset="-120"/>
              </a:rPr>
              <a:t>computed in Python</a:t>
            </a:r>
            <a:endParaRPr lang="en-US" sz="1400" dirty="0"/>
          </a:p>
        </p:txBody>
      </p:sp>
      <p:sp>
        <p:nvSpPr>
          <p:cNvPr id="5" name="Shape 3"/>
          <p:cNvSpPr/>
          <p:nvPr/>
        </p:nvSpPr>
        <p:spPr>
          <a:xfrm>
            <a:off x="1901952" y="1737360"/>
            <a:ext cx="219456" cy="0"/>
          </a:xfrm>
          <a:prstGeom prst="line">
            <a:avLst/>
          </a:prstGeom>
          <a:noFill/>
          <a:ln w="19050">
            <a:solidFill>
              <a:srgbClr val="5A6470"/>
            </a:solidFill>
            <a:prstDash val="solid"/>
            <a:tailEnd type="triangle"/>
          </a:ln>
        </p:spPr>
      </p:sp>
      <p:sp>
        <p:nvSpPr>
          <p:cNvPr id="6" name="flow Rider Advocate"/>
          <p:cNvSpPr/>
          <p:nvPr/>
        </p:nvSpPr>
        <p:spPr>
          <a:xfrm>
            <a:off x="2148840" y="1280160"/>
            <a:ext cx="1417320" cy="914400"/>
          </a:xfrm>
          <a:prstGeom prst="roundRect">
            <a:avLst>
              <a:gd name="adj" fmla="val 8000"/>
            </a:avLst>
          </a:prstGeom>
          <a:solidFill>
            <a:srgbClr val="31373E"/>
          </a:solidFill>
          <a:ln w="12700">
            <a:solidFill>
              <a:srgbClr val="31373E"/>
            </a:solidFill>
            <a:prstDash val="solid"/>
          </a:ln>
        </p:spPr>
      </p:sp>
      <p:sp>
        <p:nvSpPr>
          <p:cNvPr id="7" name="Text 5"/>
          <p:cNvSpPr txBox="1"/>
          <p:nvPr/>
        </p:nvSpPr>
        <p:spPr>
          <a:xfrm>
            <a:off x="2221992" y="1280160"/>
            <a:ext cx="1271016"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Rider Advocate</a:t>
            </a:r>
            <a:endParaRPr lang="en-US" sz="1400" dirty="0"/>
          </a:p>
          <a:p>
            <a:pPr algn="ctr" indent="0" marL="0">
              <a:buNone/>
            </a:pPr>
            <a:r>
              <a:rPr lang="en-US" sz="1100" dirty="0">
                <a:solidFill>
                  <a:srgbClr val="F3D3DB"/>
                </a:solidFill>
                <a:latin typeface="Calibri" pitchFamily="34" charset="0"/>
                <a:ea typeface="Calibri" pitchFamily="34" charset="-122"/>
                <a:cs typeface="Calibri" pitchFamily="34" charset="-120"/>
              </a:rPr>
              <a:t>argues the rider</a:t>
            </a:r>
            <a:endParaRPr lang="en-US" sz="1400" dirty="0"/>
          </a:p>
        </p:txBody>
      </p:sp>
      <p:sp>
        <p:nvSpPr>
          <p:cNvPr id="8" name="Shape 6"/>
          <p:cNvSpPr/>
          <p:nvPr/>
        </p:nvSpPr>
        <p:spPr>
          <a:xfrm>
            <a:off x="3593592" y="1737360"/>
            <a:ext cx="219456" cy="0"/>
          </a:xfrm>
          <a:prstGeom prst="line">
            <a:avLst/>
          </a:prstGeom>
          <a:noFill/>
          <a:ln w="19050">
            <a:solidFill>
              <a:srgbClr val="5A6470"/>
            </a:solidFill>
            <a:prstDash val="solid"/>
            <a:tailEnd type="triangle"/>
          </a:ln>
        </p:spPr>
      </p:sp>
      <p:sp>
        <p:nvSpPr>
          <p:cNvPr id="9" name="flow Driver Advocate"/>
          <p:cNvSpPr/>
          <p:nvPr/>
        </p:nvSpPr>
        <p:spPr>
          <a:xfrm>
            <a:off x="3840480" y="1280160"/>
            <a:ext cx="1417320" cy="914400"/>
          </a:xfrm>
          <a:prstGeom prst="roundRect">
            <a:avLst>
              <a:gd name="adj" fmla="val 8000"/>
            </a:avLst>
          </a:prstGeom>
          <a:solidFill>
            <a:srgbClr val="31373E"/>
          </a:solidFill>
          <a:ln w="12700">
            <a:solidFill>
              <a:srgbClr val="31373E"/>
            </a:solidFill>
            <a:prstDash val="solid"/>
          </a:ln>
        </p:spPr>
      </p:sp>
      <p:sp>
        <p:nvSpPr>
          <p:cNvPr id="10" name="Text 8"/>
          <p:cNvSpPr txBox="1"/>
          <p:nvPr/>
        </p:nvSpPr>
        <p:spPr>
          <a:xfrm>
            <a:off x="3913632" y="1280160"/>
            <a:ext cx="1271016"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Driver Advocate</a:t>
            </a:r>
            <a:endParaRPr lang="en-US" sz="1400" dirty="0"/>
          </a:p>
          <a:p>
            <a:pPr algn="ctr" indent="0" marL="0">
              <a:buNone/>
            </a:pPr>
            <a:r>
              <a:rPr lang="en-US" sz="1100" dirty="0">
                <a:solidFill>
                  <a:srgbClr val="F3D3DB"/>
                </a:solidFill>
                <a:latin typeface="Calibri" pitchFamily="34" charset="0"/>
                <a:ea typeface="Calibri" pitchFamily="34" charset="-122"/>
                <a:cs typeface="Calibri" pitchFamily="34" charset="-120"/>
              </a:rPr>
              <a:t>argues the driver</a:t>
            </a:r>
            <a:endParaRPr lang="en-US" sz="1400" dirty="0"/>
          </a:p>
        </p:txBody>
      </p:sp>
      <p:sp>
        <p:nvSpPr>
          <p:cNvPr id="11" name="Shape 9"/>
          <p:cNvSpPr/>
          <p:nvPr/>
        </p:nvSpPr>
        <p:spPr>
          <a:xfrm>
            <a:off x="5285232" y="1737360"/>
            <a:ext cx="219456" cy="0"/>
          </a:xfrm>
          <a:prstGeom prst="line">
            <a:avLst/>
          </a:prstGeom>
          <a:noFill/>
          <a:ln w="19050">
            <a:solidFill>
              <a:srgbClr val="5A6470"/>
            </a:solidFill>
            <a:prstDash val="solid"/>
            <a:tailEnd type="triangle"/>
          </a:ln>
        </p:spPr>
      </p:sp>
      <p:sp>
        <p:nvSpPr>
          <p:cNvPr id="12" name="flow Judge"/>
          <p:cNvSpPr/>
          <p:nvPr/>
        </p:nvSpPr>
        <p:spPr>
          <a:xfrm>
            <a:off x="5532120" y="1280160"/>
            <a:ext cx="1417320" cy="914400"/>
          </a:xfrm>
          <a:prstGeom prst="roundRect">
            <a:avLst>
              <a:gd name="adj" fmla="val 8000"/>
            </a:avLst>
          </a:prstGeom>
          <a:solidFill>
            <a:srgbClr val="31373E"/>
          </a:solidFill>
          <a:ln w="12700">
            <a:solidFill>
              <a:srgbClr val="31373E"/>
            </a:solidFill>
            <a:prstDash val="solid"/>
          </a:ln>
        </p:spPr>
      </p:sp>
      <p:sp>
        <p:nvSpPr>
          <p:cNvPr id="13" name="Text 11"/>
          <p:cNvSpPr txBox="1"/>
          <p:nvPr/>
        </p:nvSpPr>
        <p:spPr>
          <a:xfrm>
            <a:off x="5605272" y="1280160"/>
            <a:ext cx="1271016"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Judge</a:t>
            </a:r>
            <a:endParaRPr lang="en-US" sz="1400" dirty="0"/>
          </a:p>
          <a:p>
            <a:pPr algn="ctr" indent="0" marL="0">
              <a:buNone/>
            </a:pPr>
            <a:r>
              <a:rPr lang="en-US" sz="1100" dirty="0">
                <a:solidFill>
                  <a:srgbClr val="F3D3DB"/>
                </a:solidFill>
                <a:latin typeface="Calibri" pitchFamily="34" charset="0"/>
                <a:ea typeface="Calibri" pitchFamily="34" charset="-122"/>
                <a:cs typeface="Calibri" pitchFamily="34" charset="-120"/>
              </a:rPr>
              <a:t>rules + confidence</a:t>
            </a:r>
            <a:endParaRPr lang="en-US" sz="1400" dirty="0"/>
          </a:p>
        </p:txBody>
      </p:sp>
      <p:sp>
        <p:nvSpPr>
          <p:cNvPr id="14" name="Shape 12"/>
          <p:cNvSpPr/>
          <p:nvPr/>
        </p:nvSpPr>
        <p:spPr>
          <a:xfrm>
            <a:off x="6976872" y="1737360"/>
            <a:ext cx="219456" cy="0"/>
          </a:xfrm>
          <a:prstGeom prst="line">
            <a:avLst/>
          </a:prstGeom>
          <a:noFill/>
          <a:ln w="19050">
            <a:solidFill>
              <a:srgbClr val="5A6470"/>
            </a:solidFill>
            <a:prstDash val="solid"/>
            <a:tailEnd type="triangle"/>
          </a:ln>
        </p:spPr>
      </p:sp>
      <p:sp>
        <p:nvSpPr>
          <p:cNvPr id="15" name="flow Gates in code"/>
          <p:cNvSpPr/>
          <p:nvPr/>
        </p:nvSpPr>
        <p:spPr>
          <a:xfrm>
            <a:off x="7223760" y="1280160"/>
            <a:ext cx="1417320" cy="914400"/>
          </a:xfrm>
          <a:prstGeom prst="roundRect">
            <a:avLst>
              <a:gd name="adj" fmla="val 8000"/>
            </a:avLst>
          </a:prstGeom>
          <a:solidFill>
            <a:srgbClr val="E93864"/>
          </a:solidFill>
          <a:ln w="12700">
            <a:solidFill>
              <a:srgbClr val="E93864"/>
            </a:solidFill>
            <a:prstDash val="solid"/>
          </a:ln>
        </p:spPr>
      </p:sp>
      <p:sp>
        <p:nvSpPr>
          <p:cNvPr id="16" name="Text 14"/>
          <p:cNvSpPr txBox="1"/>
          <p:nvPr/>
        </p:nvSpPr>
        <p:spPr>
          <a:xfrm>
            <a:off x="7296912" y="1280160"/>
            <a:ext cx="1271016"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Gates in code</a:t>
            </a:r>
            <a:endParaRPr lang="en-US" sz="1400" dirty="0"/>
          </a:p>
          <a:p>
            <a:pPr algn="ctr" indent="0" marL="0">
              <a:buNone/>
            </a:pPr>
            <a:r>
              <a:rPr lang="en-US" sz="1100" dirty="0">
                <a:solidFill>
                  <a:srgbClr val="F3D3DB"/>
                </a:solidFill>
                <a:latin typeface="Calibri" pitchFamily="34" charset="0"/>
                <a:ea typeface="Calibri" pitchFamily="34" charset="-122"/>
                <a:cs typeface="Calibri" pitchFamily="34" charset="-120"/>
              </a:rPr>
              <a:t>cap, confidence, NS/RD</a:t>
            </a:r>
            <a:endParaRPr lang="en-US" sz="1400" dirty="0"/>
          </a:p>
        </p:txBody>
      </p:sp>
      <p:sp>
        <p:nvSpPr>
          <p:cNvPr id="17" name="Text 15"/>
          <p:cNvSpPr txBox="1"/>
          <p:nvPr/>
        </p:nvSpPr>
        <p:spPr>
          <a:xfrm>
            <a:off x="457200" y="2331720"/>
            <a:ext cx="8229600" cy="320040"/>
          </a:xfrm>
          <a:prstGeom prst="rect">
            <a:avLst/>
          </a:prstGeom>
          <a:noFill/>
          <a:ln/>
        </p:spPr>
        <p:txBody>
          <a:bodyPr wrap="square" lIns="0" tIns="0" rIns="0" bIns="0" rtlCol="0" anchor="t"/>
          <a:lstStyle/>
          <a:p>
            <a:pPr indent="0" marL="0">
              <a:buNone/>
            </a:pPr>
            <a:r>
              <a:rPr lang="en-US" sz="1200" dirty="0">
                <a:solidFill>
                  <a:srgbClr val="5A6470"/>
                </a:solidFill>
                <a:latin typeface="Calibri" pitchFamily="34" charset="0"/>
                <a:ea typeface="Calibri" pitchFamily="34" charset="-122"/>
                <a:cs typeface="Calibri" pitchFamily="34" charset="-120"/>
              </a:rPr>
              <a:t>Ruled: the party gets a plain-language decision.   Withheld: a person decides, and the party sees only “still under review”.</a:t>
            </a:r>
            <a:endParaRPr lang="en-US" sz="1200" dirty="0"/>
          </a:p>
        </p:txBody>
      </p:sp>
      <p:sp>
        <p:nvSpPr>
          <p:cNvPr id="18" name="card"/>
          <p:cNvSpPr/>
          <p:nvPr/>
        </p:nvSpPr>
        <p:spPr>
          <a:xfrm>
            <a:off x="457200" y="2834640"/>
            <a:ext cx="2560320" cy="1691640"/>
          </a:xfrm>
          <a:prstGeom prst="roundRect">
            <a:avLst>
              <a:gd name="adj" fmla="val 4324"/>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621792" y="2944368"/>
            <a:ext cx="2231136" cy="320040"/>
          </a:xfrm>
          <a:prstGeom prst="rect">
            <a:avLst/>
          </a:prstGeom>
          <a:noFill/>
          <a:ln/>
        </p:spPr>
        <p:txBody>
          <a:bodyPr wrap="square" lIns="0" tIns="0" rIns="0" bIns="0" rtlCol="0" anchor="t"/>
          <a:lstStyle/>
          <a:p>
            <a:pPr indent="0" marL="0">
              <a:buNone/>
            </a:pPr>
            <a:r>
              <a:rPr lang="en-US" sz="1600" b="1" dirty="0">
                <a:solidFill>
                  <a:srgbClr val="E93864"/>
                </a:solidFill>
                <a:latin typeface="Calibri" pitchFamily="34" charset="0"/>
                <a:ea typeface="Calibri" pitchFamily="34" charset="-122"/>
                <a:cs typeface="Calibri" pitchFamily="34" charset="-120"/>
              </a:rPr>
              <a:t>No AI arithmetic</a:t>
            </a:r>
            <a:endParaRPr lang="en-US" sz="1600" dirty="0"/>
          </a:p>
        </p:txBody>
      </p:sp>
      <p:sp>
        <p:nvSpPr>
          <p:cNvPr id="20" name="Text 18"/>
          <p:cNvSpPr txBox="1"/>
          <p:nvPr/>
        </p:nvSpPr>
        <p:spPr>
          <a:xfrm>
            <a:off x="621792" y="3310128"/>
            <a:ext cx="2231136" cy="1143000"/>
          </a:xfrm>
          <a:prstGeom prst="rect">
            <a:avLst/>
          </a:prstGeom>
          <a:noFill/>
          <a:ln/>
        </p:spPr>
        <p:txBody>
          <a:bodyPr wrap="square" lIns="0" tIns="0" rIns="0" bIns="0" rtlCol="0" anchor="t"/>
          <a:lstStyle/>
          <a:p>
            <a:pPr indent="0" marL="0">
              <a:buNone/>
            </a:pPr>
            <a:r>
              <a:rPr lang="en-US" sz="1400" dirty="0">
                <a:solidFill>
                  <a:srgbClr val="31373E"/>
                </a:solidFill>
                <a:latin typeface="Calibri" pitchFamily="34" charset="0"/>
                <a:ea typeface="Calibri" pitchFamily="34" charset="-122"/>
                <a:cs typeface="Calibri" pitchFamily="34" charset="-120"/>
              </a:rPr>
              <a:t>Every number comes from the Evidence Pack. Agents cite fields, never calculate.</a:t>
            </a:r>
            <a:endParaRPr lang="en-US" sz="1400" dirty="0"/>
          </a:p>
        </p:txBody>
      </p:sp>
      <p:sp>
        <p:nvSpPr>
          <p:cNvPr id="21" name="card"/>
          <p:cNvSpPr/>
          <p:nvPr/>
        </p:nvSpPr>
        <p:spPr>
          <a:xfrm>
            <a:off x="3291840" y="2834640"/>
            <a:ext cx="2560320" cy="1691640"/>
          </a:xfrm>
          <a:prstGeom prst="roundRect">
            <a:avLst>
              <a:gd name="adj" fmla="val 4324"/>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3456432" y="2944368"/>
            <a:ext cx="2231136" cy="320040"/>
          </a:xfrm>
          <a:prstGeom prst="rect">
            <a:avLst/>
          </a:prstGeom>
          <a:noFill/>
          <a:ln/>
        </p:spPr>
        <p:txBody>
          <a:bodyPr wrap="square" lIns="0" tIns="0" rIns="0" bIns="0" rtlCol="0" anchor="t"/>
          <a:lstStyle/>
          <a:p>
            <a:pPr indent="0" marL="0">
              <a:buNone/>
            </a:pPr>
            <a:r>
              <a:rPr lang="en-US" sz="1600" b="1" dirty="0">
                <a:solidFill>
                  <a:srgbClr val="E93864"/>
                </a:solidFill>
                <a:latin typeface="Calibri" pitchFamily="34" charset="0"/>
                <a:ea typeface="Calibri" pitchFamily="34" charset="-122"/>
                <a:cs typeface="Calibri" pitchFamily="34" charset="-120"/>
              </a:rPr>
              <a:t>Rules enforced in code</a:t>
            </a:r>
            <a:endParaRPr lang="en-US" sz="1600" dirty="0"/>
          </a:p>
        </p:txBody>
      </p:sp>
      <p:sp>
        <p:nvSpPr>
          <p:cNvPr id="23" name="Text 21"/>
          <p:cNvSpPr txBox="1"/>
          <p:nvPr/>
        </p:nvSpPr>
        <p:spPr>
          <a:xfrm>
            <a:off x="3456432" y="3310128"/>
            <a:ext cx="2231136" cy="1143000"/>
          </a:xfrm>
          <a:prstGeom prst="rect">
            <a:avLst/>
          </a:prstGeom>
          <a:noFill/>
          <a:ln/>
        </p:spPr>
        <p:txBody>
          <a:bodyPr wrap="square" lIns="0" tIns="0" rIns="0" bIns="0" rtlCol="0" anchor="t"/>
          <a:lstStyle/>
          <a:p>
            <a:pPr indent="0" marL="0">
              <a:buNone/>
            </a:pPr>
            <a:r>
              <a:rPr lang="en-US" sz="1400" dirty="0">
                <a:solidFill>
                  <a:srgbClr val="31373E"/>
                </a:solidFill>
                <a:latin typeface="Calibri" pitchFamily="34" charset="0"/>
                <a:ea typeface="Calibri" pitchFamily="34" charset="-122"/>
                <a:cs typeface="Calibri" pitchFamily="34" charset="-120"/>
              </a:rPr>
              <a:t>SGD 50 cap, 0.65 confidence floor and four money gates. A prompt is a request, code is a guarantee.</a:t>
            </a:r>
            <a:endParaRPr lang="en-US" sz="1400" dirty="0"/>
          </a:p>
        </p:txBody>
      </p:sp>
      <p:sp>
        <p:nvSpPr>
          <p:cNvPr id="24" name="card"/>
          <p:cNvSpPr/>
          <p:nvPr/>
        </p:nvSpPr>
        <p:spPr>
          <a:xfrm>
            <a:off x="6126480" y="2834640"/>
            <a:ext cx="2560320" cy="1691640"/>
          </a:xfrm>
          <a:prstGeom prst="roundRect">
            <a:avLst>
              <a:gd name="adj" fmla="val 4324"/>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291072" y="2944368"/>
            <a:ext cx="2231136" cy="320040"/>
          </a:xfrm>
          <a:prstGeom prst="rect">
            <a:avLst/>
          </a:prstGeom>
          <a:noFill/>
          <a:ln/>
        </p:spPr>
        <p:txBody>
          <a:bodyPr wrap="square" lIns="0" tIns="0" rIns="0" bIns="0" rtlCol="0" anchor="t"/>
          <a:lstStyle/>
          <a:p>
            <a:pPr indent="0" marL="0">
              <a:buNone/>
            </a:pPr>
            <a:r>
              <a:rPr lang="en-US" sz="1600" b="1" dirty="0">
                <a:solidFill>
                  <a:srgbClr val="E93864"/>
                </a:solidFill>
                <a:latin typeface="Calibri" pitchFamily="34" charset="0"/>
                <a:ea typeface="Calibri" pitchFamily="34" charset="-122"/>
                <a:cs typeface="Calibri" pitchFamily="34" charset="-120"/>
              </a:rPr>
              <a:t>Every step observable</a:t>
            </a:r>
            <a:endParaRPr lang="en-US" sz="1600" dirty="0"/>
          </a:p>
        </p:txBody>
      </p:sp>
      <p:sp>
        <p:nvSpPr>
          <p:cNvPr id="26" name="Text 24"/>
          <p:cNvSpPr txBox="1"/>
          <p:nvPr/>
        </p:nvSpPr>
        <p:spPr>
          <a:xfrm>
            <a:off x="6291072" y="3310128"/>
            <a:ext cx="2231136" cy="1143000"/>
          </a:xfrm>
          <a:prstGeom prst="rect">
            <a:avLst/>
          </a:prstGeom>
          <a:noFill/>
          <a:ln/>
        </p:spPr>
        <p:txBody>
          <a:bodyPr wrap="square" lIns="0" tIns="0" rIns="0" bIns="0" rtlCol="0" anchor="t"/>
          <a:lstStyle/>
          <a:p>
            <a:pPr indent="0" marL="0">
              <a:buNone/>
            </a:pPr>
            <a:r>
              <a:rPr lang="en-US" sz="1400" dirty="0">
                <a:solidFill>
                  <a:srgbClr val="31373E"/>
                </a:solidFill>
                <a:latin typeface="Calibri" pitchFamily="34" charset="0"/>
                <a:ea typeface="Calibri" pitchFamily="34" charset="-122"/>
                <a:cs typeface="Calibri" pitchFamily="34" charset="-120"/>
              </a:rPr>
              <a:t>A timestamped event strip shows who sent what to whom. One click opens the full payload.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8046720" cy="320040"/>
          </a:xfrm>
          <a:prstGeom prst="rect">
            <a:avLst/>
          </a:prstGeom>
          <a:noFill/>
          <a:ln/>
        </p:spPr>
        <p:txBody>
          <a:bodyPr wrap="square" lIns="0" tIns="0" rIns="0" bIns="0" rtlCol="0" anchor="t"/>
          <a:lstStyle/>
          <a:p>
            <a:pPr indent="0" marL="0">
              <a:buNone/>
            </a:pPr>
            <a:r>
              <a:rPr lang="en-US" sz="1400" b="1" spc="200" kern="0" dirty="0">
                <a:solidFill>
                  <a:srgbClr val="E93864"/>
                </a:solidFill>
                <a:latin typeface="Calibri" pitchFamily="34" charset="0"/>
                <a:ea typeface="Calibri" pitchFamily="34" charset="-122"/>
                <a:cs typeface="Calibri" pitchFamily="34" charset="-120"/>
              </a:rPr>
              <a:t>LIVE DEMO  ·  ABOUT 2 MIN 40</a:t>
            </a:r>
            <a:endParaRPr lang="en-US" sz="1400" dirty="0"/>
          </a:p>
        </p:txBody>
      </p:sp>
      <p:sp>
        <p:nvSpPr>
          <p:cNvPr id="3" name="Text 1"/>
          <p:cNvSpPr txBox="1"/>
          <p:nvPr/>
        </p:nvSpPr>
        <p:spPr>
          <a:xfrm>
            <a:off x="548640" y="822960"/>
            <a:ext cx="804672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Demo starts here: 2:10 in the video</a:t>
            </a:r>
            <a:endParaRPr lang="en-US" sz="3200" dirty="0"/>
          </a:p>
        </p:txBody>
      </p:sp>
      <p:sp>
        <p:nvSpPr>
          <p:cNvPr id="4" name="step 1"/>
          <p:cNvSpPr/>
          <p:nvPr/>
        </p:nvSpPr>
        <p:spPr>
          <a:xfrm>
            <a:off x="548640" y="1783080"/>
            <a:ext cx="384048" cy="384048"/>
          </a:xfrm>
          <a:prstGeom prst="ellipse">
            <a:avLst/>
          </a:prstGeom>
          <a:solidFill>
            <a:srgbClr val="E93864"/>
          </a:solidFill>
          <a:ln w="12700">
            <a:solidFill>
              <a:srgbClr val="E93864"/>
            </a:solidFill>
            <a:prstDash val="solid"/>
          </a:ln>
        </p:spPr>
      </p:sp>
      <p:sp>
        <p:nvSpPr>
          <p:cNvPr id="5" name="Text 3"/>
          <p:cNvSpPr txBox="1"/>
          <p:nvPr/>
        </p:nvSpPr>
        <p:spPr>
          <a:xfrm>
            <a:off x="548640"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97280" y="1783080"/>
            <a:ext cx="292608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File it</a:t>
            </a:r>
            <a:endParaRPr lang="en-US" sz="1800" dirty="0"/>
          </a:p>
        </p:txBody>
      </p:sp>
      <p:sp>
        <p:nvSpPr>
          <p:cNvPr id="7" name="Text 5"/>
          <p:cNvSpPr txBox="1"/>
          <p:nvPr/>
        </p:nvSpPr>
        <p:spPr>
          <a:xfrm>
            <a:off x="4023360" y="1783080"/>
            <a:ext cx="4572000" cy="384048"/>
          </a:xfrm>
          <a:prstGeom prst="rect">
            <a:avLst/>
          </a:prstGeom>
          <a:noFill/>
          <a:ln/>
        </p:spPr>
        <p:txBody>
          <a:bodyPr wrap="square" lIns="0" tIns="0" rIns="0" bIns="0" rtlCol="0" anchor="ctr"/>
          <a:lstStyle/>
          <a:p>
            <a:pPr indent="0" marL="0">
              <a:buNone/>
            </a:pPr>
            <a:r>
              <a:rPr lang="en-US" sz="1600" dirty="0">
                <a:solidFill>
                  <a:srgbClr val="F7DDE3"/>
                </a:solidFill>
                <a:latin typeface="Calibri" pitchFamily="34" charset="0"/>
                <a:ea typeface="Calibri" pitchFamily="34" charset="-122"/>
                <a:cs typeface="Calibri" pitchFamily="34" charset="-120"/>
              </a:rPr>
              <a:t>Rider form → route deviation</a:t>
            </a:r>
            <a:endParaRPr lang="en-US" sz="1600" dirty="0"/>
          </a:p>
        </p:txBody>
      </p:sp>
      <p:sp>
        <p:nvSpPr>
          <p:cNvPr id="8" name="step 2"/>
          <p:cNvSpPr/>
          <p:nvPr/>
        </p:nvSpPr>
        <p:spPr>
          <a:xfrm>
            <a:off x="548640" y="2313432"/>
            <a:ext cx="384048" cy="384048"/>
          </a:xfrm>
          <a:prstGeom prst="ellipse">
            <a:avLst/>
          </a:prstGeom>
          <a:solidFill>
            <a:srgbClr val="E93864"/>
          </a:solidFill>
          <a:ln w="12700">
            <a:solidFill>
              <a:srgbClr val="E93864"/>
            </a:solidFill>
            <a:prstDash val="solid"/>
          </a:ln>
        </p:spPr>
      </p:sp>
      <p:sp>
        <p:nvSpPr>
          <p:cNvPr id="9" name="Text 7"/>
          <p:cNvSpPr txBox="1"/>
          <p:nvPr/>
        </p:nvSpPr>
        <p:spPr>
          <a:xfrm>
            <a:off x="548640" y="23134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097280" y="2313432"/>
            <a:ext cx="292608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Watch the agents</a:t>
            </a:r>
            <a:endParaRPr lang="en-US" sz="1800" dirty="0"/>
          </a:p>
        </p:txBody>
      </p:sp>
      <p:sp>
        <p:nvSpPr>
          <p:cNvPr id="11" name="Text 9"/>
          <p:cNvSpPr txBox="1"/>
          <p:nvPr/>
        </p:nvSpPr>
        <p:spPr>
          <a:xfrm>
            <a:off x="4023360" y="2313432"/>
            <a:ext cx="4572000" cy="384048"/>
          </a:xfrm>
          <a:prstGeom prst="rect">
            <a:avLst/>
          </a:prstGeom>
          <a:noFill/>
          <a:ln/>
        </p:spPr>
        <p:txBody>
          <a:bodyPr wrap="square" lIns="0" tIns="0" rIns="0" bIns="0" rtlCol="0" anchor="ctr"/>
          <a:lstStyle/>
          <a:p>
            <a:pPr indent="0" marL="0">
              <a:buNone/>
            </a:pPr>
            <a:r>
              <a:rPr lang="en-US" sz="1600" dirty="0">
                <a:solidFill>
                  <a:srgbClr val="F7DDE3"/>
                </a:solidFill>
                <a:latin typeface="Calibri" pitchFamily="34" charset="0"/>
                <a:ea typeface="Calibri" pitchFamily="34" charset="-122"/>
                <a:cs typeface="Calibri" pitchFamily="34" charset="-120"/>
              </a:rPr>
              <a:t>Case file + event strip (RD-0109)</a:t>
            </a:r>
            <a:endParaRPr lang="en-US" sz="1600" dirty="0"/>
          </a:p>
        </p:txBody>
      </p:sp>
      <p:sp>
        <p:nvSpPr>
          <p:cNvPr id="12" name="step 3"/>
          <p:cNvSpPr/>
          <p:nvPr/>
        </p:nvSpPr>
        <p:spPr>
          <a:xfrm>
            <a:off x="548640" y="2843784"/>
            <a:ext cx="384048" cy="384048"/>
          </a:xfrm>
          <a:prstGeom prst="ellipse">
            <a:avLst/>
          </a:prstGeom>
          <a:solidFill>
            <a:srgbClr val="E93864"/>
          </a:solidFill>
          <a:ln w="12700">
            <a:solidFill>
              <a:srgbClr val="E93864"/>
            </a:solidFill>
            <a:prstDash val="solid"/>
          </a:ln>
        </p:spPr>
      </p:sp>
      <p:sp>
        <p:nvSpPr>
          <p:cNvPr id="13" name="Text 11"/>
          <p:cNvSpPr txBox="1"/>
          <p:nvPr/>
        </p:nvSpPr>
        <p:spPr>
          <a:xfrm>
            <a:off x="548640" y="284378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097280" y="2843784"/>
            <a:ext cx="292608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See the gate hold</a:t>
            </a:r>
            <a:endParaRPr lang="en-US" sz="1800" dirty="0"/>
          </a:p>
        </p:txBody>
      </p:sp>
      <p:sp>
        <p:nvSpPr>
          <p:cNvPr id="15" name="Text 13"/>
          <p:cNvSpPr txBox="1"/>
          <p:nvPr/>
        </p:nvSpPr>
        <p:spPr>
          <a:xfrm>
            <a:off x="4023360" y="2843784"/>
            <a:ext cx="4572000" cy="384048"/>
          </a:xfrm>
          <a:prstGeom prst="rect">
            <a:avLst/>
          </a:prstGeom>
          <a:noFill/>
          <a:ln/>
        </p:spPr>
        <p:txBody>
          <a:bodyPr wrap="square" lIns="0" tIns="0" rIns="0" bIns="0" rtlCol="0" anchor="ctr"/>
          <a:lstStyle/>
          <a:p>
            <a:pPr indent="0" marL="0">
              <a:buNone/>
            </a:pPr>
            <a:r>
              <a:rPr lang="en-US" sz="1600" dirty="0">
                <a:solidFill>
                  <a:srgbClr val="F7DDE3"/>
                </a:solidFill>
                <a:latin typeface="Calibri" pitchFamily="34" charset="0"/>
                <a:ea typeface="Calibri" pitchFamily="34" charset="-122"/>
                <a:cs typeface="Calibri" pitchFamily="34" charset="-120"/>
              </a:rPr>
              <a:t>SGD 55 refund &gt; SGD 50 cap</a:t>
            </a:r>
            <a:endParaRPr lang="en-US" sz="1600" dirty="0"/>
          </a:p>
        </p:txBody>
      </p:sp>
      <p:sp>
        <p:nvSpPr>
          <p:cNvPr id="16" name="step 4"/>
          <p:cNvSpPr/>
          <p:nvPr/>
        </p:nvSpPr>
        <p:spPr>
          <a:xfrm>
            <a:off x="548640" y="3374136"/>
            <a:ext cx="384048" cy="384048"/>
          </a:xfrm>
          <a:prstGeom prst="ellipse">
            <a:avLst/>
          </a:prstGeom>
          <a:solidFill>
            <a:srgbClr val="E93864"/>
          </a:solidFill>
          <a:ln w="12700">
            <a:solidFill>
              <a:srgbClr val="E93864"/>
            </a:solidFill>
            <a:prstDash val="solid"/>
          </a:ln>
        </p:spPr>
      </p:sp>
      <p:sp>
        <p:nvSpPr>
          <p:cNvPr id="17" name="Text 15"/>
          <p:cNvSpPr txBox="1"/>
          <p:nvPr/>
        </p:nvSpPr>
        <p:spPr>
          <a:xfrm>
            <a:off x="548640" y="33741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097280" y="3374136"/>
            <a:ext cx="292608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Human decides</a:t>
            </a:r>
            <a:endParaRPr lang="en-US" sz="1800" dirty="0"/>
          </a:p>
        </p:txBody>
      </p:sp>
      <p:sp>
        <p:nvSpPr>
          <p:cNvPr id="19" name="Text 17"/>
          <p:cNvSpPr txBox="1"/>
          <p:nvPr/>
        </p:nvSpPr>
        <p:spPr>
          <a:xfrm>
            <a:off x="4023360" y="3374136"/>
            <a:ext cx="4572000" cy="384048"/>
          </a:xfrm>
          <a:prstGeom prst="rect">
            <a:avLst/>
          </a:prstGeom>
          <a:noFill/>
          <a:ln/>
        </p:spPr>
        <p:txBody>
          <a:bodyPr wrap="square" lIns="0" tIns="0" rIns="0" bIns="0" rtlCol="0" anchor="ctr"/>
          <a:lstStyle/>
          <a:p>
            <a:pPr indent="0" marL="0">
              <a:buNone/>
            </a:pPr>
            <a:r>
              <a:rPr lang="en-US" sz="1600" dirty="0">
                <a:solidFill>
                  <a:srgbClr val="F7DDE3"/>
                </a:solidFill>
                <a:latin typeface="Calibri" pitchFamily="34" charset="0"/>
                <a:ea typeface="Calibri" pitchFamily="34" charset="-122"/>
                <a:cs typeface="Calibri" pitchFamily="34" charset="-120"/>
              </a:rPr>
              <a:t>Approve → party status page</a:t>
            </a:r>
            <a:endParaRPr lang="en-US" sz="1600" dirty="0"/>
          </a:p>
        </p:txBody>
      </p:sp>
      <p:sp>
        <p:nvSpPr>
          <p:cNvPr id="20" name="step 5"/>
          <p:cNvSpPr/>
          <p:nvPr/>
        </p:nvSpPr>
        <p:spPr>
          <a:xfrm>
            <a:off x="548640" y="3904488"/>
            <a:ext cx="384048" cy="384048"/>
          </a:xfrm>
          <a:prstGeom prst="ellipse">
            <a:avLst/>
          </a:prstGeom>
          <a:solidFill>
            <a:srgbClr val="E93864"/>
          </a:solidFill>
          <a:ln w="12700">
            <a:solidFill>
              <a:srgbClr val="E93864"/>
            </a:solidFill>
            <a:prstDash val="solid"/>
          </a:ln>
        </p:spPr>
      </p:sp>
      <p:sp>
        <p:nvSpPr>
          <p:cNvPr id="21" name="Text 19"/>
          <p:cNvSpPr txBox="1"/>
          <p:nvPr/>
        </p:nvSpPr>
        <p:spPr>
          <a:xfrm>
            <a:off x="548640" y="39044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097280" y="3904488"/>
            <a:ext cx="292608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Clear case, no human</a:t>
            </a:r>
            <a:endParaRPr lang="en-US" sz="1800" dirty="0"/>
          </a:p>
        </p:txBody>
      </p:sp>
      <p:sp>
        <p:nvSpPr>
          <p:cNvPr id="23" name="Text 21"/>
          <p:cNvSpPr txBox="1"/>
          <p:nvPr/>
        </p:nvSpPr>
        <p:spPr>
          <a:xfrm>
            <a:off x="4023360" y="3904488"/>
            <a:ext cx="4572000" cy="384048"/>
          </a:xfrm>
          <a:prstGeom prst="rect">
            <a:avLst/>
          </a:prstGeom>
          <a:noFill/>
          <a:ln/>
        </p:spPr>
        <p:txBody>
          <a:bodyPr wrap="square" lIns="0" tIns="0" rIns="0" bIns="0" rtlCol="0" anchor="ctr"/>
          <a:lstStyle/>
          <a:p>
            <a:pPr indent="0" marL="0">
              <a:buNone/>
            </a:pPr>
            <a:r>
              <a:rPr lang="en-US" sz="1600" dirty="0">
                <a:solidFill>
                  <a:srgbClr val="F7DDE3"/>
                </a:solidFill>
                <a:latin typeface="Calibri" pitchFamily="34" charset="0"/>
                <a:ea typeface="Calibri" pitchFamily="34" charset="-122"/>
                <a:cs typeface="Calibri" pitchFamily="34" charset="-120"/>
              </a:rPr>
              <a:t>NS-0202 ruled alone: SGD 6.61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Deploy on Tencent Cloud, plug in with one webhook</a:t>
            </a:r>
            <a:endParaRPr lang="en-US" sz="3000" dirty="0"/>
          </a:p>
        </p:txBody>
      </p:sp>
      <p:pic>
        <p:nvPicPr>
          <p:cNvPr id="3" name="Image 0" descr="Architecture: Ryde app and Ryde backend send a signed webhook through EdgeOne and API Gateway to TKE workers (Evidence Pack, three agents, gates), which call the Tencent Cloud ADP Rider, Driver and Judge apps, store results in PostgreSQL and COS for the Ryde CS review console, and send a signed callback back to the Ryde backend.">    </p:cNvPr>
          <p:cNvPicPr>
            <a:picLocks noChangeAspect="1"/>
          </p:cNvPicPr>
          <p:nvPr/>
        </p:nvPicPr>
        <p:blipFill>
          <a:blip r:embed="rId1"/>
          <a:stretch>
            <a:fillRect/>
          </a:stretch>
        </p:blipFill>
        <p:spPr>
          <a:xfrm>
            <a:off x="274320" y="1143000"/>
            <a:ext cx="8595360" cy="1589703"/>
          </a:xfrm>
          <a:prstGeom prst="rect">
            <a:avLst/>
          </a:prstGeom>
        </p:spPr>
      </p:pic>
      <p:sp>
        <p:nvSpPr>
          <p:cNvPr id="4" name="Text 1"/>
          <p:cNvSpPr txBox="1"/>
          <p:nvPr/>
        </p:nvSpPr>
        <p:spPr>
          <a:xfrm>
            <a:off x="457200" y="2880360"/>
            <a:ext cx="8229600" cy="320040"/>
          </a:xfrm>
          <a:prstGeom prst="rect">
            <a:avLst/>
          </a:prstGeom>
          <a:noFill/>
          <a:ln/>
        </p:spPr>
        <p:txBody>
          <a:bodyPr wrap="square" lIns="0" tIns="0" rIns="0" bIns="0" rtlCol="0" anchor="t"/>
          <a:lstStyle/>
          <a:p>
            <a:pPr indent="0" marL="0">
              <a:buNone/>
            </a:pPr>
            <a:r>
              <a:rPr lang="en-US" sz="1400" b="1" dirty="0">
                <a:solidFill>
                  <a:srgbClr val="E93864"/>
                </a:solidFill>
                <a:latin typeface="Calibri" pitchFamily="34" charset="0"/>
                <a:ea typeface="Calibri" pitchFamily="34" charset="-122"/>
                <a:cs typeface="Calibri" pitchFamily="34" charset="-120"/>
              </a:rPr>
              <a:t>Ryde keeps the money: the service recommends, Ryde’s payments execute any refund.</a:t>
            </a:r>
            <a:endParaRPr lang="en-US" sz="1400" dirty="0"/>
          </a:p>
        </p:txBody>
      </p:sp>
      <p:sp>
        <p:nvSpPr>
          <p:cNvPr id="5" name="Text 2"/>
          <p:cNvSpPr txBox="1"/>
          <p:nvPr/>
        </p:nvSpPr>
        <p:spPr>
          <a:xfrm>
            <a:off x="457200" y="3291840"/>
            <a:ext cx="4572000" cy="256032"/>
          </a:xfrm>
          <a:prstGeom prst="rect">
            <a:avLst/>
          </a:prstGeom>
          <a:noFill/>
          <a:ln/>
        </p:spPr>
        <p:txBody>
          <a:bodyPr wrap="square" lIns="0" tIns="0" rIns="0" bIns="0" rtlCol="0" anchor="t"/>
          <a:lstStyle/>
          <a:p>
            <a:pPr indent="0" marL="0">
              <a:buNone/>
            </a:pPr>
            <a:r>
              <a:rPr lang="en-US" sz="1100" b="1" spc="100" kern="0" dirty="0">
                <a:solidFill>
                  <a:srgbClr val="E93864"/>
                </a:solidFill>
                <a:latin typeface="Calibri" pitchFamily="34" charset="0"/>
                <a:ea typeface="Calibri" pitchFamily="34" charset="-122"/>
                <a:cs typeface="Calibri" pitchFamily="34" charset="-120"/>
              </a:rPr>
              <a:t>ROLLOUT, EARNED WITH DATA</a:t>
            </a:r>
            <a:endParaRPr lang="en-US" sz="1100" dirty="0"/>
          </a:p>
        </p:txBody>
      </p:sp>
      <p:sp>
        <p:nvSpPr>
          <p:cNvPr id="6" name="phase 1"/>
          <p:cNvSpPr/>
          <p:nvPr/>
        </p:nvSpPr>
        <p:spPr>
          <a:xfrm>
            <a:off x="457200" y="3584448"/>
            <a:ext cx="1920240" cy="914400"/>
          </a:xfrm>
          <a:prstGeom prst="roundRect">
            <a:avLst>
              <a:gd name="adj" fmla="val 8000"/>
            </a:avLst>
          </a:prstGeom>
          <a:solidFill>
            <a:srgbClr val="F7DDE3"/>
          </a:solidFill>
          <a:ln w="12700">
            <a:solidFill>
              <a:srgbClr val="F7DDE3"/>
            </a:solidFill>
            <a:prstDash val="solid"/>
          </a:ln>
        </p:spPr>
      </p:sp>
      <p:sp>
        <p:nvSpPr>
          <p:cNvPr id="7" name="Text 4"/>
          <p:cNvSpPr txBox="1"/>
          <p:nvPr/>
        </p:nvSpPr>
        <p:spPr>
          <a:xfrm>
            <a:off x="585216" y="3657600"/>
            <a:ext cx="1664208" cy="292608"/>
          </a:xfrm>
          <a:prstGeom prst="rect">
            <a:avLst/>
          </a:prstGeom>
          <a:noFill/>
          <a:ln/>
        </p:spPr>
        <p:txBody>
          <a:bodyPr wrap="square" lIns="0" tIns="0" rIns="0" bIns="0" rtlCol="0" anchor="t"/>
          <a:lstStyle/>
          <a:p>
            <a:pPr indent="0" marL="0">
              <a:buNone/>
            </a:pPr>
            <a:r>
              <a:rPr lang="en-US" sz="1400" b="1" dirty="0">
                <a:solidFill>
                  <a:srgbClr val="31373E"/>
                </a:solidFill>
                <a:latin typeface="Calibri" pitchFamily="34" charset="0"/>
                <a:ea typeface="Calibri" pitchFamily="34" charset="-122"/>
                <a:cs typeface="Calibri" pitchFamily="34" charset="-120"/>
              </a:rPr>
              <a:t>1  Shadow</a:t>
            </a:r>
            <a:endParaRPr lang="en-US" sz="1400" dirty="0"/>
          </a:p>
        </p:txBody>
      </p:sp>
      <p:sp>
        <p:nvSpPr>
          <p:cNvPr id="8" name="Text 5"/>
          <p:cNvSpPr txBox="1"/>
          <p:nvPr/>
        </p:nvSpPr>
        <p:spPr>
          <a:xfrm>
            <a:off x="585216" y="3968496"/>
            <a:ext cx="1664208" cy="502920"/>
          </a:xfrm>
          <a:prstGeom prst="rect">
            <a:avLst/>
          </a:prstGeom>
          <a:noFill/>
          <a:ln/>
        </p:spPr>
        <p:txBody>
          <a:bodyPr wrap="square" lIns="0" tIns="0" rIns="0" bIns="0" rtlCol="0" anchor="t"/>
          <a:lstStyle/>
          <a:p>
            <a:pPr indent="0" marL="0">
              <a:buNone/>
            </a:pPr>
            <a:r>
              <a:rPr lang="en-US" sz="1200" dirty="0">
                <a:solidFill>
                  <a:srgbClr val="31373E"/>
                </a:solidFill>
                <a:latin typeface="Calibri" pitchFamily="34" charset="0"/>
                <a:ea typeface="Calibri" pitchFamily="34" charset="-122"/>
                <a:cs typeface="Calibri" pitchFamily="34" charset="-120"/>
              </a:rPr>
              <a:t>AI rules, customers see nothing</a:t>
            </a:r>
            <a:endParaRPr lang="en-US" sz="1200" dirty="0"/>
          </a:p>
        </p:txBody>
      </p:sp>
      <p:sp>
        <p:nvSpPr>
          <p:cNvPr id="9" name="phase 2"/>
          <p:cNvSpPr/>
          <p:nvPr/>
        </p:nvSpPr>
        <p:spPr>
          <a:xfrm>
            <a:off x="2542032" y="3584448"/>
            <a:ext cx="1920240" cy="914400"/>
          </a:xfrm>
          <a:prstGeom prst="roundRect">
            <a:avLst>
              <a:gd name="adj" fmla="val 8000"/>
            </a:avLst>
          </a:prstGeom>
          <a:solidFill>
            <a:srgbClr val="F7DDE3"/>
          </a:solidFill>
          <a:ln w="12700">
            <a:solidFill>
              <a:srgbClr val="F7DDE3"/>
            </a:solidFill>
            <a:prstDash val="solid"/>
          </a:ln>
        </p:spPr>
      </p:sp>
      <p:sp>
        <p:nvSpPr>
          <p:cNvPr id="10" name="Text 7"/>
          <p:cNvSpPr txBox="1"/>
          <p:nvPr/>
        </p:nvSpPr>
        <p:spPr>
          <a:xfrm>
            <a:off x="2670048" y="3657600"/>
            <a:ext cx="1664208" cy="292608"/>
          </a:xfrm>
          <a:prstGeom prst="rect">
            <a:avLst/>
          </a:prstGeom>
          <a:noFill/>
          <a:ln/>
        </p:spPr>
        <p:txBody>
          <a:bodyPr wrap="square" lIns="0" tIns="0" rIns="0" bIns="0" rtlCol="0" anchor="t"/>
          <a:lstStyle/>
          <a:p>
            <a:pPr indent="0" marL="0">
              <a:buNone/>
            </a:pPr>
            <a:r>
              <a:rPr lang="en-US" sz="1400" b="1" dirty="0">
                <a:solidFill>
                  <a:srgbClr val="31373E"/>
                </a:solidFill>
                <a:latin typeface="Calibri" pitchFamily="34" charset="0"/>
                <a:ea typeface="Calibri" pitchFamily="34" charset="-122"/>
                <a:cs typeface="Calibri" pitchFamily="34" charset="-120"/>
              </a:rPr>
              <a:t>2  Assist</a:t>
            </a:r>
            <a:endParaRPr lang="en-US" sz="1400" dirty="0"/>
          </a:p>
        </p:txBody>
      </p:sp>
      <p:sp>
        <p:nvSpPr>
          <p:cNvPr id="11" name="Text 8"/>
          <p:cNvSpPr txBox="1"/>
          <p:nvPr/>
        </p:nvSpPr>
        <p:spPr>
          <a:xfrm>
            <a:off x="2670048" y="3968496"/>
            <a:ext cx="1664208" cy="502920"/>
          </a:xfrm>
          <a:prstGeom prst="rect">
            <a:avLst/>
          </a:prstGeom>
          <a:noFill/>
          <a:ln/>
        </p:spPr>
        <p:txBody>
          <a:bodyPr wrap="square" lIns="0" tIns="0" rIns="0" bIns="0" rtlCol="0" anchor="t"/>
          <a:lstStyle/>
          <a:p>
            <a:pPr indent="0" marL="0">
              <a:buNone/>
            </a:pPr>
            <a:r>
              <a:rPr lang="en-US" sz="1200" dirty="0">
                <a:solidFill>
                  <a:srgbClr val="31373E"/>
                </a:solidFill>
                <a:latin typeface="Calibri" pitchFamily="34" charset="0"/>
                <a:ea typeface="Calibri" pitchFamily="34" charset="-122"/>
                <a:cs typeface="Calibri" pitchFamily="34" charset="-120"/>
              </a:rPr>
              <a:t>A CS agent accepts or edits</a:t>
            </a:r>
            <a:endParaRPr lang="en-US" sz="1200" dirty="0"/>
          </a:p>
        </p:txBody>
      </p:sp>
      <p:sp>
        <p:nvSpPr>
          <p:cNvPr id="12" name="phase 3"/>
          <p:cNvSpPr/>
          <p:nvPr/>
        </p:nvSpPr>
        <p:spPr>
          <a:xfrm>
            <a:off x="4626864" y="3584448"/>
            <a:ext cx="1920240" cy="914400"/>
          </a:xfrm>
          <a:prstGeom prst="roundRect">
            <a:avLst>
              <a:gd name="adj" fmla="val 8000"/>
            </a:avLst>
          </a:prstGeom>
          <a:solidFill>
            <a:srgbClr val="F7DDE3"/>
          </a:solidFill>
          <a:ln w="12700">
            <a:solidFill>
              <a:srgbClr val="F7DDE3"/>
            </a:solidFill>
            <a:prstDash val="solid"/>
          </a:ln>
        </p:spPr>
      </p:sp>
      <p:sp>
        <p:nvSpPr>
          <p:cNvPr id="13" name="Text 10"/>
          <p:cNvSpPr txBox="1"/>
          <p:nvPr/>
        </p:nvSpPr>
        <p:spPr>
          <a:xfrm>
            <a:off x="4754880" y="3657600"/>
            <a:ext cx="1664208" cy="292608"/>
          </a:xfrm>
          <a:prstGeom prst="rect">
            <a:avLst/>
          </a:prstGeom>
          <a:noFill/>
          <a:ln/>
        </p:spPr>
        <p:txBody>
          <a:bodyPr wrap="square" lIns="0" tIns="0" rIns="0" bIns="0" rtlCol="0" anchor="t"/>
          <a:lstStyle/>
          <a:p>
            <a:pPr indent="0" marL="0">
              <a:buNone/>
            </a:pPr>
            <a:r>
              <a:rPr lang="en-US" sz="1400" b="1" dirty="0">
                <a:solidFill>
                  <a:srgbClr val="31373E"/>
                </a:solidFill>
                <a:latin typeface="Calibri" pitchFamily="34" charset="0"/>
                <a:ea typeface="Calibri" pitchFamily="34" charset="-122"/>
                <a:cs typeface="Calibri" pitchFamily="34" charset="-120"/>
              </a:rPr>
              <a:t>3  Limited autonomy</a:t>
            </a:r>
            <a:endParaRPr lang="en-US" sz="1400" dirty="0"/>
          </a:p>
        </p:txBody>
      </p:sp>
      <p:sp>
        <p:nvSpPr>
          <p:cNvPr id="14" name="Text 11"/>
          <p:cNvSpPr txBox="1"/>
          <p:nvPr/>
        </p:nvSpPr>
        <p:spPr>
          <a:xfrm>
            <a:off x="4754880" y="3968496"/>
            <a:ext cx="1664208" cy="502920"/>
          </a:xfrm>
          <a:prstGeom prst="rect">
            <a:avLst/>
          </a:prstGeom>
          <a:noFill/>
          <a:ln/>
        </p:spPr>
        <p:txBody>
          <a:bodyPr wrap="square" lIns="0" tIns="0" rIns="0" bIns="0" rtlCol="0" anchor="t"/>
          <a:lstStyle/>
          <a:p>
            <a:pPr indent="0" marL="0">
              <a:buNone/>
            </a:pPr>
            <a:r>
              <a:rPr lang="en-US" sz="1200" dirty="0">
                <a:solidFill>
                  <a:srgbClr val="31373E"/>
                </a:solidFill>
                <a:latin typeface="Calibri" pitchFamily="34" charset="0"/>
                <a:ea typeface="Calibri" pitchFamily="34" charset="-122"/>
                <a:cs typeface="Calibri" pitchFamily="34" charset="-120"/>
              </a:rPr>
              <a:t>Narrow slices, kill switch</a:t>
            </a:r>
            <a:endParaRPr lang="en-US" sz="1200" dirty="0"/>
          </a:p>
        </p:txBody>
      </p:sp>
      <p:sp>
        <p:nvSpPr>
          <p:cNvPr id="15" name="phase 4"/>
          <p:cNvSpPr/>
          <p:nvPr/>
        </p:nvSpPr>
        <p:spPr>
          <a:xfrm>
            <a:off x="6711696" y="3584448"/>
            <a:ext cx="1920240" cy="914400"/>
          </a:xfrm>
          <a:prstGeom prst="roundRect">
            <a:avLst>
              <a:gd name="adj" fmla="val 8000"/>
            </a:avLst>
          </a:prstGeom>
          <a:solidFill>
            <a:srgbClr val="F7DDE3"/>
          </a:solidFill>
          <a:ln w="12700">
            <a:solidFill>
              <a:srgbClr val="F7DDE3"/>
            </a:solidFill>
            <a:prstDash val="solid"/>
          </a:ln>
        </p:spPr>
      </p:sp>
      <p:sp>
        <p:nvSpPr>
          <p:cNvPr id="16" name="Text 13"/>
          <p:cNvSpPr txBox="1"/>
          <p:nvPr/>
        </p:nvSpPr>
        <p:spPr>
          <a:xfrm>
            <a:off x="6839712" y="3657600"/>
            <a:ext cx="1664208" cy="292608"/>
          </a:xfrm>
          <a:prstGeom prst="rect">
            <a:avLst/>
          </a:prstGeom>
          <a:noFill/>
          <a:ln/>
        </p:spPr>
        <p:txBody>
          <a:bodyPr wrap="square" lIns="0" tIns="0" rIns="0" bIns="0" rtlCol="0" anchor="t"/>
          <a:lstStyle/>
          <a:p>
            <a:pPr indent="0" marL="0">
              <a:buNone/>
            </a:pPr>
            <a:r>
              <a:rPr lang="en-US" sz="1400" b="1" dirty="0">
                <a:solidFill>
                  <a:srgbClr val="31373E"/>
                </a:solidFill>
                <a:latin typeface="Calibri" pitchFamily="34" charset="0"/>
                <a:ea typeface="Calibri" pitchFamily="34" charset="-122"/>
                <a:cs typeface="Calibri" pitchFamily="34" charset="-120"/>
              </a:rPr>
              <a:t>4  Expand</a:t>
            </a:r>
            <a:endParaRPr lang="en-US" sz="1400" dirty="0"/>
          </a:p>
        </p:txBody>
      </p:sp>
      <p:sp>
        <p:nvSpPr>
          <p:cNvPr id="17" name="Text 14"/>
          <p:cNvSpPr txBox="1"/>
          <p:nvPr/>
        </p:nvSpPr>
        <p:spPr>
          <a:xfrm>
            <a:off x="6839712" y="3968496"/>
            <a:ext cx="1664208" cy="502920"/>
          </a:xfrm>
          <a:prstGeom prst="rect">
            <a:avLst/>
          </a:prstGeom>
          <a:noFill/>
          <a:ln/>
        </p:spPr>
        <p:txBody>
          <a:bodyPr wrap="square" lIns="0" tIns="0" rIns="0" bIns="0" rtlCol="0" anchor="t"/>
          <a:lstStyle/>
          <a:p>
            <a:pPr indent="0" marL="0">
              <a:buNone/>
            </a:pPr>
            <a:r>
              <a:rPr lang="en-US" sz="1200" dirty="0">
                <a:solidFill>
                  <a:srgbClr val="31373E"/>
                </a:solidFill>
                <a:latin typeface="Calibri" pitchFamily="34" charset="0"/>
                <a:ea typeface="Calibri" pitchFamily="34" charset="-122"/>
                <a:cs typeface="Calibri" pitchFamily="34" charset="-120"/>
              </a:rPr>
              <a:t>More cases, only on data</a:t>
            </a:r>
            <a:endParaRPr lang="en-US" sz="1200" dirty="0"/>
          </a:p>
        </p:txBody>
      </p:sp>
      <p:sp>
        <p:nvSpPr>
          <p:cNvPr id="18" name="Text 15"/>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rgbClr val="5A6470"/>
                </a:solidFill>
                <a:latin typeface="Calibri" pitchFamily="34" charset="0"/>
                <a:ea typeface="Calibri" pitchFamily="34" charset="-122"/>
                <a:cs typeface="Calibri" pitchFamily="34" charset="-120"/>
              </a:rPr>
              <a:t>Proposal. Product names and Singapore availability to be confirmed with Tencent Cloud. Integration contract: tools/deployment/openapi.json.</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A lean build: about S$90k once, S$26k a year</a:t>
            </a:r>
            <a:endParaRPr lang="en-US" sz="3000" dirty="0"/>
          </a:p>
        </p:txBody>
      </p:sp>
      <p:sp>
        <p:nvSpPr>
          <p:cNvPr id="3" name="card"/>
          <p:cNvSpPr/>
          <p:nvPr/>
        </p:nvSpPr>
        <p:spPr>
          <a:xfrm>
            <a:off x="457200" y="1234440"/>
            <a:ext cx="2560320" cy="2514600"/>
          </a:xfrm>
          <a:prstGeom prst="roundRect">
            <a:avLst>
              <a:gd name="adj" fmla="val 2909"/>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371600"/>
            <a:ext cx="2194560" cy="640080"/>
          </a:xfrm>
          <a:prstGeom prst="rect">
            <a:avLst/>
          </a:prstGeom>
          <a:noFill/>
          <a:ln/>
        </p:spPr>
        <p:txBody>
          <a:bodyPr wrap="square" lIns="0" tIns="0" rIns="0" bIns="0" rtlCol="0" anchor="ctr"/>
          <a:lstStyle/>
          <a:p>
            <a:pPr indent="0" marL="0">
              <a:buNone/>
            </a:pPr>
            <a:r>
              <a:rPr lang="en-US" sz="3800" b="1" dirty="0">
                <a:solidFill>
                  <a:srgbClr val="E93864"/>
                </a:solidFill>
                <a:latin typeface="Calibri" pitchFamily="34" charset="0"/>
                <a:ea typeface="Calibri" pitchFamily="34" charset="-122"/>
                <a:cs typeface="Calibri" pitchFamily="34" charset="-120"/>
              </a:rPr>
              <a:t>S$90k</a:t>
            </a:r>
            <a:endParaRPr lang="en-US" sz="3800" dirty="0"/>
          </a:p>
        </p:txBody>
      </p:sp>
      <p:sp>
        <p:nvSpPr>
          <p:cNvPr id="5" name="Text 3"/>
          <p:cNvSpPr txBox="1"/>
          <p:nvPr/>
        </p:nvSpPr>
        <p:spPr>
          <a:xfrm>
            <a:off x="640080" y="2011680"/>
            <a:ext cx="2194560" cy="320040"/>
          </a:xfrm>
          <a:prstGeom prst="rect">
            <a:avLst/>
          </a:prstGeom>
          <a:noFill/>
          <a:ln/>
        </p:spPr>
        <p:txBody>
          <a:bodyPr wrap="square" lIns="0" tIns="0" rIns="0" bIns="0" rtlCol="0" anchor="t"/>
          <a:lstStyle/>
          <a:p>
            <a:pPr indent="0" marL="0">
              <a:buNone/>
            </a:pPr>
            <a:r>
              <a:rPr lang="en-US" sz="1600" b="1" dirty="0">
                <a:solidFill>
                  <a:srgbClr val="31373E"/>
                </a:solidFill>
                <a:latin typeface="Calibri" pitchFamily="34" charset="0"/>
                <a:ea typeface="Calibri" pitchFamily="34" charset="-122"/>
                <a:cs typeface="Calibri" pitchFamily="34" charset="-120"/>
              </a:rPr>
              <a:t>one-off</a:t>
            </a:r>
            <a:endParaRPr lang="en-US" sz="1600" dirty="0"/>
          </a:p>
        </p:txBody>
      </p:sp>
      <p:sp>
        <p:nvSpPr>
          <p:cNvPr id="6" name="Text 4"/>
          <p:cNvSpPr txBox="1"/>
          <p:nvPr/>
        </p:nvSpPr>
        <p:spPr>
          <a:xfrm>
            <a:off x="640080" y="2395728"/>
            <a:ext cx="2194560" cy="1280160"/>
          </a:xfrm>
          <a:prstGeom prst="rect">
            <a:avLst/>
          </a:prstGeom>
          <a:noFill/>
          <a:ln/>
        </p:spPr>
        <p:txBody>
          <a:bodyPr wrap="square" lIns="0" tIns="0" rIns="0" bIns="0" rtlCol="0" anchor="t"/>
          <a:lstStyle/>
          <a:p>
            <a:pPr indent="0" marL="0">
              <a:buNone/>
            </a:pPr>
            <a:r>
              <a:rPr lang="en-US" sz="1300" dirty="0">
                <a:solidFill>
                  <a:srgbClr val="5A6470"/>
                </a:solidFill>
                <a:latin typeface="Calibri" pitchFamily="34" charset="0"/>
                <a:ea typeface="Calibri" pitchFamily="34" charset="-122"/>
                <a:cs typeface="Calibri" pitchFamily="34" charset="-120"/>
              </a:rPr>
              <a:t>2 engineers × 3 months, plus PM, QA and legal review. Covers evidence connectors, payments callback, single sign-on, privacy review.</a:t>
            </a:r>
            <a:endParaRPr lang="en-US" sz="1300" dirty="0"/>
          </a:p>
        </p:txBody>
      </p:sp>
      <p:sp>
        <p:nvSpPr>
          <p:cNvPr id="7" name="card"/>
          <p:cNvSpPr/>
          <p:nvPr/>
        </p:nvSpPr>
        <p:spPr>
          <a:xfrm>
            <a:off x="3291840" y="1234440"/>
            <a:ext cx="2560320" cy="2514600"/>
          </a:xfrm>
          <a:prstGeom prst="roundRect">
            <a:avLst>
              <a:gd name="adj" fmla="val 2909"/>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3474720" y="1371600"/>
            <a:ext cx="2194560" cy="640080"/>
          </a:xfrm>
          <a:prstGeom prst="rect">
            <a:avLst/>
          </a:prstGeom>
          <a:noFill/>
          <a:ln/>
        </p:spPr>
        <p:txBody>
          <a:bodyPr wrap="square" lIns="0" tIns="0" rIns="0" bIns="0" rtlCol="0" anchor="ctr"/>
          <a:lstStyle/>
          <a:p>
            <a:pPr indent="0" marL="0">
              <a:buNone/>
            </a:pPr>
            <a:r>
              <a:rPr lang="en-US" sz="3800" b="1" dirty="0">
                <a:solidFill>
                  <a:srgbClr val="E93864"/>
                </a:solidFill>
                <a:latin typeface="Calibri" pitchFamily="34" charset="0"/>
                <a:ea typeface="Calibri" pitchFamily="34" charset="-122"/>
                <a:cs typeface="Calibri" pitchFamily="34" charset="-120"/>
              </a:rPr>
              <a:t>S$2.2k</a:t>
            </a:r>
            <a:endParaRPr lang="en-US" sz="3800" dirty="0"/>
          </a:p>
        </p:txBody>
      </p:sp>
      <p:sp>
        <p:nvSpPr>
          <p:cNvPr id="9" name="Text 7"/>
          <p:cNvSpPr txBox="1"/>
          <p:nvPr/>
        </p:nvSpPr>
        <p:spPr>
          <a:xfrm>
            <a:off x="3474720" y="2011680"/>
            <a:ext cx="2194560" cy="320040"/>
          </a:xfrm>
          <a:prstGeom prst="rect">
            <a:avLst/>
          </a:prstGeom>
          <a:noFill/>
          <a:ln/>
        </p:spPr>
        <p:txBody>
          <a:bodyPr wrap="square" lIns="0" tIns="0" rIns="0" bIns="0" rtlCol="0" anchor="t"/>
          <a:lstStyle/>
          <a:p>
            <a:pPr indent="0" marL="0">
              <a:buNone/>
            </a:pPr>
            <a:r>
              <a:rPr lang="en-US" sz="1600" b="1" dirty="0">
                <a:solidFill>
                  <a:srgbClr val="31373E"/>
                </a:solidFill>
                <a:latin typeface="Calibri" pitchFamily="34" charset="0"/>
                <a:ea typeface="Calibri" pitchFamily="34" charset="-122"/>
                <a:cs typeface="Calibri" pitchFamily="34" charset="-120"/>
              </a:rPr>
              <a:t>a month to run</a:t>
            </a:r>
            <a:endParaRPr lang="en-US" sz="1600" dirty="0"/>
          </a:p>
        </p:txBody>
      </p:sp>
      <p:sp>
        <p:nvSpPr>
          <p:cNvPr id="10" name="Text 8"/>
          <p:cNvSpPr txBox="1"/>
          <p:nvPr/>
        </p:nvSpPr>
        <p:spPr>
          <a:xfrm>
            <a:off x="3474720" y="2395728"/>
            <a:ext cx="2194560" cy="1280160"/>
          </a:xfrm>
          <a:prstGeom prst="rect">
            <a:avLst/>
          </a:prstGeom>
          <a:noFill/>
          <a:ln/>
        </p:spPr>
        <p:txBody>
          <a:bodyPr wrap="square" lIns="0" tIns="0" rIns="0" bIns="0" rtlCol="0" anchor="t"/>
          <a:lstStyle/>
          <a:p>
            <a:pPr indent="0" marL="0">
              <a:buNone/>
            </a:pPr>
            <a:r>
              <a:rPr lang="en-US" sz="1300" dirty="0">
                <a:solidFill>
                  <a:srgbClr val="5A6470"/>
                </a:solidFill>
                <a:latin typeface="Calibri" pitchFamily="34" charset="0"/>
                <a:ea typeface="Calibri" pitchFamily="34" charset="-122"/>
                <a:cs typeface="Calibri" pitchFamily="34" charset="-120"/>
              </a:rPr>
              <a:t>Cloud infrastructure S$0.5k · model calls S$0.5k (about S$0.38 a case) · a tenth of an engineer S$1.2k. Breakdown on slide 8.</a:t>
            </a:r>
            <a:endParaRPr lang="en-US" sz="1300" dirty="0"/>
          </a:p>
        </p:txBody>
      </p:sp>
      <p:sp>
        <p:nvSpPr>
          <p:cNvPr id="11" name="card"/>
          <p:cNvSpPr/>
          <p:nvPr/>
        </p:nvSpPr>
        <p:spPr>
          <a:xfrm>
            <a:off x="6126480" y="1234440"/>
            <a:ext cx="2560320" cy="2514600"/>
          </a:xfrm>
          <a:prstGeom prst="roundRect">
            <a:avLst>
              <a:gd name="adj" fmla="val 2909"/>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6309360" y="1371600"/>
            <a:ext cx="2194560" cy="640080"/>
          </a:xfrm>
          <a:prstGeom prst="rect">
            <a:avLst/>
          </a:prstGeom>
          <a:noFill/>
          <a:ln/>
        </p:spPr>
        <p:txBody>
          <a:bodyPr wrap="square" lIns="0" tIns="0" rIns="0" bIns="0" rtlCol="0" anchor="ctr"/>
          <a:lstStyle/>
          <a:p>
            <a:pPr indent="0" marL="0">
              <a:buNone/>
            </a:pPr>
            <a:r>
              <a:rPr lang="en-US" sz="3800" b="1" dirty="0">
                <a:solidFill>
                  <a:srgbClr val="E93864"/>
                </a:solidFill>
                <a:latin typeface="Calibri" pitchFamily="34" charset="0"/>
                <a:ea typeface="Calibri" pitchFamily="34" charset="-122"/>
                <a:cs typeface="Calibri" pitchFamily="34" charset="-120"/>
              </a:rPr>
              <a:t>8 months</a:t>
            </a:r>
            <a:endParaRPr lang="en-US" sz="3800" dirty="0"/>
          </a:p>
        </p:txBody>
      </p:sp>
      <p:sp>
        <p:nvSpPr>
          <p:cNvPr id="13" name="Text 11"/>
          <p:cNvSpPr txBox="1"/>
          <p:nvPr/>
        </p:nvSpPr>
        <p:spPr>
          <a:xfrm>
            <a:off x="6309360" y="2011680"/>
            <a:ext cx="2194560" cy="320040"/>
          </a:xfrm>
          <a:prstGeom prst="rect">
            <a:avLst/>
          </a:prstGeom>
          <a:noFill/>
          <a:ln/>
        </p:spPr>
        <p:txBody>
          <a:bodyPr wrap="square" lIns="0" tIns="0" rIns="0" bIns="0" rtlCol="0" anchor="t"/>
          <a:lstStyle/>
          <a:p>
            <a:pPr indent="0" marL="0">
              <a:buNone/>
            </a:pPr>
            <a:r>
              <a:rPr lang="en-US" sz="1600" b="1" dirty="0">
                <a:solidFill>
                  <a:srgbClr val="31373E"/>
                </a:solidFill>
                <a:latin typeface="Calibri" pitchFamily="34" charset="0"/>
                <a:ea typeface="Calibri" pitchFamily="34" charset="-122"/>
                <a:cs typeface="Calibri" pitchFamily="34" charset="-120"/>
              </a:rPr>
              <a:t>to limited autonomy</a:t>
            </a:r>
            <a:endParaRPr lang="en-US" sz="1600" dirty="0"/>
          </a:p>
        </p:txBody>
      </p:sp>
      <p:sp>
        <p:nvSpPr>
          <p:cNvPr id="14" name="Text 12"/>
          <p:cNvSpPr txBox="1"/>
          <p:nvPr/>
        </p:nvSpPr>
        <p:spPr>
          <a:xfrm>
            <a:off x="6309360" y="2395728"/>
            <a:ext cx="2194560" cy="1280160"/>
          </a:xfrm>
          <a:prstGeom prst="rect">
            <a:avLst/>
          </a:prstGeom>
          <a:noFill/>
          <a:ln/>
        </p:spPr>
        <p:txBody>
          <a:bodyPr wrap="square" lIns="0" tIns="0" rIns="0" bIns="0" rtlCol="0" anchor="t"/>
          <a:lstStyle/>
          <a:p>
            <a:pPr indent="0" marL="0">
              <a:buNone/>
            </a:pPr>
            <a:r>
              <a:rPr lang="en-US" sz="1300" dirty="0">
                <a:solidFill>
                  <a:srgbClr val="5A6470"/>
                </a:solidFill>
                <a:latin typeface="Calibri" pitchFamily="34" charset="0"/>
                <a:ea typeface="Calibri" pitchFamily="34" charset="-122"/>
                <a:cs typeface="Calibri" pitchFamily="34" charset="-120"/>
              </a:rPr>
              <a:t>3 build · 2 shadow · 3 assist. We measure before we trust.</a:t>
            </a:r>
            <a:endParaRPr lang="en-US" sz="1300" dirty="0"/>
          </a:p>
        </p:txBody>
      </p:sp>
      <p:sp>
        <p:nvSpPr>
          <p:cNvPr id="15" name="sizing strip"/>
          <p:cNvSpPr/>
          <p:nvPr/>
        </p:nvSpPr>
        <p:spPr>
          <a:xfrm>
            <a:off x="457200" y="3931920"/>
            <a:ext cx="8229600" cy="594360"/>
          </a:xfrm>
          <a:prstGeom prst="roundRect">
            <a:avLst>
              <a:gd name="adj" fmla="val 12308"/>
            </a:avLst>
          </a:prstGeom>
          <a:solidFill>
            <a:srgbClr val="F7DDE3"/>
          </a:solidFill>
          <a:ln w="12700">
            <a:solidFill>
              <a:srgbClr val="F7DDE3"/>
            </a:solidFill>
            <a:prstDash val="solid"/>
          </a:ln>
        </p:spPr>
      </p:sp>
      <p:sp>
        <p:nvSpPr>
          <p:cNvPr id="16"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400" dirty="0">
                <a:solidFill>
                  <a:srgbClr val="31373E"/>
                </a:solidFill>
                <a:latin typeface="Calibri" pitchFamily="34" charset="0"/>
                <a:ea typeface="Calibri" pitchFamily="34" charset="-122"/>
                <a:cs typeface="Calibri" pitchFamily="34" charset="-120"/>
              </a:rPr>
              <a:t>Sized for about 1,300 in-scope cases a month, small next to Ryde’s roughly S$10.8M of annualised expenses.</a:t>
            </a:r>
            <a:endParaRPr lang="en-US" sz="1400" dirty="0"/>
          </a:p>
        </p:txBody>
      </p:sp>
      <p:sp>
        <p:nvSpPr>
          <p:cNvPr id="17" name="Text 15"/>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rgbClr val="5A6470"/>
                </a:solidFill>
                <a:latin typeface="Calibri" pitchFamily="34" charset="0"/>
                <a:ea typeface="Calibri" pitchFamily="34" charset="-122"/>
                <a:cs typeface="Calibri" pitchFamily="34" charset="-120"/>
              </a:rPr>
              <a:t>Model rates and some cloud prices verified from Tencent Cloud pages; the rest are estimates (slide 8). Annualised expenses = verified 1H 2026 total expenses S$5.4M × 2.</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Doing nothing costs about S$400k over three years</a:t>
            </a:r>
            <a:endParaRPr lang="en-US" sz="3000" dirty="0"/>
          </a:p>
        </p:txBody>
      </p:sp>
      <p:graphicFrame>
        <p:nvGraphicFramePr>
          <p:cNvPr id="3" name="Chart 0" descr=""/>
          <p:cNvGraphicFramePr/>
          <p:nvPr/>
        </p:nvGraphicFramePr>
        <p:xfrm>
          <a:off x="365760" y="1143000"/>
          <a:ext cx="5212080" cy="3429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852160" y="1097280"/>
            <a:ext cx="2834640" cy="502920"/>
          </a:xfrm>
          <a:prstGeom prst="rect">
            <a:avLst/>
          </a:prstGeom>
          <a:noFill/>
          <a:ln/>
        </p:spPr>
        <p:txBody>
          <a:bodyPr wrap="square" lIns="0" tIns="0" rIns="0" bIns="0" rtlCol="0" anchor="ctr"/>
          <a:lstStyle/>
          <a:p>
            <a:pPr indent="0" marL="0">
              <a:buNone/>
            </a:pPr>
            <a:r>
              <a:rPr lang="en-US" sz="3600" b="1" dirty="0">
                <a:solidFill>
                  <a:srgbClr val="31373E"/>
                </a:solidFill>
                <a:latin typeface="Calibri" pitchFamily="34" charset="0"/>
                <a:ea typeface="Calibri" pitchFamily="34" charset="-122"/>
                <a:cs typeface="Calibri" pitchFamily="34" charset="-120"/>
              </a:rPr>
              <a:t>S$397k</a:t>
            </a:r>
            <a:endParaRPr lang="en-US" sz="3600" dirty="0"/>
          </a:p>
        </p:txBody>
      </p:sp>
      <p:sp>
        <p:nvSpPr>
          <p:cNvPr id="5" name="Text 2"/>
          <p:cNvSpPr txBox="1"/>
          <p:nvPr/>
        </p:nvSpPr>
        <p:spPr>
          <a:xfrm>
            <a:off x="5852160" y="1600200"/>
            <a:ext cx="2834640" cy="274320"/>
          </a:xfrm>
          <a:prstGeom prst="rect">
            <a:avLst/>
          </a:prstGeom>
          <a:noFill/>
          <a:ln/>
        </p:spPr>
        <p:txBody>
          <a:bodyPr wrap="square" lIns="0" tIns="0" rIns="0" bIns="0" rtlCol="0" anchor="t"/>
          <a:lstStyle/>
          <a:p>
            <a:pPr indent="0" marL="0">
              <a:buNone/>
            </a:pPr>
            <a:r>
              <a:rPr lang="en-US" sz="1400" dirty="0">
                <a:solidFill>
                  <a:srgbClr val="5A6470"/>
                </a:solidFill>
                <a:latin typeface="Calibri" pitchFamily="34" charset="0"/>
                <a:ea typeface="Calibri" pitchFamily="34" charset="-122"/>
                <a:cs typeface="Calibri" pitchFamily="34" charset="-120"/>
              </a:rPr>
              <a:t>if nothing changes</a:t>
            </a:r>
            <a:endParaRPr lang="en-US" sz="1400" dirty="0"/>
          </a:p>
        </p:txBody>
      </p:sp>
      <p:sp>
        <p:nvSpPr>
          <p:cNvPr id="6" name="Text 3"/>
          <p:cNvSpPr txBox="1"/>
          <p:nvPr/>
        </p:nvSpPr>
        <p:spPr>
          <a:xfrm>
            <a:off x="5852160" y="1920240"/>
            <a:ext cx="2834640" cy="502920"/>
          </a:xfrm>
          <a:prstGeom prst="rect">
            <a:avLst/>
          </a:prstGeom>
          <a:noFill/>
          <a:ln/>
        </p:spPr>
        <p:txBody>
          <a:bodyPr wrap="square" lIns="0" tIns="0" rIns="0" bIns="0" rtlCol="0" anchor="ctr"/>
          <a:lstStyle/>
          <a:p>
            <a:pPr indent="0" marL="0">
              <a:buNone/>
            </a:pPr>
            <a:r>
              <a:rPr lang="en-US" sz="3600" b="1" dirty="0">
                <a:solidFill>
                  <a:srgbClr val="E93864"/>
                </a:solidFill>
                <a:latin typeface="Calibri" pitchFamily="34" charset="0"/>
                <a:ea typeface="Calibri" pitchFamily="34" charset="-122"/>
                <a:cs typeface="Calibri" pitchFamily="34" charset="-120"/>
              </a:rPr>
              <a:t>S$280k</a:t>
            </a:r>
            <a:endParaRPr lang="en-US" sz="3600" dirty="0"/>
          </a:p>
        </p:txBody>
      </p:sp>
      <p:sp>
        <p:nvSpPr>
          <p:cNvPr id="7" name="Text 4"/>
          <p:cNvSpPr txBox="1"/>
          <p:nvPr/>
        </p:nvSpPr>
        <p:spPr>
          <a:xfrm>
            <a:off x="5852160" y="2423160"/>
            <a:ext cx="2834640" cy="274320"/>
          </a:xfrm>
          <a:prstGeom prst="rect">
            <a:avLst/>
          </a:prstGeom>
          <a:noFill/>
          <a:ln/>
        </p:spPr>
        <p:txBody>
          <a:bodyPr wrap="square" lIns="0" tIns="0" rIns="0" bIns="0" rtlCol="0" anchor="t"/>
          <a:lstStyle/>
          <a:p>
            <a:pPr indent="0" marL="0">
              <a:buNone/>
            </a:pPr>
            <a:r>
              <a:rPr lang="en-US" sz="1400" dirty="0">
                <a:solidFill>
                  <a:srgbClr val="5A6470"/>
                </a:solidFill>
                <a:latin typeface="Calibri" pitchFamily="34" charset="0"/>
                <a:ea typeface="Calibri" pitchFamily="34" charset="-122"/>
                <a:cs typeface="Calibri" pitchFamily="34" charset="-120"/>
              </a:rPr>
              <a:t>with our system, build included</a:t>
            </a:r>
            <a:endParaRPr lang="en-US" sz="1400" dirty="0"/>
          </a:p>
        </p:txBody>
      </p:sp>
      <p:sp>
        <p:nvSpPr>
          <p:cNvPr id="8" name="Text 5"/>
          <p:cNvSpPr txBox="1"/>
          <p:nvPr/>
        </p:nvSpPr>
        <p:spPr>
          <a:xfrm>
            <a:off x="5852160" y="2880360"/>
            <a:ext cx="2834640" cy="256032"/>
          </a:xfrm>
          <a:prstGeom prst="rect">
            <a:avLst/>
          </a:prstGeom>
          <a:noFill/>
          <a:ln/>
        </p:spPr>
        <p:txBody>
          <a:bodyPr wrap="square" lIns="0" tIns="0" rIns="0" bIns="0" rtlCol="0" anchor="t"/>
          <a:lstStyle/>
          <a:p>
            <a:pPr indent="0" marL="0">
              <a:buNone/>
            </a:pPr>
            <a:r>
              <a:rPr lang="en-US" sz="1200" b="1" dirty="0">
                <a:solidFill>
                  <a:srgbClr val="31373E"/>
                </a:solidFill>
                <a:latin typeface="Calibri" pitchFamily="34" charset="0"/>
                <a:ea typeface="Calibri" pitchFamily="34" charset="-122"/>
                <a:cs typeface="Calibri" pitchFamily="34" charset="-120"/>
              </a:rPr>
              <a:t>Payback by dispute rate (% of trips)</a:t>
            </a:r>
            <a:endParaRPr lang="en-US" sz="1200" dirty="0"/>
          </a:p>
        </p:txBody>
      </p:sp>
      <p:graphicFrame>
        <p:nvGraphicFramePr>
          <p:cNvPr id="8" name="payback table"/>
          <p:cNvGraphicFramePr>
            <a:graphicFrameLocks noGrp="1"/>
          </p:cNvGraphicFramePr>
          <p:nvPr>
            <p:extLst>
              <p:ext uri="{D42A27DB-BD31-4B8C-83A1-F6EECF244321}">
                <p14:modId xmlns:p14="http://schemas.microsoft.com/office/powerpoint/2010/main" val="1579011935"/>
              </p:ext>
            </p:extLst>
          </p:nvPr>
        </p:nvGraphicFramePr>
        <p:xfrm>
          <a:off x="5852160" y="3154680"/>
          <a:ext cx="2834640" cy="914400"/>
        </p:xfrm>
        <a:graphic>
          <a:graphicData uri="http://schemas.openxmlformats.org/drawingml/2006/table">
            <a:tbl>
              <a:tblPr/>
              <a:tblGrid>
                <a:gridCol w="1280160"/>
                <a:gridCol w="1554480"/>
              </a:tblGrid>
              <a:tr h="2468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Rate</a:t>
                      </a:r>
                      <a:endParaRPr lang="en-US" sz="11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Payback</a:t>
                      </a:r>
                      <a:endParaRPr lang="en-US" sz="11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r>
              <a:tr h="246888">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not in 3 years</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46888">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1% (base)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E93864"/>
                          </a:solidFill>
                          <a:latin typeface="Calibri" pitchFamily="34" charset="0"/>
                          <a:ea typeface="Calibri" pitchFamily="34" charset="-122"/>
                          <a:cs typeface="Calibri" pitchFamily="34" charset="-120"/>
                        </a:rPr>
                        <a:t>month 21</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46888">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month 15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246888">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month 13</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10" name="Text 6"/>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rgbClr val="5A6470"/>
                </a:solidFill>
                <a:latin typeface="Calibri" pitchFamily="34" charset="0"/>
                <a:ea typeface="Calibri" pitchFamily="34" charset="-122"/>
                <a:cs typeface="Calibri" pitchFamily="34" charset="-120"/>
              </a:rPr>
              <a:t>ASSUMPTIONS: 1% of trips disputed, 40% in scope, S$7.50 each, 10% yearly volume growth, AI decides 60%. Reference: Uber ≈ 1.3 support contacts per 100 trips, all topics (slide 9).</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Reference: running-cost breakdown</a:t>
            </a:r>
            <a:endParaRPr lang="en-US" sz="3000" dirty="0"/>
          </a:p>
        </p:txBody>
      </p:sp>
      <p:graphicFrame>
        <p:nvGraphicFramePr>
          <p:cNvPr id="9" name="infra cost table"/>
          <p:cNvGraphicFramePr>
            <a:graphicFrameLocks noGrp="1"/>
          </p:cNvGraphicFramePr>
          <p:nvPr>
            <p:extLst>
              <p:ext uri="{D42A27DB-BD31-4B8C-83A1-F6EECF244321}">
                <p14:modId xmlns:p14="http://schemas.microsoft.com/office/powerpoint/2010/main" val="1579011935"/>
              </p:ext>
            </p:extLst>
          </p:nvPr>
        </p:nvGraphicFramePr>
        <p:xfrm>
          <a:off x="457200" y="1143000"/>
          <a:ext cx="4206240" cy="914400"/>
        </p:xfrm>
        <a:graphic>
          <a:graphicData uri="http://schemas.openxmlformats.org/drawingml/2006/table">
            <a:tbl>
              <a:tblPr/>
              <a:tblGrid>
                <a:gridCol w="2468880"/>
                <a:gridCol w="731520"/>
                <a:gridCol w="1005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Infrastructure (Singapore)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US$/mo</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Basis</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EdgeOne Basic plan</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57</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1B7F4B"/>
                          </a:solidFill>
                          <a:latin typeface="Calibri" pitchFamily="34" charset="0"/>
                          <a:ea typeface="Calibri" pitchFamily="34" charset="-122"/>
                          <a:cs typeface="Calibri" pitchFamily="34" charset="-120"/>
                        </a:rPr>
                        <a:t>Verified</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TKE managed-cluster fee (L5)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1B7F4B"/>
                          </a:solidFill>
                          <a:latin typeface="Calibri" pitchFamily="34" charset="0"/>
                          <a:ea typeface="Calibri" pitchFamily="34" charset="-122"/>
                          <a:cs typeface="Calibri" pitchFamily="34" charset="-120"/>
                        </a:rPr>
                        <a:t>Verified</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2 worker nodes, 2 vCPU / 4 GB</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B3264A"/>
                          </a:solidFill>
                          <a:latin typeface="Calibri" pitchFamily="34" charset="0"/>
                          <a:ea typeface="Calibri" pitchFamily="34" charset="-122"/>
                          <a:cs typeface="Calibri" pitchFamily="34" charset="-120"/>
                        </a:rPr>
                        <a:t>Estimate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PostgreSQL, 2 vCPU / 4 GB, HA</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B3264A"/>
                          </a:solidFill>
                          <a:latin typeface="Calibri" pitchFamily="34" charset="0"/>
                          <a:ea typeface="Calibri" pitchFamily="34" charset="-122"/>
                          <a:cs typeface="Calibri" pitchFamily="34" charset="-120"/>
                        </a:rPr>
                        <a:t>Estimate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Load balancer</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B3264A"/>
                          </a:solidFill>
                          <a:latin typeface="Calibri" pitchFamily="34" charset="0"/>
                          <a:ea typeface="Calibri" pitchFamily="34" charset="-122"/>
                          <a:cs typeface="Calibri" pitchFamily="34" charset="-120"/>
                        </a:rPr>
                        <a:t>Estimate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API Gateway</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B3264A"/>
                          </a:solidFill>
                          <a:latin typeface="Calibri" pitchFamily="34" charset="0"/>
                          <a:ea typeface="Calibri" pitchFamily="34" charset="-122"/>
                          <a:cs typeface="Calibri" pitchFamily="34" charset="-120"/>
                        </a:rPr>
                        <a:t>Estimate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COS, logs, SSM/KMS</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B3264A"/>
                          </a:solidFill>
                          <a:latin typeface="Calibri" pitchFamily="34" charset="0"/>
                          <a:ea typeface="Calibri" pitchFamily="34" charset="-122"/>
                          <a:cs typeface="Calibri" pitchFamily="34" charset="-120"/>
                        </a:rPr>
                        <a:t>Estimate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387</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 S$500</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graphicFrame>
        <p:nvGraphicFramePr>
          <p:cNvPr id="17" name="model cost table"/>
          <p:cNvGraphicFramePr>
            <a:graphicFrameLocks noGrp="1"/>
          </p:cNvGraphicFramePr>
          <p:nvPr>
            <p:extLst>
              <p:ext uri="{D42A27DB-BD31-4B8C-83A1-F6EECF244321}">
                <p14:modId xmlns:p14="http://schemas.microsoft.com/office/powerpoint/2010/main" val="1579011935"/>
              </p:ext>
            </p:extLst>
          </p:nvPr>
        </p:nvGraphicFramePr>
        <p:xfrm>
          <a:off x="4937760" y="1143000"/>
          <a:ext cx="3749040" cy="914400"/>
        </p:xfrm>
        <a:graphic>
          <a:graphicData uri="http://schemas.openxmlformats.org/drawingml/2006/table">
            <a:tbl>
              <a:tblPr/>
              <a:tblGrid>
                <a:gridCol w="1828800"/>
                <a:gridCol w="914400"/>
                <a:gridCol w="1005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 (ADP)</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Usage/mo</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 $50 plan</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r>
              <a:tr h="310896">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DeepSeek-V3.1 (base)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$342</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$392</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DeepSeek-V4-Pro</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$132</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$182</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DeepSeek-V4-Flash</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$61</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10896">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GPT-5.5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$473</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$523</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5" name="total box"/>
          <p:cNvSpPr/>
          <p:nvPr/>
        </p:nvSpPr>
        <p:spPr>
          <a:xfrm>
            <a:off x="4937760" y="2926080"/>
            <a:ext cx="3749040" cy="1463040"/>
          </a:xfrm>
          <a:prstGeom prst="roundRect">
            <a:avLst>
              <a:gd name="adj" fmla="val 5000"/>
            </a:avLst>
          </a:prstGeom>
          <a:solidFill>
            <a:srgbClr val="F7DDE3"/>
          </a:solidFill>
          <a:ln w="12700">
            <a:solidFill>
              <a:srgbClr val="F7DDE3"/>
            </a:solidFill>
            <a:prstDash val="solid"/>
          </a:ln>
        </p:spPr>
      </p:sp>
      <p:sp>
        <p:nvSpPr>
          <p:cNvPr id="6" name="Text 2"/>
          <p:cNvSpPr txBox="1"/>
          <p:nvPr/>
        </p:nvSpPr>
        <p:spPr>
          <a:xfrm>
            <a:off x="5120640" y="3017520"/>
            <a:ext cx="3383280" cy="411480"/>
          </a:xfrm>
          <a:prstGeom prst="rect">
            <a:avLst/>
          </a:prstGeom>
          <a:noFill/>
          <a:ln/>
        </p:spPr>
        <p:txBody>
          <a:bodyPr wrap="square" lIns="0" tIns="0" rIns="0" bIns="0" rtlCol="0" anchor="ctr"/>
          <a:lstStyle/>
          <a:p>
            <a:pPr indent="0" marL="0">
              <a:buNone/>
            </a:pPr>
            <a:r>
              <a:rPr lang="en-US" sz="2000" b="1" dirty="0">
                <a:solidFill>
                  <a:srgbClr val="E93864"/>
                </a:solidFill>
                <a:latin typeface="Calibri" pitchFamily="34" charset="0"/>
                <a:ea typeface="Calibri" pitchFamily="34" charset="-122"/>
                <a:cs typeface="Calibri" pitchFamily="34" charset="-120"/>
              </a:rPr>
              <a:t>About S$2.2k a month</a:t>
            </a:r>
            <a:endParaRPr lang="en-US" sz="2000" dirty="0"/>
          </a:p>
        </p:txBody>
      </p:sp>
      <p:sp>
        <p:nvSpPr>
          <p:cNvPr id="7" name="Text 3"/>
          <p:cNvSpPr txBox="1"/>
          <p:nvPr/>
        </p:nvSpPr>
        <p:spPr>
          <a:xfrm>
            <a:off x="5120640" y="3474720"/>
            <a:ext cx="3383280" cy="868680"/>
          </a:xfrm>
          <a:prstGeom prst="rect">
            <a:avLst/>
          </a:prstGeom>
          <a:noFill/>
          <a:ln/>
        </p:spPr>
        <p:txBody>
          <a:bodyPr wrap="square" lIns="0" tIns="0" rIns="0" bIns="0" rtlCol="0" anchor="t"/>
          <a:lstStyle/>
          <a:p>
            <a:pPr indent="0" marL="0">
              <a:buNone/>
            </a:pPr>
            <a:r>
              <a:rPr lang="en-US" sz="1200" dirty="0">
                <a:solidFill>
                  <a:srgbClr val="31373E"/>
                </a:solidFill>
                <a:latin typeface="Calibri" pitchFamily="34" charset="0"/>
                <a:ea typeface="Calibri" pitchFamily="34" charset="-122"/>
                <a:cs typeface="Calibri" pitchFamily="34" charset="-120"/>
              </a:rPr>
              <a:t>Model S$507 + infrastructure S$500 + 0.1 engineer S$1,200. Range S$1.8k (V4-Flash) to S$2.4k (GPT-5.5).</a:t>
            </a:r>
            <a:endParaRPr lang="en-US" sz="1200" dirty="0"/>
          </a:p>
        </p:txBody>
      </p:sp>
      <p:sp>
        <p:nvSpPr>
          <p:cNvPr id="8" name="Text 4"/>
          <p:cNvSpPr txBox="1"/>
          <p:nvPr/>
        </p:nvSpPr>
        <p:spPr>
          <a:xfrm>
            <a:off x="457200" y="4069080"/>
            <a:ext cx="4206240" cy="548640"/>
          </a:xfrm>
          <a:prstGeom prst="rect">
            <a:avLst/>
          </a:prstGeom>
          <a:noFill/>
          <a:ln/>
        </p:spPr>
        <p:txBody>
          <a:bodyPr wrap="square" lIns="0" tIns="0" rIns="0" bIns="0" rtlCol="0" anchor="t"/>
          <a:lstStyle/>
          <a:p>
            <a:pPr indent="0" marL="0">
              <a:buNone/>
            </a:pPr>
            <a:r>
              <a:rPr lang="en-US" sz="1100" dirty="0">
                <a:solidFill>
                  <a:srgbClr val="5A6470"/>
                </a:solidFill>
                <a:latin typeface="Calibri" pitchFamily="34" charset="0"/>
                <a:ea typeface="Calibri" pitchFamily="34" charset="-122"/>
                <a:cs typeface="Calibri" pitchFamily="34" charset="-120"/>
              </a:rPr>
              <a:t>Tokens per case: about 50k in, 3.5k out (our estimate: 33 KB policy in every call, 3 calls a run, ~30% re-run). 1,333 cases a month. S$1 = US$0.7727.</a:t>
            </a:r>
            <a:endParaRPr lang="en-US" sz="1100" dirty="0"/>
          </a:p>
        </p:txBody>
      </p:sp>
      <p:sp>
        <p:nvSpPr>
          <p:cNvPr id="9" name="Text 5"/>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rgbClr val="5A6470"/>
                </a:solidFill>
                <a:latin typeface="Calibri" pitchFamily="34" charset="0"/>
                <a:ea typeface="Calibri" pitchFamily="34" charset="-122"/>
                <a:cs typeface="Calibri" pitchFamily="34" charset="-120"/>
              </a:rPr>
              <a:t>Verified = Tencent Cloud published prices (ADP, EdgeOne, TKE); Estimate = no Singapore price retrieved, confirm in the pricing calculator. Model rates per 1k tokens.</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Reference: dispute-rate sensitivity and benchmarks</a:t>
            </a:r>
            <a:endParaRPr lang="en-US" sz="3000" dirty="0"/>
          </a:p>
        </p:txBody>
      </p:sp>
      <p:graphicFrame>
        <p:nvGraphicFramePr>
          <p:cNvPr id="10" name="sensitivity table"/>
          <p:cNvGraphicFramePr>
            <a:graphicFrameLocks noGrp="1"/>
          </p:cNvGraphicFramePr>
          <p:nvPr>
            <p:extLst>
              <p:ext uri="{D42A27DB-BD31-4B8C-83A1-F6EECF244321}">
                <p14:modId xmlns:p14="http://schemas.microsoft.com/office/powerpoint/2010/main" val="1579011935"/>
              </p:ext>
            </p:extLst>
          </p:nvPr>
        </p:nvGraphicFramePr>
        <p:xfrm>
          <a:off x="457200" y="1143000"/>
          <a:ext cx="5303520" cy="914400"/>
        </p:xfrm>
        <a:graphic>
          <a:graphicData uri="http://schemas.openxmlformats.org/drawingml/2006/table">
            <a:tbl>
              <a:tblPr/>
              <a:tblGrid>
                <a:gridCol w="1554480"/>
                <a:gridCol w="1252728"/>
                <a:gridCol w="1252728"/>
                <a:gridCol w="1243584"/>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Disputes, % of trips</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Growth 0%</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Growth 10%</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Growth 17%</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r>
              <a:tr h="329184">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B3264A"/>
                          </a:solidFill>
                          <a:latin typeface="Calibri" pitchFamily="34" charset="0"/>
                          <a:ea typeface="Calibri" pitchFamily="34" charset="-122"/>
                          <a:cs typeface="Calibri" pitchFamily="34" charset="-120"/>
                        </a:rPr>
                        <a:t>−102k · none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B3264A"/>
                          </a:solidFill>
                          <a:latin typeface="Calibri" pitchFamily="34" charset="0"/>
                          <a:ea typeface="Calibri" pitchFamily="34" charset="-122"/>
                          <a:cs typeface="Calibri" pitchFamily="34" charset="-120"/>
                        </a:rPr>
                        <a:t>−94k · none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B3264A"/>
                          </a:solidFill>
                          <a:latin typeface="Calibri" pitchFamily="34" charset="0"/>
                          <a:ea typeface="Calibri" pitchFamily="34" charset="-122"/>
                          <a:cs typeface="Calibri" pitchFamily="34" charset="-120"/>
                        </a:rPr>
                        <a:t>−89k · none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29184">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B3264A"/>
                          </a:solidFill>
                          <a:latin typeface="Calibri" pitchFamily="34" charset="0"/>
                          <a:ea typeface="Calibri" pitchFamily="34" charset="-122"/>
                          <a:cs typeface="Calibri" pitchFamily="34" charset="-120"/>
                        </a:rPr>
                        <a:t>−39k · none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B3264A"/>
                          </a:solidFill>
                          <a:latin typeface="Calibri" pitchFamily="34" charset="0"/>
                          <a:ea typeface="Calibri" pitchFamily="34" charset="-122"/>
                          <a:cs typeface="Calibri" pitchFamily="34" charset="-120"/>
                        </a:rPr>
                        <a:t>−24k · none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B3264A"/>
                          </a:solidFill>
                          <a:latin typeface="Calibri" pitchFamily="34" charset="0"/>
                          <a:ea typeface="Calibri" pitchFamily="34" charset="-122"/>
                          <a:cs typeface="Calibri" pitchFamily="34" charset="-120"/>
                        </a:rPr>
                        <a:t>−13k · none</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29184">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+86k · m22</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+117k · m21</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b="1" dirty="0">
                          <a:solidFill>
                            <a:srgbClr val="31373E"/>
                          </a:solidFill>
                          <a:latin typeface="Calibri" pitchFamily="34" charset="0"/>
                          <a:ea typeface="Calibri" pitchFamily="34" charset="-122"/>
                          <a:cs typeface="Calibri" pitchFamily="34" charset="-120"/>
                        </a:rPr>
                        <a:t>+140k · m20</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29184">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+211k · m16</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+258k · m15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+292k · m15</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329184">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+337k · m13</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+399k · m13</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+445k · m13</a:t>
                      </a:r>
                      <a:endParaRPr lang="en-US" sz="1200" dirty="0">
                        <a:latin typeface="Calibri" charset="0"/>
                        <a:ea typeface="Calibri" charset="0"/>
                        <a:cs typeface="Calibri" charset="0"/>
                      </a:endParaRPr>
                    </a:p>
                  </a:txBody>
                  <a:tcPr marL="73152" marR="73152" marT="18288" marB="18288"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4" name="Text 1"/>
          <p:cNvSpPr txBox="1"/>
          <p:nvPr/>
        </p:nvSpPr>
        <p:spPr>
          <a:xfrm>
            <a:off x="457200" y="3291840"/>
            <a:ext cx="5303520" cy="548640"/>
          </a:xfrm>
          <a:prstGeom prst="rect">
            <a:avLst/>
          </a:prstGeom>
          <a:noFill/>
          <a:ln/>
        </p:spPr>
        <p:txBody>
          <a:bodyPr wrap="square" lIns="0" tIns="0" rIns="0" bIns="0" rtlCol="0" anchor="t"/>
          <a:lstStyle/>
          <a:p>
            <a:pPr indent="0" marL="0">
              <a:buNone/>
            </a:pPr>
            <a:r>
              <a:rPr lang="en-US" sz="1200" dirty="0">
                <a:solidFill>
                  <a:srgbClr val="5A6470"/>
                </a:solidFill>
                <a:latin typeface="Calibri" pitchFamily="34" charset="0"/>
                <a:ea typeface="Calibri" pitchFamily="34" charset="-122"/>
                <a:cs typeface="Calibri" pitchFamily="34" charset="-120"/>
              </a:rPr>
              <a:t>Cells: 3-year net saving in S$k (build included) · payback month. Break-even rate over 3 years: about 0.66% of trips at flat volume, 0.59% at 10% growth.</a:t>
            </a:r>
            <a:endParaRPr lang="en-US" sz="1200" dirty="0"/>
          </a:p>
        </p:txBody>
      </p:sp>
      <p:sp>
        <p:nvSpPr>
          <p:cNvPr id="5" name="benchmarks box"/>
          <p:cNvSpPr/>
          <p:nvPr/>
        </p:nvSpPr>
        <p:spPr>
          <a:xfrm>
            <a:off x="5989320" y="1143000"/>
            <a:ext cx="2697480" cy="3383280"/>
          </a:xfrm>
          <a:prstGeom prst="roundRect">
            <a:avLst>
              <a:gd name="adj" fmla="val 2712"/>
            </a:avLst>
          </a:prstGeom>
          <a:solidFill>
            <a:srgbClr val="F7DDE3"/>
          </a:solidFill>
          <a:ln w="12700">
            <a:solidFill>
              <a:srgbClr val="F7DDE3"/>
            </a:solidFill>
            <a:prstDash val="solid"/>
          </a:ln>
        </p:spPr>
      </p:sp>
      <p:sp>
        <p:nvSpPr>
          <p:cNvPr id="6" name="Text 3"/>
          <p:cNvSpPr txBox="1"/>
          <p:nvPr/>
        </p:nvSpPr>
        <p:spPr>
          <a:xfrm>
            <a:off x="6172200" y="1280160"/>
            <a:ext cx="2377440" cy="256032"/>
          </a:xfrm>
          <a:prstGeom prst="rect">
            <a:avLst/>
          </a:prstGeom>
          <a:noFill/>
          <a:ln/>
        </p:spPr>
        <p:txBody>
          <a:bodyPr wrap="square" lIns="0" tIns="0" rIns="0" bIns="0" rtlCol="0" anchor="t"/>
          <a:lstStyle/>
          <a:p>
            <a:pPr indent="0" marL="0">
              <a:buNone/>
            </a:pPr>
            <a:r>
              <a:rPr lang="en-US" sz="1100" b="1" spc="100" kern="0" dirty="0">
                <a:solidFill>
                  <a:srgbClr val="E93864"/>
                </a:solidFill>
                <a:latin typeface="Calibri" pitchFamily="34" charset="0"/>
                <a:ea typeface="Calibri" pitchFamily="34" charset="-122"/>
                <a:cs typeface="Calibri" pitchFamily="34" charset="-120"/>
              </a:rPr>
              <a:t>REFERENCE POINTS</a:t>
            </a:r>
            <a:endParaRPr lang="en-US" sz="1100" dirty="0"/>
          </a:p>
        </p:txBody>
      </p:sp>
      <p:sp>
        <p:nvSpPr>
          <p:cNvPr id="7" name="Text 4"/>
          <p:cNvSpPr txBox="1"/>
          <p:nvPr/>
        </p:nvSpPr>
        <p:spPr>
          <a:xfrm>
            <a:off x="6172200" y="1600200"/>
            <a:ext cx="2377440" cy="2834640"/>
          </a:xfrm>
          <a:prstGeom prst="rect">
            <a:avLst/>
          </a:prstGeom>
          <a:noFill/>
          <a:ln/>
        </p:spPr>
        <p:txBody>
          <a:bodyPr wrap="square" lIns="0" tIns="0" rIns="0" bIns="0" rtlCol="0" anchor="t"/>
          <a:lstStyle/>
          <a:p>
            <a:pPr indent="0" marL="0">
              <a:spcAft>
                <a:spcPts val="600"/>
              </a:spcAft>
              <a:buNone/>
            </a:pPr>
            <a:r>
              <a:rPr lang="en-US" sz="1200" b="1" dirty="0">
                <a:solidFill>
                  <a:srgbClr val="31373E"/>
                </a:solidFill>
                <a:latin typeface="Calibri" pitchFamily="34" charset="0"/>
                <a:ea typeface="Calibri" pitchFamily="34" charset="-122"/>
                <a:cs typeface="Calibri" pitchFamily="34" charset="-120"/>
              </a:rPr>
              <a:t>Grab: </a:t>
            </a:r>
            <a:pPr indent="0" marL="0">
              <a:spcAft>
                <a:spcPts val="600"/>
              </a:spcAft>
              <a:buNone/>
            </a:pPr>
            <a:r>
              <a:rPr lang="en-US" sz="1200" dirty="0">
                <a:solidFill>
                  <a:srgbClr val="31373E"/>
                </a:solidFill>
                <a:latin typeface="Calibri" pitchFamily="34" charset="0"/>
                <a:ea typeface="Calibri" pitchFamily="34" charset="-122"/>
                <a:cs typeface="Calibri" pitchFamily="34" charset="-120"/>
              </a:rPr>
              <a:t>publishes no dispute or contact rate.</a:t>
            </a:r>
            <a:endParaRPr lang="en-US" sz="1200" dirty="0"/>
          </a:p>
          <a:p>
            <a:pPr indent="0" marL="0">
              <a:spcAft>
                <a:spcPts val="600"/>
              </a:spcAft>
              <a:buNone/>
            </a:pPr>
            <a:r>
              <a:rPr lang="en-US" sz="1200" b="1" dirty="0">
                <a:solidFill>
                  <a:srgbClr val="31373E"/>
                </a:solidFill>
                <a:latin typeface="Calibri" pitchFamily="34" charset="0"/>
                <a:ea typeface="Calibri" pitchFamily="34" charset="-122"/>
                <a:cs typeface="Calibri" pitchFamily="34" charset="-120"/>
              </a:rPr>
              <a:t>Uber: </a:t>
            </a:r>
            <a:pPr indent="0" marL="0">
              <a:spcAft>
                <a:spcPts val="600"/>
              </a:spcAft>
              <a:buNone/>
            </a:pPr>
            <a:r>
              <a:rPr lang="en-US" sz="1200" dirty="0">
                <a:solidFill>
                  <a:srgbClr val="31373E"/>
                </a:solidFill>
                <a:latin typeface="Calibri" pitchFamily="34" charset="0"/>
                <a:ea typeface="Calibri" pitchFamily="34" charset="-122"/>
                <a:cs typeface="Calibri" pitchFamily="34" charset="-120"/>
              </a:rPr>
              <a:t>about 1.3 support contacts per 100 trips, all topics (3M tickets a week ÷ about 288M trips a week). Disputes are a subset.</a:t>
            </a:r>
            <a:endParaRPr lang="en-US" sz="1200" dirty="0"/>
          </a:p>
          <a:p>
            <a:pPr indent="0" marL="0">
              <a:spcAft>
                <a:spcPts val="600"/>
              </a:spcAft>
              <a:buNone/>
            </a:pPr>
            <a:r>
              <a:rPr lang="en-US" sz="1200" b="1" dirty="0">
                <a:solidFill>
                  <a:srgbClr val="31373E"/>
                </a:solidFill>
                <a:latin typeface="Calibri" pitchFamily="34" charset="0"/>
                <a:ea typeface="Calibri" pitchFamily="34" charset="-122"/>
                <a:cs typeface="Calibri" pitchFamily="34" charset="-120"/>
              </a:rPr>
              <a:t>Ryde (verified): </a:t>
            </a:r>
            <a:pPr indent="0" marL="0">
              <a:spcAft>
                <a:spcPts val="600"/>
              </a:spcAft>
              <a:buNone/>
            </a:pPr>
            <a:r>
              <a:rPr lang="en-US" sz="1200" dirty="0">
                <a:solidFill>
                  <a:srgbClr val="31373E"/>
                </a:solidFill>
                <a:latin typeface="Calibri" pitchFamily="34" charset="0"/>
                <a:ea typeface="Calibri" pitchFamily="34" charset="-122"/>
                <a:cs typeface="Calibri" pitchFamily="34" charset="-120"/>
              </a:rPr>
              <a:t>revenue +17%, mobility +8%.</a:t>
            </a:r>
            <a:endParaRPr lang="en-US" sz="1200" dirty="0"/>
          </a:p>
        </p:txBody>
      </p:sp>
      <p:sp>
        <p:nvSpPr>
          <p:cNvPr id="8" name="Text 5"/>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rgbClr val="5A6470"/>
                </a:solidFill>
                <a:latin typeface="Calibri" pitchFamily="34" charset="0"/>
                <a:ea typeface="Calibri" pitchFamily="34" charset="-122"/>
                <a:cs typeface="Calibri" pitchFamily="34" charset="-120"/>
              </a:rPr>
              <a:t>Sources: Uber engineering blog (Feb 2024); Uber FY2025 10-K (Q4 trips 3,751M); Ryde 1H 2026 results. The Uber figure is derived from figures two years apart: a rough indicator only.</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Reference: how it plugs into Ryde</a:t>
            </a:r>
            <a:endParaRPr lang="en-US" sz="3000" dirty="0"/>
          </a:p>
        </p:txBody>
      </p:sp>
      <p:graphicFrame>
        <p:nvGraphicFramePr>
          <p:cNvPr id="11" name="integration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114800"/>
                <a:gridCol w="41148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Ryde does</a:t>
                      </a:r>
                      <a:endParaRPr lang="en-US" sz="13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service does</a:t>
                      </a:r>
                      <a:endParaRPr lang="en-US" sz="13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31373E"/>
                    </a:solidFill>
                  </a:tcPr>
                </a:tc>
              </a:tr>
              <a:tr h="512064">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Sends dispute.created with trip id, category, claim</a:t>
                      </a:r>
                      <a:endParaRPr lang="en-US" sz="12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Reads evidence read-only, builds the Evidence Pack, runs the agents</a:t>
                      </a:r>
                      <a:endParaRPr lang="en-US" sz="12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12064">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Shows status in its own ticket screen</a:t>
                      </a:r>
                      <a:endParaRPr lang="en-US" sz="12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Returns ruling.issued, ruling.withheld, needs_info or human_review</a:t>
                      </a:r>
                      <a:endParaRPr lang="en-US" sz="12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12064">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Applies the refund (wallet or original method), idempotently</a:t>
                      </a:r>
                      <a:endParaRPr lang="en-US" sz="12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Never moves money, never talks to the rider’s app</a:t>
                      </a:r>
                      <a:endParaRPr lang="en-US" sz="12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512064">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Opens the case file inside its CS tool, behind SSO</a:t>
                      </a:r>
                      <a:endParaRPr lang="en-US" sz="12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indent="0" marL="0">
                        <a:buNone/>
                      </a:pPr>
                      <a:r>
                        <a:rPr lang="en-US" sz="1200" dirty="0">
                          <a:solidFill>
                            <a:srgbClr val="31373E"/>
                          </a:solidFill>
                          <a:latin typeface="Calibri" pitchFamily="34" charset="0"/>
                          <a:ea typeface="Calibri" pitchFamily="34" charset="-122"/>
                          <a:cs typeface="Calibri" pitchFamily="34" charset="-120"/>
                        </a:rPr>
                        <a:t>Records every reviewer decision and who made it</a:t>
                      </a:r>
                      <a:endParaRPr lang="en-US" sz="1200" dirty="0">
                        <a:latin typeface="Calibri" charset="0"/>
                        <a:ea typeface="Calibri" charset="0"/>
                        <a:cs typeface="Calibri" charset="0"/>
                      </a:endParaRPr>
                    </a:p>
                  </a:txBody>
                  <a:tcPr marL="91440" marR="91440" marT="27432" marB="27432"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4" name="Text 1"/>
          <p:cNvSpPr txBox="1"/>
          <p:nvPr/>
        </p:nvSpPr>
        <p:spPr>
          <a:xfrm>
            <a:off x="457200" y="3611880"/>
            <a:ext cx="8229600" cy="9601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31373E"/>
                </a:solidFill>
                <a:latin typeface="Calibri" pitchFamily="34" charset="0"/>
                <a:ea typeface="Calibri" pitchFamily="34" charset="-122"/>
                <a:cs typeface="Calibri" pitchFamily="34" charset="-120"/>
              </a:rPr>
              <a:t>Trip and category are pre-filled from the rider’s session: no one picks a trip by hand.</a:t>
            </a:r>
            <a:endParaRPr lang="en-US" sz="1300" dirty="0"/>
          </a:p>
          <a:p>
            <a:pPr marL="342900" indent="-342900">
              <a:spcAft>
                <a:spcPts val="400"/>
              </a:spcAft>
              <a:buSzPct val="100000"/>
              <a:buChar char="•"/>
            </a:pPr>
            <a:r>
              <a:rPr lang="en-US" sz="1300" dirty="0">
                <a:solidFill>
                  <a:srgbClr val="31373E"/>
                </a:solidFill>
                <a:latin typeface="Calibri" pitchFamily="34" charset="0"/>
                <a:ea typeface="Calibri" pitchFamily="34" charset="-122"/>
                <a:cs typeface="Calibri" pitchFamily="34" charset="-120"/>
              </a:rPr>
              <a:t>The party view stays a five-key allowlist: no confidence, no model text.</a:t>
            </a:r>
            <a:endParaRPr lang="en-US" sz="1300" dirty="0"/>
          </a:p>
          <a:p>
            <a:pPr marL="342900" indent="-342900">
              <a:spcAft>
                <a:spcPts val="400"/>
              </a:spcAft>
              <a:buSzPct val="100000"/>
              <a:buChar char="•"/>
            </a:pPr>
            <a:r>
              <a:rPr lang="en-US" sz="1300" dirty="0">
                <a:solidFill>
                  <a:srgbClr val="31373E"/>
                </a:solidFill>
                <a:latin typeface="Calibri" pitchFamily="34" charset="0"/>
                <a:ea typeface="Calibri" pitchFamily="34" charset="-122"/>
                <a:cs typeface="Calibri" pitchFamily="34" charset="-120"/>
              </a:rPr>
              <a:t>Callbacks are signed and at-least-once; every write carries an idempotency key.</a:t>
            </a:r>
            <a:endParaRPr lang="en-US" sz="1300" dirty="0"/>
          </a:p>
        </p:txBody>
      </p:sp>
      <p:sp>
        <p:nvSpPr>
          <p:cNvPr id="5" name="Text 2"/>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rgbClr val="5A6470"/>
                </a:solidFill>
                <a:latin typeface="Calibri" pitchFamily="34" charset="0"/>
                <a:ea typeface="Calibri" pitchFamily="34" charset="-122"/>
                <a:cs typeface="Calibri" pitchFamily="34" charset="-120"/>
              </a:rPr>
              <a:t>Contract: tools/deployment/openapi.json (proposal, not a deployed API).</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Reference: controls and honest limits</a:t>
            </a:r>
            <a:endParaRPr lang="en-US" sz="3000" dirty="0"/>
          </a:p>
        </p:txBody>
      </p:sp>
      <p:sp>
        <p:nvSpPr>
          <p:cNvPr id="3" name="card"/>
          <p:cNvSpPr/>
          <p:nvPr/>
        </p:nvSpPr>
        <p:spPr>
          <a:xfrm>
            <a:off x="457200" y="1143000"/>
            <a:ext cx="4023360" cy="2926080"/>
          </a:xfrm>
          <a:prstGeom prst="roundRect">
            <a:avLst>
              <a:gd name="adj" fmla="val 2500"/>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280160"/>
            <a:ext cx="3657600" cy="256032"/>
          </a:xfrm>
          <a:prstGeom prst="rect">
            <a:avLst/>
          </a:prstGeom>
          <a:noFill/>
          <a:ln/>
        </p:spPr>
        <p:txBody>
          <a:bodyPr wrap="square" lIns="0" tIns="0" rIns="0" bIns="0" rtlCol="0" anchor="t"/>
          <a:lstStyle/>
          <a:p>
            <a:pPr indent="0" marL="0">
              <a:buNone/>
            </a:pPr>
            <a:r>
              <a:rPr lang="en-US" sz="1100" b="1" spc="100" kern="0" dirty="0">
                <a:solidFill>
                  <a:srgbClr val="E93864"/>
                </a:solidFill>
                <a:latin typeface="Calibri" pitchFamily="34" charset="0"/>
                <a:ea typeface="Calibri" pitchFamily="34" charset="-122"/>
                <a:cs typeface="Calibri" pitchFamily="34" charset="-120"/>
              </a:rPr>
              <a:t>CONTROLS FROM DAY ONE</a:t>
            </a:r>
            <a:endParaRPr lang="en-US" sz="1100" dirty="0"/>
          </a:p>
        </p:txBody>
      </p:sp>
      <p:sp>
        <p:nvSpPr>
          <p:cNvPr id="5" name="Text 3"/>
          <p:cNvSpPr txBox="1"/>
          <p:nvPr/>
        </p:nvSpPr>
        <p:spPr>
          <a:xfrm>
            <a:off x="640080" y="1600200"/>
            <a:ext cx="3657600" cy="28346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SGD 50 cap and 0.65 confidence floor, enforced in code</a:t>
            </a:r>
            <a:endParaRPr lang="en-US" sz="1300" dirty="0"/>
          </a:p>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Kill switch that withholds every ruling</a:t>
            </a:r>
            <a:endParaRPr lang="en-US" sz="1300" dirty="0"/>
          </a:p>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PII redaction before any model call</a:t>
            </a:r>
            <a:endParaRPr lang="en-US" sz="1300" dirty="0"/>
          </a:p>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Singapore data residency, retention and a delete job</a:t>
            </a:r>
            <a:endParaRPr lang="en-US" sz="1300" dirty="0"/>
          </a:p>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Every reviewer decision logged with who made it</a:t>
            </a:r>
            <a:endParaRPr lang="en-US" sz="1300" dirty="0"/>
          </a:p>
        </p:txBody>
      </p:sp>
      <p:sp>
        <p:nvSpPr>
          <p:cNvPr id="6" name="card"/>
          <p:cNvSpPr/>
          <p:nvPr/>
        </p:nvSpPr>
        <p:spPr>
          <a:xfrm>
            <a:off x="4663440" y="1143000"/>
            <a:ext cx="4023360" cy="2926080"/>
          </a:xfrm>
          <a:prstGeom prst="roundRect">
            <a:avLst>
              <a:gd name="adj" fmla="val 2500"/>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4846320" y="1280160"/>
            <a:ext cx="3657600" cy="256032"/>
          </a:xfrm>
          <a:prstGeom prst="rect">
            <a:avLst/>
          </a:prstGeom>
          <a:noFill/>
          <a:ln/>
        </p:spPr>
        <p:txBody>
          <a:bodyPr wrap="square" lIns="0" tIns="0" rIns="0" bIns="0" rtlCol="0" anchor="t"/>
          <a:lstStyle/>
          <a:p>
            <a:pPr indent="0" marL="0">
              <a:buNone/>
            </a:pPr>
            <a:r>
              <a:rPr lang="en-US" sz="1100" b="1" spc="100" kern="0" dirty="0">
                <a:solidFill>
                  <a:srgbClr val="E93864"/>
                </a:solidFill>
                <a:latin typeface="Calibri" pitchFamily="34" charset="0"/>
                <a:ea typeface="Calibri" pitchFamily="34" charset="-122"/>
                <a:cs typeface="Calibri" pitchFamily="34" charset="-120"/>
              </a:rPr>
              <a:t>HONEST LIMITS</a:t>
            </a:r>
            <a:endParaRPr lang="en-US" sz="1100" dirty="0"/>
          </a:p>
        </p:txBody>
      </p:sp>
      <p:sp>
        <p:nvSpPr>
          <p:cNvPr id="8" name="Text 6"/>
          <p:cNvSpPr txBox="1"/>
          <p:nvPr/>
        </p:nvSpPr>
        <p:spPr>
          <a:xfrm>
            <a:off x="4846320" y="1600200"/>
            <a:ext cx="3657600" cy="28346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Policy is synthesised: Ryde ops, legal and finance adopt it before autonomy</a:t>
            </a:r>
            <a:endParaRPr lang="en-US" sz="1300" dirty="0"/>
          </a:p>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17 labelled cases show consistency, not real-world accuracy</a:t>
            </a:r>
            <a:endParaRPr lang="en-US" sz="1300" dirty="0"/>
          </a:p>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No platform publishes its dispute rate; ours is an assumption until shadow mode</a:t>
            </a:r>
            <a:endParaRPr lang="en-US" sz="1300" dirty="0"/>
          </a:p>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Needs a paid ADP plan; capacity is about model calls per minute ÷ 4</a:t>
            </a:r>
            <a:endParaRPr lang="en-US" sz="1300" dirty="0"/>
          </a:p>
          <a:p>
            <a:pPr marL="342900" indent="-342900">
              <a:spcAft>
                <a:spcPts val="600"/>
              </a:spcAft>
              <a:buSzPct val="100000"/>
              <a:buChar char="•"/>
            </a:pPr>
            <a:r>
              <a:rPr lang="en-US" sz="1300" dirty="0">
                <a:solidFill>
                  <a:srgbClr val="31373E"/>
                </a:solidFill>
                <a:latin typeface="Calibri" pitchFamily="34" charset="0"/>
                <a:ea typeface="Calibri" pitchFamily="34" charset="-122"/>
                <a:cs typeface="Calibri" pitchFamily="34" charset="-120"/>
              </a:rPr>
              <a:t>Some cloud prices are estimates (slide 8)</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Reference: system architecture</a:t>
            </a:r>
            <a:endParaRPr lang="en-US" sz="3000" dirty="0"/>
          </a:p>
        </p:txBody>
      </p:sp>
      <p:pic>
        <p:nvPicPr>
          <p:cNvPr id="3" name="Image 0" descr="System architecture flow: intake forms and the command-line runner feed the server; a category check routes out-of-scope disputes to human review and the two handled categories to the Evidence Pack; Rider and Driver Advocates, with the policy document, argue; a question check either asks the party once or sends both cases to the Judge; code gates then decide whether the ruling is issued or withheld for human review; every step emits an event that the operator console shows.">    </p:cNvPr>
          <p:cNvPicPr>
            <a:picLocks noChangeAspect="1"/>
          </p:cNvPicPr>
          <p:nvPr/>
        </p:nvPicPr>
        <p:blipFill>
          <a:blip r:embed="rId1"/>
          <a:stretch>
            <a:fillRect/>
          </a:stretch>
        </p:blipFill>
        <p:spPr>
          <a:xfrm>
            <a:off x="274320" y="1024128"/>
            <a:ext cx="8595360" cy="3781958"/>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yde Dispute Pitch">
  <a:themeElements>
    <a:clrScheme name="Ryde Dispute Pitch">
      <a:dk1>
        <a:srgbClr val="31373E"/>
      </a:dk1>
      <a:lt1>
        <a:srgbClr val="FFFFFF"/>
      </a:lt1>
      <a:dk2>
        <a:srgbClr val="5A6470"/>
      </a:dk2>
      <a:lt2>
        <a:srgbClr val="F7DDE3"/>
      </a:lt2>
      <a:accent1>
        <a:srgbClr val="E93864"/>
      </a:accent1>
      <a:accent2>
        <a:srgbClr val="31373E"/>
      </a:accent2>
      <a:accent3>
        <a:srgbClr val="8A94A0"/>
      </a:accent3>
      <a:accent4>
        <a:srgbClr val="F6A5B8"/>
      </a:accent4>
      <a:accent5>
        <a:srgbClr val="B3264A"/>
      </a:accent5>
      <a:accent6>
        <a:srgbClr val="D9DEE4"/>
      </a:accent6>
      <a:hlink>
        <a:srgbClr val="E93864"/>
      </a:hlink>
      <a:folHlink>
        <a:srgbClr val="5A6470"/>
      </a:folHlink>
    </a:clrScheme>
    <a:fontScheme name="Ryde Dispute Pit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Ryde: Multi-Agent Autonomous Dispute Resolution</dc:title>
  <dc:subject>PptxGenJS Presentation</dc:subject>
  <dc:creator>Ryde dispute resolution team</dc:creator>
  <cp:lastModifiedBy>Ryde dispute resolution team</cp:lastModifiedBy>
  <cp:revision>1</cp:revision>
  <dcterms:created xsi:type="dcterms:W3CDTF">2026-10-10T16:32:39Z</dcterms:created>
  <dcterms:modified xsi:type="dcterms:W3CDTF">2026-10-10T16:32:39Z</dcterms:modified>
</cp:coreProperties>
</file>