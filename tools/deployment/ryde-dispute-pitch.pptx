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A6470"/>
                </a:solidFill>
                <a:latin typeface="Calibri"/>
              </a:defRPr>
            </a:pPr>
            <a:r>
              <a:rPr sz="1200" b="0" i="0" u="none" strike="noStrike">
                <a:solidFill>
                  <a:srgbClr val="5A6470"/>
                </a:solidFill>
                <a:latin typeface="Calibri"/>
              </a:rPr>
              <a:t>Cumulative spend on in-scope disputes, S$k</a:t>
            </a:r>
          </a:p>
        </c:rich>
      </c:tx>
      <c:layout/>
      <c:overlay val="0"/>
    </c:title>
    <c:autoTitleDeleted val="0"/>
    <c:plotArea>
      <c:layout/>
      <c:lineChart>
        <c:varyColors val="0"/>
        <c:ser>
          <c:idx val="0"/>
          <c:order val="0"/>
          <c:tx>
            <c:strRef>
              <c:f>Sheet1!$B$1</c:f>
              <c:strCache>
                <c:ptCount val="1"/>
                <c:pt idx="0">
                  <c:v>Do nothing (manual handling)</c:v>
                </c:pt>
              </c:strCache>
            </c:strRef>
          </c:tx>
          <c:spPr>
            <a:solidFill>
              <a:srgbClr val="31373E"/>
            </a:solidFill>
            <a:ln w="38100" cap="flat">
              <a:solidFill>
                <a:srgbClr val="31373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1373E"/>
              </a:solidFill>
              <a:ln w="9525" cap="flat">
                <a:solidFill>
                  <a:srgbClr val="31373E"/>
                </a:solidFill>
                <a:prstDash val="solid"/>
                <a:round/>
              </a:ln>
              <a:effectLst/>
            </c:spPr>
          </c:marker>
          <c:cat>
            <c:multiLvlStrRef>
              <c:f>Sheet1!$A$2:$A$38</c:f>
              <c:multiLvlStrCache>
                <c:ptCount val="37"/>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lvl>
              </c:multiLvlStrCache>
            </c:multiLvlStrRef>
          </c:cat>
          <c:val>
            <c:numRef>
              <c:f>Sheet1!$B$2:$B$38</c:f>
              <c:numCache>
                <c:formatCode>General</c:formatCode>
                <c:ptCount val="37"/>
                <c:pt idx="0">
                  <c:v>0</c:v>
                </c:pt>
                <c:pt idx="1">
                  <c:v>10</c:v>
                </c:pt>
                <c:pt idx="2">
                  <c:v>20</c:v>
                </c:pt>
                <c:pt idx="3">
                  <c:v>30</c:v>
                </c:pt>
                <c:pt idx="4">
                  <c:v>40</c:v>
                </c:pt>
                <c:pt idx="5">
                  <c:v>50</c:v>
                </c:pt>
                <c:pt idx="6">
                  <c:v>60</c:v>
                </c:pt>
                <c:pt idx="7">
                  <c:v>70</c:v>
                </c:pt>
                <c:pt idx="8">
                  <c:v>80</c:v>
                </c:pt>
                <c:pt idx="9">
                  <c:v>90</c:v>
                </c:pt>
                <c:pt idx="10">
                  <c:v>100</c:v>
                </c:pt>
                <c:pt idx="11">
                  <c:v>110</c:v>
                </c:pt>
                <c:pt idx="12">
                  <c:v>120</c:v>
                </c:pt>
                <c:pt idx="13">
                  <c:v>131</c:v>
                </c:pt>
                <c:pt idx="14">
                  <c:v>142</c:v>
                </c:pt>
                <c:pt idx="15">
                  <c:v>153</c:v>
                </c:pt>
                <c:pt idx="16">
                  <c:v>164</c:v>
                </c:pt>
                <c:pt idx="17">
                  <c:v>175</c:v>
                </c:pt>
                <c:pt idx="18">
                  <c:v>186</c:v>
                </c:pt>
                <c:pt idx="19">
                  <c:v>197</c:v>
                </c:pt>
                <c:pt idx="20">
                  <c:v>208</c:v>
                </c:pt>
                <c:pt idx="21">
                  <c:v>219</c:v>
                </c:pt>
                <c:pt idx="22">
                  <c:v>230</c:v>
                </c:pt>
                <c:pt idx="23">
                  <c:v>241</c:v>
                </c:pt>
                <c:pt idx="24">
                  <c:v>252</c:v>
                </c:pt>
                <c:pt idx="25">
                  <c:v>264.1</c:v>
                </c:pt>
                <c:pt idx="26">
                  <c:v>276.2</c:v>
                </c:pt>
                <c:pt idx="27">
                  <c:v>288.3</c:v>
                </c:pt>
                <c:pt idx="28">
                  <c:v>300.4</c:v>
                </c:pt>
                <c:pt idx="29">
                  <c:v>312.5</c:v>
                </c:pt>
                <c:pt idx="30">
                  <c:v>324.6</c:v>
                </c:pt>
                <c:pt idx="31">
                  <c:v>336.7</c:v>
                </c:pt>
                <c:pt idx="32">
                  <c:v>348.8</c:v>
                </c:pt>
                <c:pt idx="33">
                  <c:v>360.9</c:v>
                </c:pt>
                <c:pt idx="34">
                  <c:v>373</c:v>
                </c:pt>
                <c:pt idx="35">
                  <c:v>385.1</c:v>
                </c:pt>
                <c:pt idx="36">
                  <c:v>397.2</c:v>
                </c:pt>
              </c:numCache>
            </c:numRef>
          </c:val>
          <c:smooth val="0"/>
        </c:ser>
        <c:ser>
          <c:idx val="1"/>
          <c:order val="1"/>
          <c:tx>
            <c:strRef>
              <c:f>Sheet1!$C$1</c:f>
              <c:strCache>
                <c:ptCount val="1"/>
                <c:pt idx="0">
                  <c:v>With our system (staff time + tokens + remaining manual)</c:v>
                </c:pt>
              </c:strCache>
            </c:strRef>
          </c:tx>
          <c:spPr>
            <a:solidFill>
              <a:srgbClr val="E93864"/>
            </a:solidFill>
            <a:ln w="38100" cap="flat">
              <a:solidFill>
                <a:srgbClr val="E9386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93864"/>
              </a:solidFill>
              <a:ln w="9525" cap="flat">
                <a:solidFill>
                  <a:srgbClr val="E93864"/>
                </a:solidFill>
                <a:prstDash val="solid"/>
                <a:round/>
              </a:ln>
              <a:effectLst/>
            </c:spPr>
          </c:marker>
          <c:cat>
            <c:multiLvlStrRef>
              <c:f>Sheet1!$A$2:$A$38</c:f>
              <c:multiLvlStrCache>
                <c:ptCount val="37"/>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lvl>
              </c:multiLvlStrCache>
            </c:multiLvlStrRef>
          </c:cat>
          <c:val>
            <c:numRef>
              <c:f>Sheet1!$C$2:$C$38</c:f>
              <c:numCache>
                <c:formatCode>General</c:formatCode>
                <c:ptCount val="37"/>
                <c:pt idx="0">
                  <c:v>0</c:v>
                </c:pt>
                <c:pt idx="1">
                  <c:v>40</c:v>
                </c:pt>
                <c:pt idx="2">
                  <c:v>80</c:v>
                </c:pt>
                <c:pt idx="3">
                  <c:v>120</c:v>
                </c:pt>
                <c:pt idx="4">
                  <c:v>160</c:v>
                </c:pt>
                <c:pt idx="5">
                  <c:v>170</c:v>
                </c:pt>
                <c:pt idx="6">
                  <c:v>180</c:v>
                </c:pt>
                <c:pt idx="7">
                  <c:v>184.2</c:v>
                </c:pt>
                <c:pt idx="8">
                  <c:v>188.4</c:v>
                </c:pt>
                <c:pt idx="9">
                  <c:v>192.6</c:v>
                </c:pt>
                <c:pt idx="10">
                  <c:v>194.2</c:v>
                </c:pt>
                <c:pt idx="11">
                  <c:v>195.9</c:v>
                </c:pt>
                <c:pt idx="12">
                  <c:v>197.6</c:v>
                </c:pt>
                <c:pt idx="13">
                  <c:v>199.5</c:v>
                </c:pt>
                <c:pt idx="14">
                  <c:v>201.3</c:v>
                </c:pt>
                <c:pt idx="15">
                  <c:v>203.2</c:v>
                </c:pt>
                <c:pt idx="16">
                  <c:v>205</c:v>
                </c:pt>
                <c:pt idx="17">
                  <c:v>206.9</c:v>
                </c:pt>
                <c:pt idx="18">
                  <c:v>208.7</c:v>
                </c:pt>
                <c:pt idx="19">
                  <c:v>210.5</c:v>
                </c:pt>
                <c:pt idx="20">
                  <c:v>212.4</c:v>
                </c:pt>
                <c:pt idx="21">
                  <c:v>214.2</c:v>
                </c:pt>
                <c:pt idx="22">
                  <c:v>216.1</c:v>
                </c:pt>
                <c:pt idx="23">
                  <c:v>217.9</c:v>
                </c:pt>
                <c:pt idx="24">
                  <c:v>219.8</c:v>
                </c:pt>
                <c:pt idx="25">
                  <c:v>221.8</c:v>
                </c:pt>
                <c:pt idx="26">
                  <c:v>223.9</c:v>
                </c:pt>
                <c:pt idx="27">
                  <c:v>225.9</c:v>
                </c:pt>
                <c:pt idx="28">
                  <c:v>227.9</c:v>
                </c:pt>
                <c:pt idx="29">
                  <c:v>230</c:v>
                </c:pt>
                <c:pt idx="30">
                  <c:v>232</c:v>
                </c:pt>
                <c:pt idx="31">
                  <c:v>234</c:v>
                </c:pt>
                <c:pt idx="32">
                  <c:v>236.1</c:v>
                </c:pt>
                <c:pt idx="33">
                  <c:v>238.1</c:v>
                </c:pt>
                <c:pt idx="34">
                  <c:v>240.1</c:v>
                </c:pt>
                <c:pt idx="35">
                  <c:v>242.2</c:v>
                </c:pt>
                <c:pt idx="36">
                  <c:v>244.2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A6470"/>
                    </a:solidFill>
                    <a:latin typeface="Calibri"/>
                  </a:defRPr>
                </a:pPr>
                <a:r>
                  <a:rPr sz="1100" b="0" i="0" u="none" strike="noStrike">
                    <a:solidFill>
                      <a:srgbClr val="5A6470"/>
                    </a:solidFill>
                    <a:latin typeface="Calibri"/>
                  </a:rPr>
                  <a:t>Month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470"/>
                </a:solidFill>
                <a:latin typeface="Calibri"/>
              </a:defRPr>
            </a:pPr>
            <a:endParaRPr lang="en-US"/>
          </a:p>
        </c:txPr>
        <c:crossAx val="2094734552"/>
        <c:crosses val="autoZero"/>
        <c:auto val="1"/>
        <c:lblAlgn val="ctr"/>
        <c:noMultiLvlLbl val="1"/>
        <c:tickLblSkip val="6"/>
      </c:catAx>
      <c:valAx>
        <c:axId val="2094734552"/>
        <c:scaling>
          <c:orientation val="minMax"/>
          <c:max val="400"/>
          <c:min val="0"/>
        </c:scaling>
        <c:delete val="0"/>
        <c:axPos val="l"/>
        <c:majorGridlines>
          <c:spPr>
            <a:ln w="9525" cap="flat">
              <a:solidFill>
                <a:srgbClr val="E3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470"/>
                </a:solidFill>
                <a:latin typeface="Calibri"/>
              </a:defRPr>
            </a:pPr>
            <a:endParaRPr lang="en-US"/>
          </a:p>
        </c:txPr>
        <c:crossAx val="2094734554"/>
        <c:crosses val="autoZero"/>
        <c:crossBetween val="between"/>
        <c:majorUnit val="100"/>
      </c:valAx>
      <c:spPr>
        <a:noFill/>
        <a:ln>
          <a:noFill/>
        </a:ln>
        <a:effectLst/>
      </c:spPr>
    </c:plotArea>
    <c:legend>
      <c:legendPos val="b"/>
      <c:overlay val="0"/>
      <c:txPr>
        <a:bodyPr/>
        <a:lstStyle/>
        <a:p>
          <a:pPr>
            <a:defRPr sz="1100">
              <a:solidFill>
                <a:srgbClr val="31373E"/>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0:00-0:40. Name the case study first: Digital Native track, Ryde, Multi-Agent Autonomous Dispute Resolution. One-line pitch: a Rider Advocate and a Driver Advocate build their cases, a Judge rules with a confidence score, and the AI never does the maths and never gets the last word on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0:40-1:30. Say which numbers are real. Verified from Ryde's published first-half 2026 results: revenue S$6.7M up 17%, operating loss S$2.2M. Everything under the pink ASSUMPTION label is ours, because Ryde publishes no trips, support cost or dispute volumes. Derivation: mobility revenue S$4.5M for six months, about S$9M a year; at an assumed 15% take rate and S$15 fare that is about 4 million trips a year; 1% become disputes, 40% of those are in our two categories, about 1,300 a month. At 12 minutes and S$7.50 each that is about S$120k a year. The human cost is the 24-72 hours and the inconsistency named in the challenge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1:30-2:10. The idea in one breath. Python computes the evidence first. Two advocates argue, the Judge weighs both and applies the policy by rule ID. Gates written in Python decide whether a ruling is delivered at all: the confidence floor, the SGD 50 cap, an unmeasured deviation, and the no-show and route money rules. Withheld rulings go to a human and the party only sees a neutral message. Then cut to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2:10-4:50 (about 2 min 40). Record the demo on the real Tencent model, or on the replay with its recording date shown on screen. Never present a mock run as a real ruling. Beats: file the dispute (20s); case file and event strip on RD-0109 (50s); the gate holds the SGD 55 refund against the SGD 50 cap and the rider sees only 'still under review' (40s); reviewer approves and the party status page updates (30s); NS-0202 is decided alone, refund SGD 6.61 (20s).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4:50-5:30. We propose embedding it in what Ryde already runs. A rider's report becomes a ticket in the existing CS tool; the ticket publishes a dispute event; our decision service, running in Ryde's own cluster, reads the evidence from Ryde's data services, calls the three Tencent Cloud ADP apps on DeepSeek V4 Flash, and returns a ruling or a withheld case to the same CS tool. Ryde's payments apply any refund and Ryde's CS agents review withheld cases in the tool they already use. No new infrastructure to buy: only the model calls leave Ryde. Rollout starts in shadow mode so customers see nothing while we measure agreement with human decisions. If Ryde would rather not host it, the same contract works as a hosted service: reference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5:30-6:15. Because it is embedded, the cost is Ryde's own people and the model tokens. One-off: about S$120k of staff time, two engineers for four months plus product, QA and security review: an opportunity cost, not new cash. Running: only API tokens on DeepSeek V4 Flash, about S$14 a month at our assumed volume, because it runs on Ryde's existing infrastructure and support team. Rollout is nine months to limited autonomy. Staff cost, volume and tokens per case are our assumptions; the token rates are verified from Tencent Cloud's published prices. If Flash proves too weak, DeepSeek V4 Pro is still only about S$170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6:15-7:00. Start from the do-nothing line: at our base assumptions the in-scope disputes cost about S$400k over three years if handled by hand, growing with Ryde's volume. With our system, the same period costs about S$244k: S$120k of Ryde's own staff time to embed it, a few hundred dollars of tokens, and the manual work that remains. The lines cross around month 21, the payback, and the gap at month 36 is about S$153k, a return of about 127% on the staff time. The dispute rate is the swing factor and no platform publishes it: the closest reference is Uber, whose total support contacts, all topics, are about 1.3 per 100 trips, so 1% disputed is already generous. The break-even rate is about 0.4 to 0.5%. Shadow mode measures Ryde's real rate before anything is switched on. Note that agent time is salaried too: the saving is cash only to the extent Ryde avoids hiring or outsourcing as volume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not shown in the video timeline: keep for Q&amp;A. The one-off is Ryde's own staff time: two engineers for four months at an assumed S$12,000 a month, plus product, QA and security review. It is an opportunity cost, not new cash. Running cost is API tokens only: the DeepSeek V4 Flash rates are verified from Tencent Cloud's ADP pricing, but the tokens per case (about 50k in, 3.5k out) are our estimate because the repo does not record real usage. Flash is unproven for this task: score it with the evaluation harness before go-live; V4 Pro is the fallback at about S$171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not shown in the video timeline: keep for Q&amp;A. No platform publishes its dispute rate; Grab does not, and the closest public reference is Uber's total support-contact rate of about 1.3 per 100 trips across all topics, derived from its engineering blog and 10-K. Disputes are a subset of contacts, so the 1% base is generous, and the table shows what happens at lower and higher rates and at different volume growth. Because the embedded option's running cost is only tokens, the break-even rate is low, about 0.4 to 0.5% of trips. Shadow mode replaces all of this with Ryde's measured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not shown in the video timeline: keep for Q&amp;A. The rider never leaves the Ryde app: they see 'Report a problem with this trip' and the outcome shows up as a ticket status. Because the service is embedded, it publishes and consumes events through Ryde's own CS tool and queue, reads evidence from Ryde's own services, and never moves money: Ryde's payments apply any refund, keyed by the dispute id. The integration contract is the same whether Ryde hosts the service or we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not shown in the video timeline: keep for Q&amp;A. Earn autonomy with data, not claims. Shadow mode is the first deliverable: it produces the first real accuracy number and the human-override data without risking a customer. Say the limits out loud: the policy is ours, 17 cases show consistency not accuracy, the dispute rate is an assumption, V4 Flash has not been scored on this task, and the staff-time saving is only cash if Ryde avoids hiring or outsourcing.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not shown in the video timeline: keep for Q&amp;A. This is the diagram from docs/architecture.md, re-laid out to fit a slide with the same nodes and edges. Walk it left to right: a dispute enters through the intake forms or the command-line runner; a category check sends anything outside route deviation and no-show to human review before any agent runs; the Evidence Pack is computed in Python; the two advocates argue with the policy; if they need more, the party is asked once and the run restarts with the answers; the Judge rules; the gates decide whether the ruling is delivered or withheld for a human; every step lands in the event log that the operator console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not shown in the video timeline: keep for Q&amp;A. We propose embedding in Ryde's existing system because Ryde has in-house engineers and a customer-service stack already: the cost is its own staff time, and running it is only API tokens. A hosted service is the alternative if Ryde would rather not run it: faster to start and isolated, but it needs new infrastructure and an operator. Both use the same integration contract, so the choice can be changed later. Both beat doing nothing at our base assumptions; both depend on the dispute rate, which shadow mode measures. Hosted option figures: S$90k to build, about S$0.5k a month cloud, S$14 tokens and 0.1 engineer at S$1.2k.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31373E"/>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051560"/>
            <a:ext cx="8046720" cy="320040"/>
          </a:xfrm>
          <a:prstGeom prst="rect">
            <a:avLst/>
          </a:prstGeom>
          <a:noFill/>
          <a:ln/>
        </p:spPr>
        <p:txBody>
          <a:bodyPr wrap="square" lIns="0" tIns="0" rIns="0" bIns="0" rtlCol="0" anchor="t"/>
          <a:lstStyle/>
          <a:p>
            <a:pPr indent="0" marL="0">
              <a:buNone/>
            </a:pPr>
            <a:r>
              <a:rPr lang="en-US" sz="1400" b="1" spc="200" kern="0" dirty="0">
                <a:solidFill>
                  <a:srgbClr val="E93864"/>
                </a:solidFill>
                <a:latin typeface="Calibri" pitchFamily="34" charset="0"/>
                <a:ea typeface="Calibri" pitchFamily="34" charset="-122"/>
                <a:cs typeface="Calibri" pitchFamily="34" charset="-120"/>
              </a:rPr>
              <a:t>DIGITAL NATIVE TRACK  ·  RYDE</a:t>
            </a:r>
            <a:endParaRPr lang="en-US" sz="1400" dirty="0"/>
          </a:p>
        </p:txBody>
      </p:sp>
      <p:sp>
        <p:nvSpPr>
          <p:cNvPr id="3" name="Text 1"/>
          <p:cNvSpPr txBox="1"/>
          <p:nvPr/>
        </p:nvSpPr>
        <p:spPr>
          <a:xfrm>
            <a:off x="548640" y="1463040"/>
            <a:ext cx="7863840" cy="137160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Multi-Agent Autonomous Dispute Resolution</a:t>
            </a:r>
            <a:endParaRPr lang="en-US" sz="4000" dirty="0"/>
          </a:p>
        </p:txBody>
      </p:sp>
      <p:sp>
        <p:nvSpPr>
          <p:cNvPr id="4" name="Text 2"/>
          <p:cNvSpPr txBox="1"/>
          <p:nvPr/>
        </p:nvSpPr>
        <p:spPr>
          <a:xfrm>
            <a:off x="548640" y="2971800"/>
            <a:ext cx="7498080" cy="731520"/>
          </a:xfrm>
          <a:prstGeom prst="rect">
            <a:avLst/>
          </a:prstGeom>
          <a:noFill/>
          <a:ln/>
        </p:spPr>
        <p:txBody>
          <a:bodyPr wrap="square" lIns="0" tIns="0" rIns="0" bIns="0" rtlCol="0" anchor="t"/>
          <a:lstStyle/>
          <a:p>
            <a:pPr indent="0" marL="0">
              <a:buNone/>
            </a:pPr>
            <a:r>
              <a:rPr lang="en-US" sz="1800" dirty="0">
                <a:solidFill>
                  <a:srgbClr val="F7DDE3"/>
                </a:solidFill>
                <a:latin typeface="Calibri" pitchFamily="34" charset="0"/>
                <a:ea typeface="Calibri" pitchFamily="34" charset="-122"/>
                <a:cs typeface="Calibri" pitchFamily="34" charset="-120"/>
              </a:rPr>
              <a:t>Three AI agents gather the evidence, argue both sides and rule. Code guards the money.</a:t>
            </a:r>
            <a:endParaRPr lang="en-US" sz="1800" dirty="0"/>
          </a:p>
        </p:txBody>
      </p:sp>
      <p:sp>
        <p:nvSpPr>
          <p:cNvPr id="5" name="Text 3"/>
          <p:cNvSpPr txBox="1"/>
          <p:nvPr/>
        </p:nvSpPr>
        <p:spPr>
          <a:xfrm>
            <a:off x="548640" y="4297680"/>
            <a:ext cx="8046720" cy="274320"/>
          </a:xfrm>
          <a:prstGeom prst="rect">
            <a:avLst/>
          </a:prstGeom>
          <a:noFill/>
          <a:ln/>
        </p:spPr>
        <p:txBody>
          <a:bodyPr wrap="square" lIns="0" tIns="0" rIns="0" bIns="0" rtlCol="0" anchor="t"/>
          <a:lstStyle/>
          <a:p>
            <a:pPr indent="0" marL="0">
              <a:buNone/>
            </a:pPr>
            <a:r>
              <a:rPr lang="en-US" sz="1200" dirty="0">
                <a:solidFill>
                  <a:srgbClr val="B8C0CA"/>
                </a:solidFill>
                <a:latin typeface="Calibri" pitchFamily="34" charset="0"/>
                <a:ea typeface="Calibri" pitchFamily="34" charset="-122"/>
                <a:cs typeface="Calibri" pitchFamily="34" charset="-120"/>
              </a:rPr>
              <a:t>Tencent Cloud “AI CAN DO IT” Hackathon Singapore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Disputes are slow, inconsistent and costly</a:t>
            </a:r>
            <a:endParaRPr lang="en-US" sz="3000" dirty="0"/>
          </a:p>
        </p:txBody>
      </p:sp>
      <p:sp>
        <p:nvSpPr>
          <p:cNvPr id="3" name="Text 1"/>
          <p:cNvSpPr txBox="1"/>
          <p:nvPr/>
        </p:nvSpPr>
        <p:spPr>
          <a:xfrm>
            <a:off x="457200" y="1188720"/>
            <a:ext cx="3840480" cy="256032"/>
          </a:xfrm>
          <a:prstGeom prst="rect">
            <a:avLst/>
          </a:prstGeom>
          <a:noFill/>
          <a:ln/>
        </p:spPr>
        <p:txBody>
          <a:bodyPr wrap="square" lIns="0" tIns="0" rIns="0" bIns="0" rtlCol="0" anchor="t"/>
          <a:lstStyle/>
          <a:p>
            <a:pPr indent="0" marL="0">
              <a:buNone/>
            </a:pPr>
            <a:r>
              <a:rPr lang="en-US" sz="1100" b="1" spc="100" kern="0" dirty="0">
                <a:solidFill>
                  <a:srgbClr val="E93864"/>
                </a:solidFill>
                <a:latin typeface="Calibri" pitchFamily="34" charset="0"/>
                <a:ea typeface="Calibri" pitchFamily="34" charset="-122"/>
                <a:cs typeface="Calibri" pitchFamily="34" charset="-120"/>
              </a:rPr>
              <a:t>VERIFIED  ·  RYDE 1H 2026 RESULTS</a:t>
            </a:r>
            <a:endParaRPr lang="en-US" sz="1100" dirty="0"/>
          </a:p>
        </p:txBody>
      </p:sp>
      <p:sp>
        <p:nvSpPr>
          <p:cNvPr id="4" name="Text 2"/>
          <p:cNvSpPr txBox="1"/>
          <p:nvPr/>
        </p:nvSpPr>
        <p:spPr>
          <a:xfrm>
            <a:off x="457200" y="1481328"/>
            <a:ext cx="3840480" cy="548640"/>
          </a:xfrm>
          <a:prstGeom prst="rect">
            <a:avLst/>
          </a:prstGeom>
          <a:noFill/>
          <a:ln/>
        </p:spPr>
        <p:txBody>
          <a:bodyPr wrap="square" lIns="0" tIns="0" rIns="0" bIns="0" rtlCol="0" anchor="ctr"/>
          <a:lstStyle/>
          <a:p>
            <a:pPr indent="0" marL="0">
              <a:buNone/>
            </a:pPr>
            <a:r>
              <a:rPr lang="en-US" sz="4000" b="1" dirty="0">
                <a:solidFill>
                  <a:srgbClr val="31373E"/>
                </a:solidFill>
                <a:latin typeface="Calibri" pitchFamily="34" charset="0"/>
                <a:ea typeface="Calibri" pitchFamily="34" charset="-122"/>
                <a:cs typeface="Calibri" pitchFamily="34" charset="-120"/>
              </a:rPr>
              <a:t>S$6.7M</a:t>
            </a:r>
            <a:endParaRPr lang="en-US" sz="4000" dirty="0"/>
          </a:p>
        </p:txBody>
      </p:sp>
      <p:sp>
        <p:nvSpPr>
          <p:cNvPr id="5" name="Text 3"/>
          <p:cNvSpPr txBox="1"/>
          <p:nvPr/>
        </p:nvSpPr>
        <p:spPr>
          <a:xfrm>
            <a:off x="457200" y="2048256"/>
            <a:ext cx="3840480" cy="457200"/>
          </a:xfrm>
          <a:prstGeom prst="rect">
            <a:avLst/>
          </a:prstGeom>
          <a:noFill/>
          <a:ln/>
        </p:spPr>
        <p:txBody>
          <a:bodyPr wrap="square" lIns="0" tIns="0" rIns="0" bIns="0" rtlCol="0" anchor="t"/>
          <a:lstStyle/>
          <a:p>
            <a:pPr indent="0" marL="0">
              <a:buNone/>
            </a:pPr>
            <a:r>
              <a:rPr lang="en-US" sz="1400" dirty="0">
                <a:solidFill>
                  <a:srgbClr val="5A6470"/>
                </a:solidFill>
                <a:latin typeface="Calibri" pitchFamily="34" charset="0"/>
                <a:ea typeface="Calibri" pitchFamily="34" charset="-122"/>
                <a:cs typeface="Calibri" pitchFamily="34" charset="-120"/>
              </a:rPr>
              <a:t>revenue in six months, up 17%</a:t>
            </a:r>
            <a:endParaRPr lang="en-US" sz="1400" dirty="0"/>
          </a:p>
        </p:txBody>
      </p:sp>
      <p:sp>
        <p:nvSpPr>
          <p:cNvPr id="6" name="Text 4"/>
          <p:cNvSpPr txBox="1"/>
          <p:nvPr/>
        </p:nvSpPr>
        <p:spPr>
          <a:xfrm>
            <a:off x="457200" y="2542032"/>
            <a:ext cx="3840480" cy="548640"/>
          </a:xfrm>
          <a:prstGeom prst="rect">
            <a:avLst/>
          </a:prstGeom>
          <a:noFill/>
          <a:ln/>
        </p:spPr>
        <p:txBody>
          <a:bodyPr wrap="square" lIns="0" tIns="0" rIns="0" bIns="0" rtlCol="0" anchor="ctr"/>
          <a:lstStyle/>
          <a:p>
            <a:pPr indent="0" marL="0">
              <a:buNone/>
            </a:pPr>
            <a:r>
              <a:rPr lang="en-US" sz="4000" b="1" dirty="0">
                <a:solidFill>
                  <a:srgbClr val="31373E"/>
                </a:solidFill>
                <a:latin typeface="Calibri" pitchFamily="34" charset="0"/>
                <a:ea typeface="Calibri" pitchFamily="34" charset="-122"/>
                <a:cs typeface="Calibri" pitchFamily="34" charset="-120"/>
              </a:rPr>
              <a:t>S$2.2M</a:t>
            </a:r>
            <a:endParaRPr lang="en-US" sz="4000" dirty="0"/>
          </a:p>
        </p:txBody>
      </p:sp>
      <p:sp>
        <p:nvSpPr>
          <p:cNvPr id="7" name="Text 5"/>
          <p:cNvSpPr txBox="1"/>
          <p:nvPr/>
        </p:nvSpPr>
        <p:spPr>
          <a:xfrm>
            <a:off x="457200" y="3108960"/>
            <a:ext cx="3840480" cy="457200"/>
          </a:xfrm>
          <a:prstGeom prst="rect">
            <a:avLst/>
          </a:prstGeom>
          <a:noFill/>
          <a:ln/>
        </p:spPr>
        <p:txBody>
          <a:bodyPr wrap="square" lIns="0" tIns="0" rIns="0" bIns="0" rtlCol="0" anchor="t"/>
          <a:lstStyle/>
          <a:p>
            <a:pPr indent="0" marL="0">
              <a:buNone/>
            </a:pPr>
            <a:r>
              <a:rPr lang="en-US" sz="1400" dirty="0">
                <a:solidFill>
                  <a:srgbClr val="5A6470"/>
                </a:solidFill>
                <a:latin typeface="Calibri" pitchFamily="34" charset="0"/>
                <a:ea typeface="Calibri" pitchFamily="34" charset="-122"/>
                <a:cs typeface="Calibri" pitchFamily="34" charset="-120"/>
              </a:rPr>
              <a:t>operating loss: every cost line matters</a:t>
            </a:r>
            <a:endParaRPr lang="en-US" sz="1400" dirty="0"/>
          </a:p>
        </p:txBody>
      </p:sp>
      <p:sp>
        <p:nvSpPr>
          <p:cNvPr id="8" name="Text 6"/>
          <p:cNvSpPr txBox="1"/>
          <p:nvPr/>
        </p:nvSpPr>
        <p:spPr>
          <a:xfrm>
            <a:off x="4846320" y="1188720"/>
            <a:ext cx="3840480" cy="256032"/>
          </a:xfrm>
          <a:prstGeom prst="rect">
            <a:avLst/>
          </a:prstGeom>
          <a:noFill/>
          <a:ln/>
        </p:spPr>
        <p:txBody>
          <a:bodyPr wrap="square" lIns="0" tIns="0" rIns="0" bIns="0" rtlCol="0" anchor="t"/>
          <a:lstStyle/>
          <a:p>
            <a:pPr indent="0" marL="0">
              <a:buNone/>
            </a:pPr>
            <a:r>
              <a:rPr lang="en-US" sz="1100" b="1" spc="100" kern="0" dirty="0">
                <a:solidFill>
                  <a:srgbClr val="E93864"/>
                </a:solidFill>
                <a:latin typeface="Calibri" pitchFamily="34" charset="0"/>
                <a:ea typeface="Calibri" pitchFamily="34" charset="-122"/>
                <a:cs typeface="Calibri" pitchFamily="34" charset="-120"/>
              </a:rPr>
              <a:t>ASSUMPTION  ·  OUR ESTIMATE</a:t>
            </a:r>
            <a:endParaRPr lang="en-US" sz="1100" dirty="0"/>
          </a:p>
        </p:txBody>
      </p:sp>
      <p:sp>
        <p:nvSpPr>
          <p:cNvPr id="9" name="Text 7"/>
          <p:cNvSpPr txBox="1"/>
          <p:nvPr/>
        </p:nvSpPr>
        <p:spPr>
          <a:xfrm>
            <a:off x="4846320" y="1481328"/>
            <a:ext cx="3840480" cy="548640"/>
          </a:xfrm>
          <a:prstGeom prst="rect">
            <a:avLst/>
          </a:prstGeom>
          <a:noFill/>
          <a:ln/>
        </p:spPr>
        <p:txBody>
          <a:bodyPr wrap="square" lIns="0" tIns="0" rIns="0" bIns="0" rtlCol="0" anchor="ctr"/>
          <a:lstStyle/>
          <a:p>
            <a:pPr indent="0" marL="0">
              <a:buNone/>
            </a:pPr>
            <a:r>
              <a:rPr lang="en-US" sz="4000" b="1" dirty="0">
                <a:solidFill>
                  <a:srgbClr val="E93864"/>
                </a:solidFill>
                <a:latin typeface="Calibri" pitchFamily="34" charset="0"/>
                <a:ea typeface="Calibri" pitchFamily="34" charset="-122"/>
                <a:cs typeface="Calibri" pitchFamily="34" charset="-120"/>
              </a:rPr>
              <a:t>~1,300</a:t>
            </a:r>
            <a:endParaRPr lang="en-US" sz="4000" dirty="0"/>
          </a:p>
        </p:txBody>
      </p:sp>
      <p:sp>
        <p:nvSpPr>
          <p:cNvPr id="10" name="Text 8"/>
          <p:cNvSpPr txBox="1"/>
          <p:nvPr/>
        </p:nvSpPr>
        <p:spPr>
          <a:xfrm>
            <a:off x="4846320" y="2048256"/>
            <a:ext cx="3840480" cy="457200"/>
          </a:xfrm>
          <a:prstGeom prst="rect">
            <a:avLst/>
          </a:prstGeom>
          <a:noFill/>
          <a:ln/>
        </p:spPr>
        <p:txBody>
          <a:bodyPr wrap="square" lIns="0" tIns="0" rIns="0" bIns="0" rtlCol="0" anchor="t"/>
          <a:lstStyle/>
          <a:p>
            <a:pPr indent="0" marL="0">
              <a:buNone/>
            </a:pPr>
            <a:r>
              <a:rPr lang="en-US" sz="1400" dirty="0">
                <a:solidFill>
                  <a:srgbClr val="5A6470"/>
                </a:solidFill>
                <a:latin typeface="Calibri" pitchFamily="34" charset="0"/>
                <a:ea typeface="Calibri" pitchFamily="34" charset="-122"/>
                <a:cs typeface="Calibri" pitchFamily="34" charset="-120"/>
              </a:rPr>
              <a:t>route-deviation and no-show disputes a month</a:t>
            </a:r>
            <a:endParaRPr lang="en-US" sz="1400" dirty="0"/>
          </a:p>
        </p:txBody>
      </p:sp>
      <p:sp>
        <p:nvSpPr>
          <p:cNvPr id="11" name="Text 9"/>
          <p:cNvSpPr txBox="1"/>
          <p:nvPr/>
        </p:nvSpPr>
        <p:spPr>
          <a:xfrm>
            <a:off x="4846320" y="2542032"/>
            <a:ext cx="3840480" cy="548640"/>
          </a:xfrm>
          <a:prstGeom prst="rect">
            <a:avLst/>
          </a:prstGeom>
          <a:noFill/>
          <a:ln/>
        </p:spPr>
        <p:txBody>
          <a:bodyPr wrap="square" lIns="0" tIns="0" rIns="0" bIns="0" rtlCol="0" anchor="ctr"/>
          <a:lstStyle/>
          <a:p>
            <a:pPr indent="0" marL="0">
              <a:buNone/>
            </a:pPr>
            <a:r>
              <a:rPr lang="en-US" sz="4000" b="1" dirty="0">
                <a:solidFill>
                  <a:srgbClr val="E93864"/>
                </a:solidFill>
                <a:latin typeface="Calibri" pitchFamily="34" charset="0"/>
                <a:ea typeface="Calibri" pitchFamily="34" charset="-122"/>
                <a:cs typeface="Calibri" pitchFamily="34" charset="-120"/>
              </a:rPr>
              <a:t>~S$120k</a:t>
            </a:r>
            <a:endParaRPr lang="en-US" sz="4000" dirty="0"/>
          </a:p>
        </p:txBody>
      </p:sp>
      <p:sp>
        <p:nvSpPr>
          <p:cNvPr id="12" name="Text 10"/>
          <p:cNvSpPr txBox="1"/>
          <p:nvPr/>
        </p:nvSpPr>
        <p:spPr>
          <a:xfrm>
            <a:off x="4846320" y="3108960"/>
            <a:ext cx="3840480" cy="457200"/>
          </a:xfrm>
          <a:prstGeom prst="rect">
            <a:avLst/>
          </a:prstGeom>
          <a:noFill/>
          <a:ln/>
        </p:spPr>
        <p:txBody>
          <a:bodyPr wrap="square" lIns="0" tIns="0" rIns="0" bIns="0" rtlCol="0" anchor="t"/>
          <a:lstStyle/>
          <a:p>
            <a:pPr indent="0" marL="0">
              <a:buNone/>
            </a:pPr>
            <a:r>
              <a:rPr lang="en-US" sz="1400" dirty="0">
                <a:solidFill>
                  <a:srgbClr val="5A6470"/>
                </a:solidFill>
                <a:latin typeface="Calibri" pitchFamily="34" charset="0"/>
                <a:ea typeface="Calibri" pitchFamily="34" charset="-122"/>
                <a:cs typeface="Calibri" pitchFamily="34" charset="-120"/>
              </a:rPr>
              <a:t>a year of support time, about 2 full-time people</a:t>
            </a:r>
            <a:endParaRPr lang="en-US" sz="1400" dirty="0"/>
          </a:p>
        </p:txBody>
      </p:sp>
      <p:sp>
        <p:nvSpPr>
          <p:cNvPr id="13" name="challenge strip"/>
          <p:cNvSpPr/>
          <p:nvPr/>
        </p:nvSpPr>
        <p:spPr>
          <a:xfrm>
            <a:off x="457200" y="3794760"/>
            <a:ext cx="8229600" cy="685800"/>
          </a:xfrm>
          <a:prstGeom prst="roundRect">
            <a:avLst>
              <a:gd name="adj" fmla="val 10667"/>
            </a:avLst>
          </a:prstGeom>
          <a:solidFill>
            <a:srgbClr val="F7DDE3"/>
          </a:solidFill>
          <a:ln w="12700">
            <a:solidFill>
              <a:srgbClr val="F7DDE3"/>
            </a:solidFill>
            <a:prstDash val="solid"/>
          </a:ln>
        </p:spPr>
      </p:sp>
      <p:sp>
        <p:nvSpPr>
          <p:cNvPr id="14" name="Text 12"/>
          <p:cNvSpPr txBox="1"/>
          <p:nvPr/>
        </p:nvSpPr>
        <p:spPr>
          <a:xfrm>
            <a:off x="640080" y="3794760"/>
            <a:ext cx="7863840" cy="685800"/>
          </a:xfrm>
          <a:prstGeom prst="rect">
            <a:avLst/>
          </a:prstGeom>
          <a:noFill/>
          <a:ln/>
        </p:spPr>
        <p:txBody>
          <a:bodyPr wrap="square" lIns="0" tIns="0" rIns="0" bIns="0" rtlCol="0" anchor="ctr"/>
          <a:lstStyle/>
          <a:p>
            <a:pPr indent="0" marL="0">
              <a:buNone/>
            </a:pPr>
            <a:r>
              <a:rPr lang="en-US" sz="1400" dirty="0">
                <a:solidFill>
                  <a:srgbClr val="31373E"/>
                </a:solidFill>
                <a:latin typeface="Calibri" pitchFamily="34" charset="0"/>
                <a:ea typeface="Calibri" pitchFamily="34" charset="-122"/>
                <a:cs typeface="Calibri" pitchFamily="34" charset="-120"/>
              </a:rPr>
              <a:t>The bigger cost is felt by riders and drivers: 24–72 hours to resolve, and different agents give different answers to similar cases.</a:t>
            </a:r>
            <a:endParaRPr lang="en-US" sz="1400" dirty="0"/>
          </a:p>
        </p:txBody>
      </p:sp>
      <p:sp>
        <p:nvSpPr>
          <p:cNvPr id="15" name="Text 13"/>
          <p:cNvSpPr txBox="1"/>
          <p:nvPr/>
        </p:nvSpPr>
        <p:spPr>
          <a:xfrm>
            <a:off x="457200" y="4681728"/>
            <a:ext cx="768096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Verified: Ryde 1H 2026 results, 8 Oct 2026, unaudited. Ryde publishes no trip or dispute data. Assumed: 15% take rate, S$15 fare, 1% dispute rate, 40% in scope, S$7.50 a dispute.</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Agents argue, a Judge rules, code guards the money</a:t>
            </a:r>
            <a:endParaRPr lang="en-US" sz="3000" dirty="0"/>
          </a:p>
        </p:txBody>
      </p:sp>
      <p:sp>
        <p:nvSpPr>
          <p:cNvPr id="3" name="flow Evidence Pack"/>
          <p:cNvSpPr/>
          <p:nvPr/>
        </p:nvSpPr>
        <p:spPr>
          <a:xfrm>
            <a:off x="457200" y="1280160"/>
            <a:ext cx="1417320" cy="914400"/>
          </a:xfrm>
          <a:prstGeom prst="roundRect">
            <a:avLst>
              <a:gd name="adj" fmla="val 8000"/>
            </a:avLst>
          </a:prstGeom>
          <a:solidFill>
            <a:srgbClr val="F7DDE3"/>
          </a:solidFill>
          <a:ln w="12700">
            <a:solidFill>
              <a:srgbClr val="F7DDE3"/>
            </a:solidFill>
            <a:prstDash val="solid"/>
          </a:ln>
        </p:spPr>
      </p:sp>
      <p:sp>
        <p:nvSpPr>
          <p:cNvPr id="4" name="Text 2"/>
          <p:cNvSpPr txBox="1"/>
          <p:nvPr/>
        </p:nvSpPr>
        <p:spPr>
          <a:xfrm>
            <a:off x="530352" y="1280160"/>
            <a:ext cx="1271016" cy="914400"/>
          </a:xfrm>
          <a:prstGeom prst="rect">
            <a:avLst/>
          </a:prstGeom>
          <a:noFill/>
          <a:ln/>
        </p:spPr>
        <p:txBody>
          <a:bodyPr wrap="square" lIns="0" tIns="0" rIns="0" bIns="0" rtlCol="0" anchor="ctr"/>
          <a:lstStyle/>
          <a:p>
            <a:pPr algn="ctr" indent="0" marL="0">
              <a:buNone/>
            </a:pPr>
            <a:r>
              <a:rPr lang="en-US" sz="1400" b="1" dirty="0">
                <a:solidFill>
                  <a:srgbClr val="31373E"/>
                </a:solidFill>
                <a:latin typeface="Calibri" pitchFamily="34" charset="0"/>
                <a:ea typeface="Calibri" pitchFamily="34" charset="-122"/>
                <a:cs typeface="Calibri" pitchFamily="34" charset="-120"/>
              </a:rPr>
              <a:t>Evidence Pack</a:t>
            </a:r>
            <a:endParaRPr lang="en-US" sz="1400" dirty="0"/>
          </a:p>
          <a:p>
            <a:pPr algn="ctr" indent="0" marL="0">
              <a:buNone/>
            </a:pPr>
            <a:r>
              <a:rPr lang="en-US" sz="1100" dirty="0">
                <a:solidFill>
                  <a:srgbClr val="5A6470"/>
                </a:solidFill>
                <a:latin typeface="Calibri" pitchFamily="34" charset="0"/>
                <a:ea typeface="Calibri" pitchFamily="34" charset="-122"/>
                <a:cs typeface="Calibri" pitchFamily="34" charset="-120"/>
              </a:rPr>
              <a:t>computed in Python</a:t>
            </a:r>
            <a:endParaRPr lang="en-US" sz="1400" dirty="0"/>
          </a:p>
        </p:txBody>
      </p:sp>
      <p:sp>
        <p:nvSpPr>
          <p:cNvPr id="5" name="Shape 3"/>
          <p:cNvSpPr/>
          <p:nvPr/>
        </p:nvSpPr>
        <p:spPr>
          <a:xfrm>
            <a:off x="1901952" y="1737360"/>
            <a:ext cx="219456" cy="0"/>
          </a:xfrm>
          <a:prstGeom prst="line">
            <a:avLst/>
          </a:prstGeom>
          <a:noFill/>
          <a:ln w="19050">
            <a:solidFill>
              <a:srgbClr val="5A6470"/>
            </a:solidFill>
            <a:prstDash val="solid"/>
            <a:tailEnd type="triangle"/>
          </a:ln>
        </p:spPr>
      </p:sp>
      <p:sp>
        <p:nvSpPr>
          <p:cNvPr id="6" name="flow Rider Advocate"/>
          <p:cNvSpPr/>
          <p:nvPr/>
        </p:nvSpPr>
        <p:spPr>
          <a:xfrm>
            <a:off x="2148840" y="1280160"/>
            <a:ext cx="1417320" cy="914400"/>
          </a:xfrm>
          <a:prstGeom prst="roundRect">
            <a:avLst>
              <a:gd name="adj" fmla="val 8000"/>
            </a:avLst>
          </a:prstGeom>
          <a:solidFill>
            <a:srgbClr val="31373E"/>
          </a:solidFill>
          <a:ln w="12700">
            <a:solidFill>
              <a:srgbClr val="31373E"/>
            </a:solidFill>
            <a:prstDash val="solid"/>
          </a:ln>
        </p:spPr>
      </p:sp>
      <p:sp>
        <p:nvSpPr>
          <p:cNvPr id="7" name="Text 5"/>
          <p:cNvSpPr txBox="1"/>
          <p:nvPr/>
        </p:nvSpPr>
        <p:spPr>
          <a:xfrm>
            <a:off x="2221992" y="1280160"/>
            <a:ext cx="1271016"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Rider Advocate</a:t>
            </a:r>
            <a:endParaRPr lang="en-US" sz="1400" dirty="0"/>
          </a:p>
          <a:p>
            <a:pPr algn="ctr" indent="0" marL="0">
              <a:buNone/>
            </a:pPr>
            <a:r>
              <a:rPr lang="en-US" sz="1100" dirty="0">
                <a:solidFill>
                  <a:srgbClr val="F3D3DB"/>
                </a:solidFill>
                <a:latin typeface="Calibri" pitchFamily="34" charset="0"/>
                <a:ea typeface="Calibri" pitchFamily="34" charset="-122"/>
                <a:cs typeface="Calibri" pitchFamily="34" charset="-120"/>
              </a:rPr>
              <a:t>argues the rider</a:t>
            </a:r>
            <a:endParaRPr lang="en-US" sz="1400" dirty="0"/>
          </a:p>
        </p:txBody>
      </p:sp>
      <p:sp>
        <p:nvSpPr>
          <p:cNvPr id="8" name="Shape 6"/>
          <p:cNvSpPr/>
          <p:nvPr/>
        </p:nvSpPr>
        <p:spPr>
          <a:xfrm>
            <a:off x="3593592" y="1737360"/>
            <a:ext cx="219456" cy="0"/>
          </a:xfrm>
          <a:prstGeom prst="line">
            <a:avLst/>
          </a:prstGeom>
          <a:noFill/>
          <a:ln w="19050">
            <a:solidFill>
              <a:srgbClr val="5A6470"/>
            </a:solidFill>
            <a:prstDash val="solid"/>
            <a:tailEnd type="triangle"/>
          </a:ln>
        </p:spPr>
      </p:sp>
      <p:sp>
        <p:nvSpPr>
          <p:cNvPr id="9" name="flow Driver Advocate"/>
          <p:cNvSpPr/>
          <p:nvPr/>
        </p:nvSpPr>
        <p:spPr>
          <a:xfrm>
            <a:off x="3840480" y="1280160"/>
            <a:ext cx="1417320" cy="914400"/>
          </a:xfrm>
          <a:prstGeom prst="roundRect">
            <a:avLst>
              <a:gd name="adj" fmla="val 8000"/>
            </a:avLst>
          </a:prstGeom>
          <a:solidFill>
            <a:srgbClr val="31373E"/>
          </a:solidFill>
          <a:ln w="12700">
            <a:solidFill>
              <a:srgbClr val="31373E"/>
            </a:solidFill>
            <a:prstDash val="solid"/>
          </a:ln>
        </p:spPr>
      </p:sp>
      <p:sp>
        <p:nvSpPr>
          <p:cNvPr id="10" name="Text 8"/>
          <p:cNvSpPr txBox="1"/>
          <p:nvPr/>
        </p:nvSpPr>
        <p:spPr>
          <a:xfrm>
            <a:off x="3913632" y="1280160"/>
            <a:ext cx="1271016"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Driver Advocate</a:t>
            </a:r>
            <a:endParaRPr lang="en-US" sz="1400" dirty="0"/>
          </a:p>
          <a:p>
            <a:pPr algn="ctr" indent="0" marL="0">
              <a:buNone/>
            </a:pPr>
            <a:r>
              <a:rPr lang="en-US" sz="1100" dirty="0">
                <a:solidFill>
                  <a:srgbClr val="F3D3DB"/>
                </a:solidFill>
                <a:latin typeface="Calibri" pitchFamily="34" charset="0"/>
                <a:ea typeface="Calibri" pitchFamily="34" charset="-122"/>
                <a:cs typeface="Calibri" pitchFamily="34" charset="-120"/>
              </a:rPr>
              <a:t>argues the driver</a:t>
            </a:r>
            <a:endParaRPr lang="en-US" sz="1400" dirty="0"/>
          </a:p>
        </p:txBody>
      </p:sp>
      <p:sp>
        <p:nvSpPr>
          <p:cNvPr id="11" name="Shape 9"/>
          <p:cNvSpPr/>
          <p:nvPr/>
        </p:nvSpPr>
        <p:spPr>
          <a:xfrm>
            <a:off x="5285232" y="1737360"/>
            <a:ext cx="219456" cy="0"/>
          </a:xfrm>
          <a:prstGeom prst="line">
            <a:avLst/>
          </a:prstGeom>
          <a:noFill/>
          <a:ln w="19050">
            <a:solidFill>
              <a:srgbClr val="5A6470"/>
            </a:solidFill>
            <a:prstDash val="solid"/>
            <a:tailEnd type="triangle"/>
          </a:ln>
        </p:spPr>
      </p:sp>
      <p:sp>
        <p:nvSpPr>
          <p:cNvPr id="12" name="flow Judge"/>
          <p:cNvSpPr/>
          <p:nvPr/>
        </p:nvSpPr>
        <p:spPr>
          <a:xfrm>
            <a:off x="5532120" y="1280160"/>
            <a:ext cx="1417320" cy="914400"/>
          </a:xfrm>
          <a:prstGeom prst="roundRect">
            <a:avLst>
              <a:gd name="adj" fmla="val 8000"/>
            </a:avLst>
          </a:prstGeom>
          <a:solidFill>
            <a:srgbClr val="31373E"/>
          </a:solidFill>
          <a:ln w="12700">
            <a:solidFill>
              <a:srgbClr val="31373E"/>
            </a:solidFill>
            <a:prstDash val="solid"/>
          </a:ln>
        </p:spPr>
      </p:sp>
      <p:sp>
        <p:nvSpPr>
          <p:cNvPr id="13" name="Text 11"/>
          <p:cNvSpPr txBox="1"/>
          <p:nvPr/>
        </p:nvSpPr>
        <p:spPr>
          <a:xfrm>
            <a:off x="5605272" y="1280160"/>
            <a:ext cx="1271016"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Judge</a:t>
            </a:r>
            <a:endParaRPr lang="en-US" sz="1400" dirty="0"/>
          </a:p>
          <a:p>
            <a:pPr algn="ctr" indent="0" marL="0">
              <a:buNone/>
            </a:pPr>
            <a:r>
              <a:rPr lang="en-US" sz="1100" dirty="0">
                <a:solidFill>
                  <a:srgbClr val="F3D3DB"/>
                </a:solidFill>
                <a:latin typeface="Calibri" pitchFamily="34" charset="0"/>
                <a:ea typeface="Calibri" pitchFamily="34" charset="-122"/>
                <a:cs typeface="Calibri" pitchFamily="34" charset="-120"/>
              </a:rPr>
              <a:t>rules + confidence</a:t>
            </a:r>
            <a:endParaRPr lang="en-US" sz="1400" dirty="0"/>
          </a:p>
        </p:txBody>
      </p:sp>
      <p:sp>
        <p:nvSpPr>
          <p:cNvPr id="14" name="Shape 12"/>
          <p:cNvSpPr/>
          <p:nvPr/>
        </p:nvSpPr>
        <p:spPr>
          <a:xfrm>
            <a:off x="6976872" y="1737360"/>
            <a:ext cx="219456" cy="0"/>
          </a:xfrm>
          <a:prstGeom prst="line">
            <a:avLst/>
          </a:prstGeom>
          <a:noFill/>
          <a:ln w="19050">
            <a:solidFill>
              <a:srgbClr val="5A6470"/>
            </a:solidFill>
            <a:prstDash val="solid"/>
            <a:tailEnd type="triangle"/>
          </a:ln>
        </p:spPr>
      </p:sp>
      <p:sp>
        <p:nvSpPr>
          <p:cNvPr id="15" name="flow Gates in code"/>
          <p:cNvSpPr/>
          <p:nvPr/>
        </p:nvSpPr>
        <p:spPr>
          <a:xfrm>
            <a:off x="7223760" y="1280160"/>
            <a:ext cx="1417320" cy="914400"/>
          </a:xfrm>
          <a:prstGeom prst="roundRect">
            <a:avLst>
              <a:gd name="adj" fmla="val 8000"/>
            </a:avLst>
          </a:prstGeom>
          <a:solidFill>
            <a:srgbClr val="E93864"/>
          </a:solidFill>
          <a:ln w="12700">
            <a:solidFill>
              <a:srgbClr val="E93864"/>
            </a:solidFill>
            <a:prstDash val="solid"/>
          </a:ln>
        </p:spPr>
      </p:sp>
      <p:sp>
        <p:nvSpPr>
          <p:cNvPr id="16" name="Text 14"/>
          <p:cNvSpPr txBox="1"/>
          <p:nvPr/>
        </p:nvSpPr>
        <p:spPr>
          <a:xfrm>
            <a:off x="7296912" y="1280160"/>
            <a:ext cx="1271016"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Gates in code</a:t>
            </a:r>
            <a:endParaRPr lang="en-US" sz="1400" dirty="0"/>
          </a:p>
          <a:p>
            <a:pPr algn="ctr" indent="0" marL="0">
              <a:buNone/>
            </a:pPr>
            <a:r>
              <a:rPr lang="en-US" sz="1100" dirty="0">
                <a:solidFill>
                  <a:srgbClr val="F3D3DB"/>
                </a:solidFill>
                <a:latin typeface="Calibri" pitchFamily="34" charset="0"/>
                <a:ea typeface="Calibri" pitchFamily="34" charset="-122"/>
                <a:cs typeface="Calibri" pitchFamily="34" charset="-120"/>
              </a:rPr>
              <a:t>cap, confidence, NS/RD</a:t>
            </a:r>
            <a:endParaRPr lang="en-US" sz="1400" dirty="0"/>
          </a:p>
        </p:txBody>
      </p:sp>
      <p:sp>
        <p:nvSpPr>
          <p:cNvPr id="17" name="Text 15"/>
          <p:cNvSpPr txBox="1"/>
          <p:nvPr/>
        </p:nvSpPr>
        <p:spPr>
          <a:xfrm>
            <a:off x="457200" y="2331720"/>
            <a:ext cx="8229600" cy="320040"/>
          </a:xfrm>
          <a:prstGeom prst="rect">
            <a:avLst/>
          </a:prstGeom>
          <a:noFill/>
          <a:ln/>
        </p:spPr>
        <p:txBody>
          <a:bodyPr wrap="square" lIns="0" tIns="0" rIns="0" bIns="0" rtlCol="0" anchor="t"/>
          <a:lstStyle/>
          <a:p>
            <a:pPr indent="0" marL="0">
              <a:buNone/>
            </a:pPr>
            <a:r>
              <a:rPr lang="en-US" sz="1200" dirty="0">
                <a:solidFill>
                  <a:srgbClr val="5A6470"/>
                </a:solidFill>
                <a:latin typeface="Calibri" pitchFamily="34" charset="0"/>
                <a:ea typeface="Calibri" pitchFamily="34" charset="-122"/>
                <a:cs typeface="Calibri" pitchFamily="34" charset="-120"/>
              </a:rPr>
              <a:t>Ruled: the party gets a plain-language decision.   Withheld: a person decides, and the party sees only “still under review”.</a:t>
            </a:r>
            <a:endParaRPr lang="en-US" sz="1200" dirty="0"/>
          </a:p>
        </p:txBody>
      </p:sp>
      <p:sp>
        <p:nvSpPr>
          <p:cNvPr id="18" name="card"/>
          <p:cNvSpPr/>
          <p:nvPr/>
        </p:nvSpPr>
        <p:spPr>
          <a:xfrm>
            <a:off x="457200" y="2834640"/>
            <a:ext cx="2560320" cy="1691640"/>
          </a:xfrm>
          <a:prstGeom prst="roundRect">
            <a:avLst>
              <a:gd name="adj" fmla="val 4324"/>
            </a:avLst>
          </a:prstGeom>
          <a:solidFill>
            <a:srgbClr val="FFFFFF"/>
          </a:solidFill>
          <a:ln w="9525">
            <a:solidFill>
              <a:srgbClr val="E3E6EA"/>
            </a:solidFill>
            <a:prstDash val="solid"/>
          </a:ln>
          <a:effectLst>
            <a:outerShdw sx="100000" sy="100000" kx="0" ky="0" algn="bl" rotWithShape="0" blurRad="76200" dist="25400" dir="5400000">
              <a:srgbClr val="000000">
                <a:alpha val="12000"/>
              </a:srgbClr>
            </a:outerShdw>
          </a:effectLst>
        </p:spPr>
      </p:sp>
      <p:sp>
        <p:nvSpPr>
          <p:cNvPr id="19" name="Text 17"/>
          <p:cNvSpPr txBox="1"/>
          <p:nvPr/>
        </p:nvSpPr>
        <p:spPr>
          <a:xfrm>
            <a:off x="621792" y="2944368"/>
            <a:ext cx="2231136" cy="320040"/>
          </a:xfrm>
          <a:prstGeom prst="rect">
            <a:avLst/>
          </a:prstGeom>
          <a:noFill/>
          <a:ln/>
        </p:spPr>
        <p:txBody>
          <a:bodyPr wrap="square" lIns="0" tIns="0" rIns="0" bIns="0" rtlCol="0" anchor="t"/>
          <a:lstStyle/>
          <a:p>
            <a:pPr indent="0" marL="0">
              <a:buNone/>
            </a:pPr>
            <a:r>
              <a:rPr lang="en-US" sz="1600" b="1" dirty="0">
                <a:solidFill>
                  <a:srgbClr val="E93864"/>
                </a:solidFill>
                <a:latin typeface="Calibri" pitchFamily="34" charset="0"/>
                <a:ea typeface="Calibri" pitchFamily="34" charset="-122"/>
                <a:cs typeface="Calibri" pitchFamily="34" charset="-120"/>
              </a:rPr>
              <a:t>No AI arithmetic</a:t>
            </a:r>
            <a:endParaRPr lang="en-US" sz="1600" dirty="0"/>
          </a:p>
        </p:txBody>
      </p:sp>
      <p:sp>
        <p:nvSpPr>
          <p:cNvPr id="20" name="Text 18"/>
          <p:cNvSpPr txBox="1"/>
          <p:nvPr/>
        </p:nvSpPr>
        <p:spPr>
          <a:xfrm>
            <a:off x="621792" y="3310128"/>
            <a:ext cx="2231136" cy="1143000"/>
          </a:xfrm>
          <a:prstGeom prst="rect">
            <a:avLst/>
          </a:prstGeom>
          <a:noFill/>
          <a:ln/>
        </p:spPr>
        <p:txBody>
          <a:bodyPr wrap="square" lIns="0" tIns="0" rIns="0" bIns="0" rtlCol="0" anchor="t"/>
          <a:lstStyle/>
          <a:p>
            <a:pPr indent="0" marL="0">
              <a:buNone/>
            </a:pPr>
            <a:r>
              <a:rPr lang="en-US" sz="1400" dirty="0">
                <a:solidFill>
                  <a:srgbClr val="31373E"/>
                </a:solidFill>
                <a:latin typeface="Calibri" pitchFamily="34" charset="0"/>
                <a:ea typeface="Calibri" pitchFamily="34" charset="-122"/>
                <a:cs typeface="Calibri" pitchFamily="34" charset="-120"/>
              </a:rPr>
              <a:t>Every number comes from the Evidence Pack. Agents cite fields, never calculate.</a:t>
            </a:r>
            <a:endParaRPr lang="en-US" sz="1400" dirty="0"/>
          </a:p>
        </p:txBody>
      </p:sp>
      <p:sp>
        <p:nvSpPr>
          <p:cNvPr id="21" name="card"/>
          <p:cNvSpPr/>
          <p:nvPr/>
        </p:nvSpPr>
        <p:spPr>
          <a:xfrm>
            <a:off x="3291840" y="2834640"/>
            <a:ext cx="2560320" cy="1691640"/>
          </a:xfrm>
          <a:prstGeom prst="roundRect">
            <a:avLst>
              <a:gd name="adj" fmla="val 4324"/>
            </a:avLst>
          </a:prstGeom>
          <a:solidFill>
            <a:srgbClr val="FFFFFF"/>
          </a:solidFill>
          <a:ln w="9525">
            <a:solidFill>
              <a:srgbClr val="E3E6EA"/>
            </a:solidFill>
            <a:prstDash val="solid"/>
          </a:ln>
          <a:effectLst>
            <a:outerShdw sx="100000" sy="100000" kx="0" ky="0" algn="bl" rotWithShape="0" blurRad="76200" dist="25400" dir="5400000">
              <a:srgbClr val="000000">
                <a:alpha val="12000"/>
              </a:srgbClr>
            </a:outerShdw>
          </a:effectLst>
        </p:spPr>
      </p:sp>
      <p:sp>
        <p:nvSpPr>
          <p:cNvPr id="22" name="Text 20"/>
          <p:cNvSpPr txBox="1"/>
          <p:nvPr/>
        </p:nvSpPr>
        <p:spPr>
          <a:xfrm>
            <a:off x="3456432" y="2944368"/>
            <a:ext cx="2231136" cy="320040"/>
          </a:xfrm>
          <a:prstGeom prst="rect">
            <a:avLst/>
          </a:prstGeom>
          <a:noFill/>
          <a:ln/>
        </p:spPr>
        <p:txBody>
          <a:bodyPr wrap="square" lIns="0" tIns="0" rIns="0" bIns="0" rtlCol="0" anchor="t"/>
          <a:lstStyle/>
          <a:p>
            <a:pPr indent="0" marL="0">
              <a:buNone/>
            </a:pPr>
            <a:r>
              <a:rPr lang="en-US" sz="1600" b="1" dirty="0">
                <a:solidFill>
                  <a:srgbClr val="E93864"/>
                </a:solidFill>
                <a:latin typeface="Calibri" pitchFamily="34" charset="0"/>
                <a:ea typeface="Calibri" pitchFamily="34" charset="-122"/>
                <a:cs typeface="Calibri" pitchFamily="34" charset="-120"/>
              </a:rPr>
              <a:t>Rules enforced in code</a:t>
            </a:r>
            <a:endParaRPr lang="en-US" sz="1600" dirty="0"/>
          </a:p>
        </p:txBody>
      </p:sp>
      <p:sp>
        <p:nvSpPr>
          <p:cNvPr id="23" name="Text 21"/>
          <p:cNvSpPr txBox="1"/>
          <p:nvPr/>
        </p:nvSpPr>
        <p:spPr>
          <a:xfrm>
            <a:off x="3456432" y="3310128"/>
            <a:ext cx="2231136" cy="1143000"/>
          </a:xfrm>
          <a:prstGeom prst="rect">
            <a:avLst/>
          </a:prstGeom>
          <a:noFill/>
          <a:ln/>
        </p:spPr>
        <p:txBody>
          <a:bodyPr wrap="square" lIns="0" tIns="0" rIns="0" bIns="0" rtlCol="0" anchor="t"/>
          <a:lstStyle/>
          <a:p>
            <a:pPr indent="0" marL="0">
              <a:buNone/>
            </a:pPr>
            <a:r>
              <a:rPr lang="en-US" sz="1400" dirty="0">
                <a:solidFill>
                  <a:srgbClr val="31373E"/>
                </a:solidFill>
                <a:latin typeface="Calibri" pitchFamily="34" charset="0"/>
                <a:ea typeface="Calibri" pitchFamily="34" charset="-122"/>
                <a:cs typeface="Calibri" pitchFamily="34" charset="-120"/>
              </a:rPr>
              <a:t>SGD 50 cap, 0.65 confidence floor and four money gates. A prompt is a request, code is a guarantee.</a:t>
            </a:r>
            <a:endParaRPr lang="en-US" sz="1400" dirty="0"/>
          </a:p>
        </p:txBody>
      </p:sp>
      <p:sp>
        <p:nvSpPr>
          <p:cNvPr id="24" name="card"/>
          <p:cNvSpPr/>
          <p:nvPr/>
        </p:nvSpPr>
        <p:spPr>
          <a:xfrm>
            <a:off x="6126480" y="2834640"/>
            <a:ext cx="2560320" cy="1691640"/>
          </a:xfrm>
          <a:prstGeom prst="roundRect">
            <a:avLst>
              <a:gd name="adj" fmla="val 4324"/>
            </a:avLst>
          </a:prstGeom>
          <a:solidFill>
            <a:srgbClr val="FFFFFF"/>
          </a:solidFill>
          <a:ln w="9525">
            <a:solidFill>
              <a:srgbClr val="E3E6EA"/>
            </a:solidFill>
            <a:prstDash val="solid"/>
          </a:ln>
          <a:effectLst>
            <a:outerShdw sx="100000" sy="100000" kx="0" ky="0" algn="bl" rotWithShape="0" blurRad="76200" dist="25400" dir="5400000">
              <a:srgbClr val="000000">
                <a:alpha val="12000"/>
              </a:srgbClr>
            </a:outerShdw>
          </a:effectLst>
        </p:spPr>
      </p:sp>
      <p:sp>
        <p:nvSpPr>
          <p:cNvPr id="25" name="Text 23"/>
          <p:cNvSpPr txBox="1"/>
          <p:nvPr/>
        </p:nvSpPr>
        <p:spPr>
          <a:xfrm>
            <a:off x="6291072" y="2944368"/>
            <a:ext cx="2231136" cy="320040"/>
          </a:xfrm>
          <a:prstGeom prst="rect">
            <a:avLst/>
          </a:prstGeom>
          <a:noFill/>
          <a:ln/>
        </p:spPr>
        <p:txBody>
          <a:bodyPr wrap="square" lIns="0" tIns="0" rIns="0" bIns="0" rtlCol="0" anchor="t"/>
          <a:lstStyle/>
          <a:p>
            <a:pPr indent="0" marL="0">
              <a:buNone/>
            </a:pPr>
            <a:r>
              <a:rPr lang="en-US" sz="1600" b="1" dirty="0">
                <a:solidFill>
                  <a:srgbClr val="E93864"/>
                </a:solidFill>
                <a:latin typeface="Calibri" pitchFamily="34" charset="0"/>
                <a:ea typeface="Calibri" pitchFamily="34" charset="-122"/>
                <a:cs typeface="Calibri" pitchFamily="34" charset="-120"/>
              </a:rPr>
              <a:t>Every step observable</a:t>
            </a:r>
            <a:endParaRPr lang="en-US" sz="1600" dirty="0"/>
          </a:p>
        </p:txBody>
      </p:sp>
      <p:sp>
        <p:nvSpPr>
          <p:cNvPr id="26" name="Text 24"/>
          <p:cNvSpPr txBox="1"/>
          <p:nvPr/>
        </p:nvSpPr>
        <p:spPr>
          <a:xfrm>
            <a:off x="6291072" y="3310128"/>
            <a:ext cx="2231136" cy="1143000"/>
          </a:xfrm>
          <a:prstGeom prst="rect">
            <a:avLst/>
          </a:prstGeom>
          <a:noFill/>
          <a:ln/>
        </p:spPr>
        <p:txBody>
          <a:bodyPr wrap="square" lIns="0" tIns="0" rIns="0" bIns="0" rtlCol="0" anchor="t"/>
          <a:lstStyle/>
          <a:p>
            <a:pPr indent="0" marL="0">
              <a:buNone/>
            </a:pPr>
            <a:r>
              <a:rPr lang="en-US" sz="1400" dirty="0">
                <a:solidFill>
                  <a:srgbClr val="31373E"/>
                </a:solidFill>
                <a:latin typeface="Calibri" pitchFamily="34" charset="0"/>
                <a:ea typeface="Calibri" pitchFamily="34" charset="-122"/>
                <a:cs typeface="Calibri" pitchFamily="34" charset="-120"/>
              </a:rPr>
              <a:t>A timestamped event strip shows who sent what to whom. One click opens the full payload.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8046720" cy="320040"/>
          </a:xfrm>
          <a:prstGeom prst="rect">
            <a:avLst/>
          </a:prstGeom>
          <a:noFill/>
          <a:ln/>
        </p:spPr>
        <p:txBody>
          <a:bodyPr wrap="square" lIns="0" tIns="0" rIns="0" bIns="0" rtlCol="0" anchor="t"/>
          <a:lstStyle/>
          <a:p>
            <a:pPr indent="0" marL="0">
              <a:buNone/>
            </a:pPr>
            <a:r>
              <a:rPr lang="en-US" sz="1400" b="1" spc="200" kern="0" dirty="0">
                <a:solidFill>
                  <a:srgbClr val="E93864"/>
                </a:solidFill>
                <a:latin typeface="Calibri" pitchFamily="34" charset="0"/>
                <a:ea typeface="Calibri" pitchFamily="34" charset="-122"/>
                <a:cs typeface="Calibri" pitchFamily="34" charset="-120"/>
              </a:rPr>
              <a:t>LIVE DEMO  ·  ABOUT 2 MIN 40</a:t>
            </a:r>
            <a:endParaRPr lang="en-US" sz="1400" dirty="0"/>
          </a:p>
        </p:txBody>
      </p:sp>
      <p:sp>
        <p:nvSpPr>
          <p:cNvPr id="3" name="Text 1"/>
          <p:cNvSpPr txBox="1"/>
          <p:nvPr/>
        </p:nvSpPr>
        <p:spPr>
          <a:xfrm>
            <a:off x="548640" y="822960"/>
            <a:ext cx="8046720" cy="73152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Demo starts here: 2:10 in the video</a:t>
            </a:r>
            <a:endParaRPr lang="en-US" sz="3200" dirty="0"/>
          </a:p>
        </p:txBody>
      </p:sp>
      <p:sp>
        <p:nvSpPr>
          <p:cNvPr id="4" name="step 1"/>
          <p:cNvSpPr/>
          <p:nvPr/>
        </p:nvSpPr>
        <p:spPr>
          <a:xfrm>
            <a:off x="548640" y="1783080"/>
            <a:ext cx="384048" cy="384048"/>
          </a:xfrm>
          <a:prstGeom prst="ellipse">
            <a:avLst/>
          </a:prstGeom>
          <a:solidFill>
            <a:srgbClr val="E93864"/>
          </a:solidFill>
          <a:ln w="12700">
            <a:solidFill>
              <a:srgbClr val="E93864"/>
            </a:solidFill>
            <a:prstDash val="solid"/>
          </a:ln>
        </p:spPr>
      </p:sp>
      <p:sp>
        <p:nvSpPr>
          <p:cNvPr id="5" name="Text 3"/>
          <p:cNvSpPr txBox="1"/>
          <p:nvPr/>
        </p:nvSpPr>
        <p:spPr>
          <a:xfrm>
            <a:off x="548640" y="178308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097280" y="1783080"/>
            <a:ext cx="292608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File it</a:t>
            </a:r>
            <a:endParaRPr lang="en-US" sz="1800" dirty="0"/>
          </a:p>
        </p:txBody>
      </p:sp>
      <p:sp>
        <p:nvSpPr>
          <p:cNvPr id="7" name="Text 5"/>
          <p:cNvSpPr txBox="1"/>
          <p:nvPr/>
        </p:nvSpPr>
        <p:spPr>
          <a:xfrm>
            <a:off x="4023360" y="1783080"/>
            <a:ext cx="4572000" cy="384048"/>
          </a:xfrm>
          <a:prstGeom prst="rect">
            <a:avLst/>
          </a:prstGeom>
          <a:noFill/>
          <a:ln/>
        </p:spPr>
        <p:txBody>
          <a:bodyPr wrap="square" lIns="0" tIns="0" rIns="0" bIns="0" rtlCol="0" anchor="ctr"/>
          <a:lstStyle/>
          <a:p>
            <a:pPr indent="0" marL="0">
              <a:buNone/>
            </a:pPr>
            <a:r>
              <a:rPr lang="en-US" sz="1600" dirty="0">
                <a:solidFill>
                  <a:srgbClr val="F7DDE3"/>
                </a:solidFill>
                <a:latin typeface="Calibri" pitchFamily="34" charset="0"/>
                <a:ea typeface="Calibri" pitchFamily="34" charset="-122"/>
                <a:cs typeface="Calibri" pitchFamily="34" charset="-120"/>
              </a:rPr>
              <a:t>Rider form → route deviation</a:t>
            </a:r>
            <a:endParaRPr lang="en-US" sz="1600" dirty="0"/>
          </a:p>
        </p:txBody>
      </p:sp>
      <p:sp>
        <p:nvSpPr>
          <p:cNvPr id="8" name="step 2"/>
          <p:cNvSpPr/>
          <p:nvPr/>
        </p:nvSpPr>
        <p:spPr>
          <a:xfrm>
            <a:off x="548640" y="2313432"/>
            <a:ext cx="384048" cy="384048"/>
          </a:xfrm>
          <a:prstGeom prst="ellipse">
            <a:avLst/>
          </a:prstGeom>
          <a:solidFill>
            <a:srgbClr val="E93864"/>
          </a:solidFill>
          <a:ln w="12700">
            <a:solidFill>
              <a:srgbClr val="E93864"/>
            </a:solidFill>
            <a:prstDash val="solid"/>
          </a:ln>
        </p:spPr>
      </p:sp>
      <p:sp>
        <p:nvSpPr>
          <p:cNvPr id="9" name="Text 7"/>
          <p:cNvSpPr txBox="1"/>
          <p:nvPr/>
        </p:nvSpPr>
        <p:spPr>
          <a:xfrm>
            <a:off x="548640" y="2313432"/>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txBox="1"/>
          <p:nvPr/>
        </p:nvSpPr>
        <p:spPr>
          <a:xfrm>
            <a:off x="1097280" y="2313432"/>
            <a:ext cx="292608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Watch the agents</a:t>
            </a:r>
            <a:endParaRPr lang="en-US" sz="1800" dirty="0"/>
          </a:p>
        </p:txBody>
      </p:sp>
      <p:sp>
        <p:nvSpPr>
          <p:cNvPr id="11" name="Text 9"/>
          <p:cNvSpPr txBox="1"/>
          <p:nvPr/>
        </p:nvSpPr>
        <p:spPr>
          <a:xfrm>
            <a:off x="4023360" y="2313432"/>
            <a:ext cx="4572000" cy="384048"/>
          </a:xfrm>
          <a:prstGeom prst="rect">
            <a:avLst/>
          </a:prstGeom>
          <a:noFill/>
          <a:ln/>
        </p:spPr>
        <p:txBody>
          <a:bodyPr wrap="square" lIns="0" tIns="0" rIns="0" bIns="0" rtlCol="0" anchor="ctr"/>
          <a:lstStyle/>
          <a:p>
            <a:pPr indent="0" marL="0">
              <a:buNone/>
            </a:pPr>
            <a:r>
              <a:rPr lang="en-US" sz="1600" dirty="0">
                <a:solidFill>
                  <a:srgbClr val="F7DDE3"/>
                </a:solidFill>
                <a:latin typeface="Calibri" pitchFamily="34" charset="0"/>
                <a:ea typeface="Calibri" pitchFamily="34" charset="-122"/>
                <a:cs typeface="Calibri" pitchFamily="34" charset="-120"/>
              </a:rPr>
              <a:t>Case file + event strip (RD-0109)</a:t>
            </a:r>
            <a:endParaRPr lang="en-US" sz="1600" dirty="0"/>
          </a:p>
        </p:txBody>
      </p:sp>
      <p:sp>
        <p:nvSpPr>
          <p:cNvPr id="12" name="step 3"/>
          <p:cNvSpPr/>
          <p:nvPr/>
        </p:nvSpPr>
        <p:spPr>
          <a:xfrm>
            <a:off x="548640" y="2843784"/>
            <a:ext cx="384048" cy="384048"/>
          </a:xfrm>
          <a:prstGeom prst="ellipse">
            <a:avLst/>
          </a:prstGeom>
          <a:solidFill>
            <a:srgbClr val="E93864"/>
          </a:solidFill>
          <a:ln w="12700">
            <a:solidFill>
              <a:srgbClr val="E93864"/>
            </a:solidFill>
            <a:prstDash val="solid"/>
          </a:ln>
        </p:spPr>
      </p:sp>
      <p:sp>
        <p:nvSpPr>
          <p:cNvPr id="13" name="Text 11"/>
          <p:cNvSpPr txBox="1"/>
          <p:nvPr/>
        </p:nvSpPr>
        <p:spPr>
          <a:xfrm>
            <a:off x="548640" y="2843784"/>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txBox="1"/>
          <p:nvPr/>
        </p:nvSpPr>
        <p:spPr>
          <a:xfrm>
            <a:off x="1097280" y="2843784"/>
            <a:ext cx="292608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See the gate hold</a:t>
            </a:r>
            <a:endParaRPr lang="en-US" sz="1800" dirty="0"/>
          </a:p>
        </p:txBody>
      </p:sp>
      <p:sp>
        <p:nvSpPr>
          <p:cNvPr id="15" name="Text 13"/>
          <p:cNvSpPr txBox="1"/>
          <p:nvPr/>
        </p:nvSpPr>
        <p:spPr>
          <a:xfrm>
            <a:off x="4023360" y="2843784"/>
            <a:ext cx="4572000" cy="384048"/>
          </a:xfrm>
          <a:prstGeom prst="rect">
            <a:avLst/>
          </a:prstGeom>
          <a:noFill/>
          <a:ln/>
        </p:spPr>
        <p:txBody>
          <a:bodyPr wrap="square" lIns="0" tIns="0" rIns="0" bIns="0" rtlCol="0" anchor="ctr"/>
          <a:lstStyle/>
          <a:p>
            <a:pPr indent="0" marL="0">
              <a:buNone/>
            </a:pPr>
            <a:r>
              <a:rPr lang="en-US" sz="1600" dirty="0">
                <a:solidFill>
                  <a:srgbClr val="F7DDE3"/>
                </a:solidFill>
                <a:latin typeface="Calibri" pitchFamily="34" charset="0"/>
                <a:ea typeface="Calibri" pitchFamily="34" charset="-122"/>
                <a:cs typeface="Calibri" pitchFamily="34" charset="-120"/>
              </a:rPr>
              <a:t>SGD 55 refund &gt; SGD 50 cap</a:t>
            </a:r>
            <a:endParaRPr lang="en-US" sz="1600" dirty="0"/>
          </a:p>
        </p:txBody>
      </p:sp>
      <p:sp>
        <p:nvSpPr>
          <p:cNvPr id="16" name="step 4"/>
          <p:cNvSpPr/>
          <p:nvPr/>
        </p:nvSpPr>
        <p:spPr>
          <a:xfrm>
            <a:off x="548640" y="3374136"/>
            <a:ext cx="384048" cy="384048"/>
          </a:xfrm>
          <a:prstGeom prst="ellipse">
            <a:avLst/>
          </a:prstGeom>
          <a:solidFill>
            <a:srgbClr val="E93864"/>
          </a:solidFill>
          <a:ln w="12700">
            <a:solidFill>
              <a:srgbClr val="E93864"/>
            </a:solidFill>
            <a:prstDash val="solid"/>
          </a:ln>
        </p:spPr>
      </p:sp>
      <p:sp>
        <p:nvSpPr>
          <p:cNvPr id="17" name="Text 15"/>
          <p:cNvSpPr txBox="1"/>
          <p:nvPr/>
        </p:nvSpPr>
        <p:spPr>
          <a:xfrm>
            <a:off x="548640" y="3374136"/>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1097280" y="3374136"/>
            <a:ext cx="292608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Human decides</a:t>
            </a:r>
            <a:endParaRPr lang="en-US" sz="1800" dirty="0"/>
          </a:p>
        </p:txBody>
      </p:sp>
      <p:sp>
        <p:nvSpPr>
          <p:cNvPr id="19" name="Text 17"/>
          <p:cNvSpPr txBox="1"/>
          <p:nvPr/>
        </p:nvSpPr>
        <p:spPr>
          <a:xfrm>
            <a:off x="4023360" y="3374136"/>
            <a:ext cx="4572000" cy="384048"/>
          </a:xfrm>
          <a:prstGeom prst="rect">
            <a:avLst/>
          </a:prstGeom>
          <a:noFill/>
          <a:ln/>
        </p:spPr>
        <p:txBody>
          <a:bodyPr wrap="square" lIns="0" tIns="0" rIns="0" bIns="0" rtlCol="0" anchor="ctr"/>
          <a:lstStyle/>
          <a:p>
            <a:pPr indent="0" marL="0">
              <a:buNone/>
            </a:pPr>
            <a:r>
              <a:rPr lang="en-US" sz="1600" dirty="0">
                <a:solidFill>
                  <a:srgbClr val="F7DDE3"/>
                </a:solidFill>
                <a:latin typeface="Calibri" pitchFamily="34" charset="0"/>
                <a:ea typeface="Calibri" pitchFamily="34" charset="-122"/>
                <a:cs typeface="Calibri" pitchFamily="34" charset="-120"/>
              </a:rPr>
              <a:t>Approve → party status page</a:t>
            </a:r>
            <a:endParaRPr lang="en-US" sz="1600" dirty="0"/>
          </a:p>
        </p:txBody>
      </p:sp>
      <p:sp>
        <p:nvSpPr>
          <p:cNvPr id="20" name="step 5"/>
          <p:cNvSpPr/>
          <p:nvPr/>
        </p:nvSpPr>
        <p:spPr>
          <a:xfrm>
            <a:off x="548640" y="3904488"/>
            <a:ext cx="384048" cy="384048"/>
          </a:xfrm>
          <a:prstGeom prst="ellipse">
            <a:avLst/>
          </a:prstGeom>
          <a:solidFill>
            <a:srgbClr val="E93864"/>
          </a:solidFill>
          <a:ln w="12700">
            <a:solidFill>
              <a:srgbClr val="E93864"/>
            </a:solidFill>
            <a:prstDash val="solid"/>
          </a:ln>
        </p:spPr>
      </p:sp>
      <p:sp>
        <p:nvSpPr>
          <p:cNvPr id="21" name="Text 19"/>
          <p:cNvSpPr txBox="1"/>
          <p:nvPr/>
        </p:nvSpPr>
        <p:spPr>
          <a:xfrm>
            <a:off x="548640" y="3904488"/>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txBox="1"/>
          <p:nvPr/>
        </p:nvSpPr>
        <p:spPr>
          <a:xfrm>
            <a:off x="1097280" y="3904488"/>
            <a:ext cx="292608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Clear case, no human</a:t>
            </a:r>
            <a:endParaRPr lang="en-US" sz="1800" dirty="0"/>
          </a:p>
        </p:txBody>
      </p:sp>
      <p:sp>
        <p:nvSpPr>
          <p:cNvPr id="23" name="Text 21"/>
          <p:cNvSpPr txBox="1"/>
          <p:nvPr/>
        </p:nvSpPr>
        <p:spPr>
          <a:xfrm>
            <a:off x="4023360" y="3904488"/>
            <a:ext cx="4572000" cy="384048"/>
          </a:xfrm>
          <a:prstGeom prst="rect">
            <a:avLst/>
          </a:prstGeom>
          <a:noFill/>
          <a:ln/>
        </p:spPr>
        <p:txBody>
          <a:bodyPr wrap="square" lIns="0" tIns="0" rIns="0" bIns="0" rtlCol="0" anchor="ctr"/>
          <a:lstStyle/>
          <a:p>
            <a:pPr indent="0" marL="0">
              <a:buNone/>
            </a:pPr>
            <a:r>
              <a:rPr lang="en-US" sz="1600" dirty="0">
                <a:solidFill>
                  <a:srgbClr val="F7DDE3"/>
                </a:solidFill>
                <a:latin typeface="Calibri" pitchFamily="34" charset="0"/>
                <a:ea typeface="Calibri" pitchFamily="34" charset="-122"/>
                <a:cs typeface="Calibri" pitchFamily="34" charset="-120"/>
              </a:rPr>
              <a:t>NS-0202 ruled alone: SGD 6.61</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Embed it in Ryde’s existing system</a:t>
            </a:r>
            <a:endParaRPr lang="en-US" sz="3000" dirty="0"/>
          </a:p>
        </p:txBody>
      </p:sp>
      <p:pic>
        <p:nvPicPr>
          <p:cNvPr id="3" name="Image 0" descr="Architecture: the Ryde app creates a ticket in Ryde's existing CS tool; a dispute event goes to the decision service running in Ryde's own cluster (Evidence Pack, three agents, gates), which reads trips, GPS, fares and chat from Ryde's data services, calls Tencent Cloud ADP running DeepSeek V4 Flash, and returns a ruling or a withheld case to the CS tool; Ryde payments apply any refund and CS agents review withheld cases.">    </p:cNvPr>
          <p:cNvPicPr>
            <a:picLocks noChangeAspect="1"/>
          </p:cNvPicPr>
          <p:nvPr/>
        </p:nvPicPr>
        <p:blipFill>
          <a:blip r:embed="rId1"/>
          <a:stretch>
            <a:fillRect/>
          </a:stretch>
        </p:blipFill>
        <p:spPr>
          <a:xfrm>
            <a:off x="640080" y="1051560"/>
            <a:ext cx="7863840" cy="3099396"/>
          </a:xfrm>
          <a:prstGeom prst="rect">
            <a:avLst/>
          </a:prstGeom>
        </p:spPr>
      </p:pic>
      <p:sp>
        <p:nvSpPr>
          <p:cNvPr id="4" name="Text 1"/>
          <p:cNvSpPr txBox="1"/>
          <p:nvPr/>
        </p:nvSpPr>
        <p:spPr>
          <a:xfrm>
            <a:off x="457200" y="4224528"/>
            <a:ext cx="8229600" cy="502920"/>
          </a:xfrm>
          <a:prstGeom prst="rect">
            <a:avLst/>
          </a:prstGeom>
          <a:noFill/>
          <a:ln/>
        </p:spPr>
        <p:txBody>
          <a:bodyPr wrap="square" lIns="0" tIns="0" rIns="0" bIns="0" rtlCol="0" anchor="t"/>
          <a:lstStyle/>
          <a:p>
            <a:pPr indent="0" marL="0">
              <a:buNone/>
            </a:pPr>
            <a:r>
              <a:rPr lang="en-US" sz="1400" b="1" dirty="0">
                <a:solidFill>
                  <a:srgbClr val="E93864"/>
                </a:solidFill>
                <a:latin typeface="Calibri" pitchFamily="34" charset="0"/>
                <a:ea typeface="Calibri" pitchFamily="34" charset="-122"/>
                <a:cs typeface="Calibri" pitchFamily="34" charset="-120"/>
              </a:rPr>
              <a:t>Ryde keeps the money and the customer: the service only recommends. </a:t>
            </a:r>
            <a:pPr indent="0" marL="0">
              <a:buNone/>
            </a:pPr>
            <a:r>
              <a:rPr lang="en-US" sz="1400" dirty="0">
                <a:solidFill>
                  <a:srgbClr val="31373E"/>
                </a:solidFill>
                <a:latin typeface="Calibri" pitchFamily="34" charset="0"/>
                <a:ea typeface="Calibri" pitchFamily="34" charset="-122"/>
                <a:cs typeface="Calibri" pitchFamily="34" charset="-120"/>
              </a:rPr>
              <a:t>Rollout: shadow, assist, limited autonomy, expand.</a:t>
            </a:r>
            <a:endParaRPr lang="en-US" sz="1400" dirty="0"/>
          </a:p>
        </p:txBody>
      </p:sp>
      <p:sp>
        <p:nvSpPr>
          <p:cNvPr id="5" name="Text 2"/>
          <p:cNvSpPr txBox="1"/>
          <p:nvPr/>
        </p:nvSpPr>
        <p:spPr>
          <a:xfrm>
            <a:off x="457200" y="4681728"/>
            <a:ext cx="768096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Runs on Ryde’s own infrastructure: only the model calls leave, to Tencent Cloud ADP. A hosted option is on slide 13.</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About S$120k of staff time, then S$14 a month</a:t>
            </a:r>
            <a:endParaRPr lang="en-US" sz="3000" dirty="0"/>
          </a:p>
        </p:txBody>
      </p:sp>
      <p:sp>
        <p:nvSpPr>
          <p:cNvPr id="3" name="card"/>
          <p:cNvSpPr/>
          <p:nvPr/>
        </p:nvSpPr>
        <p:spPr>
          <a:xfrm>
            <a:off x="457200" y="1234440"/>
            <a:ext cx="2560320" cy="2514600"/>
          </a:xfrm>
          <a:prstGeom prst="roundRect">
            <a:avLst>
              <a:gd name="adj" fmla="val 2909"/>
            </a:avLst>
          </a:prstGeom>
          <a:solidFill>
            <a:srgbClr val="FFFFFF"/>
          </a:solidFill>
          <a:ln w="9525">
            <a:solidFill>
              <a:srgbClr val="E3E6EA"/>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640080" y="1371600"/>
            <a:ext cx="2194560" cy="640080"/>
          </a:xfrm>
          <a:prstGeom prst="rect">
            <a:avLst/>
          </a:prstGeom>
          <a:noFill/>
          <a:ln/>
        </p:spPr>
        <p:txBody>
          <a:bodyPr wrap="square" lIns="0" tIns="0" rIns="0" bIns="0" rtlCol="0" anchor="ctr"/>
          <a:lstStyle/>
          <a:p>
            <a:pPr indent="0" marL="0">
              <a:buNone/>
            </a:pPr>
            <a:r>
              <a:rPr lang="en-US" sz="3800" b="1" dirty="0">
                <a:solidFill>
                  <a:srgbClr val="E93864"/>
                </a:solidFill>
                <a:latin typeface="Calibri" pitchFamily="34" charset="0"/>
                <a:ea typeface="Calibri" pitchFamily="34" charset="-122"/>
                <a:cs typeface="Calibri" pitchFamily="34" charset="-120"/>
              </a:rPr>
              <a:t>S$120k</a:t>
            </a:r>
            <a:endParaRPr lang="en-US" sz="3800" dirty="0"/>
          </a:p>
        </p:txBody>
      </p:sp>
      <p:sp>
        <p:nvSpPr>
          <p:cNvPr id="5" name="Text 3"/>
          <p:cNvSpPr txBox="1"/>
          <p:nvPr/>
        </p:nvSpPr>
        <p:spPr>
          <a:xfrm>
            <a:off x="640080" y="2011680"/>
            <a:ext cx="2194560" cy="320040"/>
          </a:xfrm>
          <a:prstGeom prst="rect">
            <a:avLst/>
          </a:prstGeom>
          <a:noFill/>
          <a:ln/>
        </p:spPr>
        <p:txBody>
          <a:bodyPr wrap="square" lIns="0" tIns="0" rIns="0" bIns="0" rtlCol="0" anchor="t"/>
          <a:lstStyle/>
          <a:p>
            <a:pPr indent="0" marL="0">
              <a:buNone/>
            </a:pPr>
            <a:r>
              <a:rPr lang="en-US" sz="1600" b="1" dirty="0">
                <a:solidFill>
                  <a:srgbClr val="31373E"/>
                </a:solidFill>
                <a:latin typeface="Calibri" pitchFamily="34" charset="0"/>
                <a:ea typeface="Calibri" pitchFamily="34" charset="-122"/>
                <a:cs typeface="Calibri" pitchFamily="34" charset="-120"/>
              </a:rPr>
              <a:t>one-off, staff time</a:t>
            </a:r>
            <a:endParaRPr lang="en-US" sz="1600" dirty="0"/>
          </a:p>
        </p:txBody>
      </p:sp>
      <p:sp>
        <p:nvSpPr>
          <p:cNvPr id="6" name="Text 4"/>
          <p:cNvSpPr txBox="1"/>
          <p:nvPr/>
        </p:nvSpPr>
        <p:spPr>
          <a:xfrm>
            <a:off x="640080" y="2395728"/>
            <a:ext cx="2194560" cy="1280160"/>
          </a:xfrm>
          <a:prstGeom prst="rect">
            <a:avLst/>
          </a:prstGeom>
          <a:noFill/>
          <a:ln/>
        </p:spPr>
        <p:txBody>
          <a:bodyPr wrap="square" lIns="0" tIns="0" rIns="0" bIns="0" rtlCol="0" anchor="t"/>
          <a:lstStyle/>
          <a:p>
            <a:pPr indent="0" marL="0">
              <a:buNone/>
            </a:pPr>
            <a:r>
              <a:rPr lang="en-US" sz="1300" dirty="0">
                <a:solidFill>
                  <a:srgbClr val="5A6470"/>
                </a:solidFill>
                <a:latin typeface="Calibri" pitchFamily="34" charset="0"/>
                <a:ea typeface="Calibri" pitchFamily="34" charset="-122"/>
                <a:cs typeface="Calibri" pitchFamily="34" charset="-120"/>
              </a:rPr>
              <a:t>Ryde’s own people: 2 engineers × 4 months, plus PM, QA and security review. Not a new cash outlay.</a:t>
            </a:r>
            <a:endParaRPr lang="en-US" sz="1300" dirty="0"/>
          </a:p>
        </p:txBody>
      </p:sp>
      <p:sp>
        <p:nvSpPr>
          <p:cNvPr id="7" name="card"/>
          <p:cNvSpPr/>
          <p:nvPr/>
        </p:nvSpPr>
        <p:spPr>
          <a:xfrm>
            <a:off x="3291840" y="1234440"/>
            <a:ext cx="2560320" cy="2514600"/>
          </a:xfrm>
          <a:prstGeom prst="roundRect">
            <a:avLst>
              <a:gd name="adj" fmla="val 2909"/>
            </a:avLst>
          </a:prstGeom>
          <a:solidFill>
            <a:srgbClr val="FFFFFF"/>
          </a:solidFill>
          <a:ln w="9525">
            <a:solidFill>
              <a:srgbClr val="E3E6EA"/>
            </a:solidFill>
            <a:prstDash val="solid"/>
          </a:ln>
          <a:effectLst>
            <a:outerShdw sx="100000" sy="100000" kx="0" ky="0" algn="bl" rotWithShape="0" blurRad="76200" dist="25400" dir="5400000">
              <a:srgbClr val="000000">
                <a:alpha val="12000"/>
              </a:srgbClr>
            </a:outerShdw>
          </a:effectLst>
        </p:spPr>
      </p:sp>
      <p:sp>
        <p:nvSpPr>
          <p:cNvPr id="8" name="Text 6"/>
          <p:cNvSpPr txBox="1"/>
          <p:nvPr/>
        </p:nvSpPr>
        <p:spPr>
          <a:xfrm>
            <a:off x="3474720" y="1371600"/>
            <a:ext cx="2194560" cy="640080"/>
          </a:xfrm>
          <a:prstGeom prst="rect">
            <a:avLst/>
          </a:prstGeom>
          <a:noFill/>
          <a:ln/>
        </p:spPr>
        <p:txBody>
          <a:bodyPr wrap="square" lIns="0" tIns="0" rIns="0" bIns="0" rtlCol="0" anchor="ctr"/>
          <a:lstStyle/>
          <a:p>
            <a:pPr indent="0" marL="0">
              <a:buNone/>
            </a:pPr>
            <a:r>
              <a:rPr lang="en-US" sz="3800" b="1" dirty="0">
                <a:solidFill>
                  <a:srgbClr val="E93864"/>
                </a:solidFill>
                <a:latin typeface="Calibri" pitchFamily="34" charset="0"/>
                <a:ea typeface="Calibri" pitchFamily="34" charset="-122"/>
                <a:cs typeface="Calibri" pitchFamily="34" charset="-120"/>
              </a:rPr>
              <a:t>S$14</a:t>
            </a:r>
            <a:endParaRPr lang="en-US" sz="3800" dirty="0"/>
          </a:p>
        </p:txBody>
      </p:sp>
      <p:sp>
        <p:nvSpPr>
          <p:cNvPr id="9" name="Text 7"/>
          <p:cNvSpPr txBox="1"/>
          <p:nvPr/>
        </p:nvSpPr>
        <p:spPr>
          <a:xfrm>
            <a:off x="3474720" y="2011680"/>
            <a:ext cx="2194560" cy="320040"/>
          </a:xfrm>
          <a:prstGeom prst="rect">
            <a:avLst/>
          </a:prstGeom>
          <a:noFill/>
          <a:ln/>
        </p:spPr>
        <p:txBody>
          <a:bodyPr wrap="square" lIns="0" tIns="0" rIns="0" bIns="0" rtlCol="0" anchor="t"/>
          <a:lstStyle/>
          <a:p>
            <a:pPr indent="0" marL="0">
              <a:buNone/>
            </a:pPr>
            <a:r>
              <a:rPr lang="en-US" sz="1600" b="1" dirty="0">
                <a:solidFill>
                  <a:srgbClr val="31373E"/>
                </a:solidFill>
                <a:latin typeface="Calibri" pitchFamily="34" charset="0"/>
                <a:ea typeface="Calibri" pitchFamily="34" charset="-122"/>
                <a:cs typeface="Calibri" pitchFamily="34" charset="-120"/>
              </a:rPr>
              <a:t>a month to run</a:t>
            </a:r>
            <a:endParaRPr lang="en-US" sz="1600" dirty="0"/>
          </a:p>
        </p:txBody>
      </p:sp>
      <p:sp>
        <p:nvSpPr>
          <p:cNvPr id="10" name="Text 8"/>
          <p:cNvSpPr txBox="1"/>
          <p:nvPr/>
        </p:nvSpPr>
        <p:spPr>
          <a:xfrm>
            <a:off x="3474720" y="2395728"/>
            <a:ext cx="2194560" cy="1280160"/>
          </a:xfrm>
          <a:prstGeom prst="rect">
            <a:avLst/>
          </a:prstGeom>
          <a:noFill/>
          <a:ln/>
        </p:spPr>
        <p:txBody>
          <a:bodyPr wrap="square" lIns="0" tIns="0" rIns="0" bIns="0" rtlCol="0" anchor="t"/>
          <a:lstStyle/>
          <a:p>
            <a:pPr indent="0" marL="0">
              <a:buNone/>
            </a:pPr>
            <a:r>
              <a:rPr lang="en-US" sz="1300" dirty="0">
                <a:solidFill>
                  <a:srgbClr val="5A6470"/>
                </a:solidFill>
                <a:latin typeface="Calibri" pitchFamily="34" charset="0"/>
                <a:ea typeface="Calibri" pitchFamily="34" charset="-122"/>
                <a:cs typeface="Calibri" pitchFamily="34" charset="-120"/>
              </a:rPr>
              <a:t>API tokens only: DeepSeek V4 Flash, about S$0.01 a case. It runs on Ryde’s existing infrastructure and support team.</a:t>
            </a:r>
            <a:endParaRPr lang="en-US" sz="1300" dirty="0"/>
          </a:p>
        </p:txBody>
      </p:sp>
      <p:sp>
        <p:nvSpPr>
          <p:cNvPr id="11" name="card"/>
          <p:cNvSpPr/>
          <p:nvPr/>
        </p:nvSpPr>
        <p:spPr>
          <a:xfrm>
            <a:off x="6126480" y="1234440"/>
            <a:ext cx="2560320" cy="2514600"/>
          </a:xfrm>
          <a:prstGeom prst="roundRect">
            <a:avLst>
              <a:gd name="adj" fmla="val 2909"/>
            </a:avLst>
          </a:prstGeom>
          <a:solidFill>
            <a:srgbClr val="FFFFFF"/>
          </a:solidFill>
          <a:ln w="9525">
            <a:solidFill>
              <a:srgbClr val="E3E6EA"/>
            </a:solidFill>
            <a:prstDash val="solid"/>
          </a:ln>
          <a:effectLst>
            <a:outerShdw sx="100000" sy="100000" kx="0" ky="0" algn="bl" rotWithShape="0" blurRad="76200" dist="25400" dir="5400000">
              <a:srgbClr val="000000">
                <a:alpha val="12000"/>
              </a:srgbClr>
            </a:outerShdw>
          </a:effectLst>
        </p:spPr>
      </p:sp>
      <p:sp>
        <p:nvSpPr>
          <p:cNvPr id="12" name="Text 10"/>
          <p:cNvSpPr txBox="1"/>
          <p:nvPr/>
        </p:nvSpPr>
        <p:spPr>
          <a:xfrm>
            <a:off x="6309360" y="1371600"/>
            <a:ext cx="2194560" cy="640080"/>
          </a:xfrm>
          <a:prstGeom prst="rect">
            <a:avLst/>
          </a:prstGeom>
          <a:noFill/>
          <a:ln/>
        </p:spPr>
        <p:txBody>
          <a:bodyPr wrap="square" lIns="0" tIns="0" rIns="0" bIns="0" rtlCol="0" anchor="ctr"/>
          <a:lstStyle/>
          <a:p>
            <a:pPr indent="0" marL="0">
              <a:buNone/>
            </a:pPr>
            <a:r>
              <a:rPr lang="en-US" sz="3800" b="1" dirty="0">
                <a:solidFill>
                  <a:srgbClr val="E93864"/>
                </a:solidFill>
                <a:latin typeface="Calibri" pitchFamily="34" charset="0"/>
                <a:ea typeface="Calibri" pitchFamily="34" charset="-122"/>
                <a:cs typeface="Calibri" pitchFamily="34" charset="-120"/>
              </a:rPr>
              <a:t>9 months</a:t>
            </a:r>
            <a:endParaRPr lang="en-US" sz="3800" dirty="0"/>
          </a:p>
        </p:txBody>
      </p:sp>
      <p:sp>
        <p:nvSpPr>
          <p:cNvPr id="13" name="Text 11"/>
          <p:cNvSpPr txBox="1"/>
          <p:nvPr/>
        </p:nvSpPr>
        <p:spPr>
          <a:xfrm>
            <a:off x="6309360" y="2011680"/>
            <a:ext cx="2194560" cy="320040"/>
          </a:xfrm>
          <a:prstGeom prst="rect">
            <a:avLst/>
          </a:prstGeom>
          <a:noFill/>
          <a:ln/>
        </p:spPr>
        <p:txBody>
          <a:bodyPr wrap="square" lIns="0" tIns="0" rIns="0" bIns="0" rtlCol="0" anchor="t"/>
          <a:lstStyle/>
          <a:p>
            <a:pPr indent="0" marL="0">
              <a:buNone/>
            </a:pPr>
            <a:r>
              <a:rPr lang="en-US" sz="1600" b="1" dirty="0">
                <a:solidFill>
                  <a:srgbClr val="31373E"/>
                </a:solidFill>
                <a:latin typeface="Calibri" pitchFamily="34" charset="0"/>
                <a:ea typeface="Calibri" pitchFamily="34" charset="-122"/>
                <a:cs typeface="Calibri" pitchFamily="34" charset="-120"/>
              </a:rPr>
              <a:t>to limited autonomy</a:t>
            </a:r>
            <a:endParaRPr lang="en-US" sz="1600" dirty="0"/>
          </a:p>
        </p:txBody>
      </p:sp>
      <p:sp>
        <p:nvSpPr>
          <p:cNvPr id="14" name="Text 12"/>
          <p:cNvSpPr txBox="1"/>
          <p:nvPr/>
        </p:nvSpPr>
        <p:spPr>
          <a:xfrm>
            <a:off x="6309360" y="2395728"/>
            <a:ext cx="2194560" cy="1280160"/>
          </a:xfrm>
          <a:prstGeom prst="rect">
            <a:avLst/>
          </a:prstGeom>
          <a:noFill/>
          <a:ln/>
        </p:spPr>
        <p:txBody>
          <a:bodyPr wrap="square" lIns="0" tIns="0" rIns="0" bIns="0" rtlCol="0" anchor="t"/>
          <a:lstStyle/>
          <a:p>
            <a:pPr indent="0" marL="0">
              <a:buNone/>
            </a:pPr>
            <a:r>
              <a:rPr lang="en-US" sz="1300" dirty="0">
                <a:solidFill>
                  <a:srgbClr val="5A6470"/>
                </a:solidFill>
                <a:latin typeface="Calibri" pitchFamily="34" charset="0"/>
                <a:ea typeface="Calibri" pitchFamily="34" charset="-122"/>
                <a:cs typeface="Calibri" pitchFamily="34" charset="-120"/>
              </a:rPr>
              <a:t>4 build · 2 shadow · 3 assist. We measure before we trust.</a:t>
            </a:r>
            <a:endParaRPr lang="en-US" sz="1300" dirty="0"/>
          </a:p>
        </p:txBody>
      </p:sp>
      <p:sp>
        <p:nvSpPr>
          <p:cNvPr id="15" name="sizing strip"/>
          <p:cNvSpPr/>
          <p:nvPr/>
        </p:nvSpPr>
        <p:spPr>
          <a:xfrm>
            <a:off x="457200" y="3931920"/>
            <a:ext cx="8229600" cy="594360"/>
          </a:xfrm>
          <a:prstGeom prst="roundRect">
            <a:avLst>
              <a:gd name="adj" fmla="val 12308"/>
            </a:avLst>
          </a:prstGeom>
          <a:solidFill>
            <a:srgbClr val="F7DDE3"/>
          </a:solidFill>
          <a:ln w="12700">
            <a:solidFill>
              <a:srgbClr val="F7DDE3"/>
            </a:solidFill>
            <a:prstDash val="solid"/>
          </a:ln>
        </p:spPr>
      </p:sp>
      <p:sp>
        <p:nvSpPr>
          <p:cNvPr id="16" name="Text 14"/>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400" dirty="0">
                <a:solidFill>
                  <a:srgbClr val="31373E"/>
                </a:solidFill>
                <a:latin typeface="Calibri" pitchFamily="34" charset="0"/>
                <a:ea typeface="Calibri" pitchFamily="34" charset="-122"/>
                <a:cs typeface="Calibri" pitchFamily="34" charset="-120"/>
              </a:rPr>
              <a:t>Sized for about 1,300 in-scope cases a month. Even on the dearer DeepSeek V4 Pro, running cost is about S$170 a month.</a:t>
            </a:r>
            <a:endParaRPr lang="en-US" sz="1400" dirty="0"/>
          </a:p>
        </p:txBody>
      </p:sp>
      <p:sp>
        <p:nvSpPr>
          <p:cNvPr id="17" name="Text 15"/>
          <p:cNvSpPr txBox="1"/>
          <p:nvPr/>
        </p:nvSpPr>
        <p:spPr>
          <a:xfrm>
            <a:off x="457200" y="4681728"/>
            <a:ext cx="768096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Token rates verified from Tencent Cloud ADP pages; tokens per case, staff cost and volume are ASSUMPTIONS. Breakdown on slide 8.</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Doing nothing costs about S$400k over three years</a:t>
            </a:r>
            <a:endParaRPr lang="en-US" sz="3000" dirty="0"/>
          </a:p>
        </p:txBody>
      </p:sp>
      <p:graphicFrame>
        <p:nvGraphicFramePr>
          <p:cNvPr id="3" name="Chart 0" descr=""/>
          <p:cNvGraphicFramePr/>
          <p:nvPr/>
        </p:nvGraphicFramePr>
        <p:xfrm>
          <a:off x="365760" y="1143000"/>
          <a:ext cx="5212080" cy="3429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852160" y="1097280"/>
            <a:ext cx="2834640" cy="502920"/>
          </a:xfrm>
          <a:prstGeom prst="rect">
            <a:avLst/>
          </a:prstGeom>
          <a:noFill/>
          <a:ln/>
        </p:spPr>
        <p:txBody>
          <a:bodyPr wrap="square" lIns="0" tIns="0" rIns="0" bIns="0" rtlCol="0" anchor="ctr"/>
          <a:lstStyle/>
          <a:p>
            <a:pPr indent="0" marL="0">
              <a:buNone/>
            </a:pPr>
            <a:r>
              <a:rPr lang="en-US" sz="3600" b="1" dirty="0">
                <a:solidFill>
                  <a:srgbClr val="31373E"/>
                </a:solidFill>
                <a:latin typeface="Calibri" pitchFamily="34" charset="0"/>
                <a:ea typeface="Calibri" pitchFamily="34" charset="-122"/>
                <a:cs typeface="Calibri" pitchFamily="34" charset="-120"/>
              </a:rPr>
              <a:t>S$397k</a:t>
            </a:r>
            <a:endParaRPr lang="en-US" sz="3600" dirty="0"/>
          </a:p>
        </p:txBody>
      </p:sp>
      <p:sp>
        <p:nvSpPr>
          <p:cNvPr id="5" name="Text 2"/>
          <p:cNvSpPr txBox="1"/>
          <p:nvPr/>
        </p:nvSpPr>
        <p:spPr>
          <a:xfrm>
            <a:off x="5852160" y="1600200"/>
            <a:ext cx="2834640" cy="274320"/>
          </a:xfrm>
          <a:prstGeom prst="rect">
            <a:avLst/>
          </a:prstGeom>
          <a:noFill/>
          <a:ln/>
        </p:spPr>
        <p:txBody>
          <a:bodyPr wrap="square" lIns="0" tIns="0" rIns="0" bIns="0" rtlCol="0" anchor="t"/>
          <a:lstStyle/>
          <a:p>
            <a:pPr indent="0" marL="0">
              <a:buNone/>
            </a:pPr>
            <a:r>
              <a:rPr lang="en-US" sz="1400" dirty="0">
                <a:solidFill>
                  <a:srgbClr val="5A6470"/>
                </a:solidFill>
                <a:latin typeface="Calibri" pitchFamily="34" charset="0"/>
                <a:ea typeface="Calibri" pitchFamily="34" charset="-122"/>
                <a:cs typeface="Calibri" pitchFamily="34" charset="-120"/>
              </a:rPr>
              <a:t>if nothing changes</a:t>
            </a:r>
            <a:endParaRPr lang="en-US" sz="1400" dirty="0"/>
          </a:p>
        </p:txBody>
      </p:sp>
      <p:sp>
        <p:nvSpPr>
          <p:cNvPr id="6" name="Text 3"/>
          <p:cNvSpPr txBox="1"/>
          <p:nvPr/>
        </p:nvSpPr>
        <p:spPr>
          <a:xfrm>
            <a:off x="5852160" y="1920240"/>
            <a:ext cx="2834640" cy="502920"/>
          </a:xfrm>
          <a:prstGeom prst="rect">
            <a:avLst/>
          </a:prstGeom>
          <a:noFill/>
          <a:ln/>
        </p:spPr>
        <p:txBody>
          <a:bodyPr wrap="square" lIns="0" tIns="0" rIns="0" bIns="0" rtlCol="0" anchor="ctr"/>
          <a:lstStyle/>
          <a:p>
            <a:pPr indent="0" marL="0">
              <a:buNone/>
            </a:pPr>
            <a:r>
              <a:rPr lang="en-US" sz="3600" b="1" dirty="0">
                <a:solidFill>
                  <a:srgbClr val="E93864"/>
                </a:solidFill>
                <a:latin typeface="Calibri" pitchFamily="34" charset="0"/>
                <a:ea typeface="Calibri" pitchFamily="34" charset="-122"/>
                <a:cs typeface="Calibri" pitchFamily="34" charset="-120"/>
              </a:rPr>
              <a:t>S$244k</a:t>
            </a:r>
            <a:endParaRPr lang="en-US" sz="3600" dirty="0"/>
          </a:p>
        </p:txBody>
      </p:sp>
      <p:sp>
        <p:nvSpPr>
          <p:cNvPr id="7" name="Text 4"/>
          <p:cNvSpPr txBox="1"/>
          <p:nvPr/>
        </p:nvSpPr>
        <p:spPr>
          <a:xfrm>
            <a:off x="5852160" y="2423160"/>
            <a:ext cx="2834640" cy="274320"/>
          </a:xfrm>
          <a:prstGeom prst="rect">
            <a:avLst/>
          </a:prstGeom>
          <a:noFill/>
          <a:ln/>
        </p:spPr>
        <p:txBody>
          <a:bodyPr wrap="square" lIns="0" tIns="0" rIns="0" bIns="0" rtlCol="0" anchor="t"/>
          <a:lstStyle/>
          <a:p>
            <a:pPr indent="0" marL="0">
              <a:buNone/>
            </a:pPr>
            <a:r>
              <a:rPr lang="en-US" sz="1400" dirty="0">
                <a:solidFill>
                  <a:srgbClr val="5A6470"/>
                </a:solidFill>
                <a:latin typeface="Calibri" pitchFamily="34" charset="0"/>
                <a:ea typeface="Calibri" pitchFamily="34" charset="-122"/>
                <a:cs typeface="Calibri" pitchFamily="34" charset="-120"/>
              </a:rPr>
              <a:t>with our system, staff time included</a:t>
            </a:r>
            <a:endParaRPr lang="en-US" sz="1400" dirty="0"/>
          </a:p>
        </p:txBody>
      </p:sp>
      <p:sp>
        <p:nvSpPr>
          <p:cNvPr id="8" name="Text 5"/>
          <p:cNvSpPr txBox="1"/>
          <p:nvPr/>
        </p:nvSpPr>
        <p:spPr>
          <a:xfrm>
            <a:off x="5852160" y="2788920"/>
            <a:ext cx="2834640" cy="457200"/>
          </a:xfrm>
          <a:prstGeom prst="rect">
            <a:avLst/>
          </a:prstGeom>
          <a:noFill/>
          <a:ln/>
        </p:spPr>
        <p:txBody>
          <a:bodyPr wrap="square" lIns="0" tIns="0" rIns="0" bIns="0" rtlCol="0" anchor="t"/>
          <a:lstStyle/>
          <a:p>
            <a:pPr indent="0" marL="0">
              <a:buNone/>
            </a:pPr>
            <a:r>
              <a:rPr lang="en-US" sz="1200" b="1" dirty="0">
                <a:solidFill>
                  <a:srgbClr val="31373E"/>
                </a:solidFill>
                <a:latin typeface="Calibri" pitchFamily="34" charset="0"/>
                <a:ea typeface="Calibri" pitchFamily="34" charset="-122"/>
                <a:cs typeface="Calibri" pitchFamily="34" charset="-120"/>
              </a:rPr>
              <a:t>S$153k saved, </a:t>
            </a:r>
            <a:pPr indent="0" marL="0">
              <a:buNone/>
            </a:pPr>
            <a:r>
              <a:rPr lang="en-US" sz="1200" dirty="0">
                <a:solidFill>
                  <a:srgbClr val="5A6470"/>
                </a:solidFill>
                <a:latin typeface="Calibri" pitchFamily="34" charset="0"/>
                <a:ea typeface="Calibri" pitchFamily="34" charset="-122"/>
                <a:cs typeface="Calibri" pitchFamily="34" charset="-120"/>
              </a:rPr>
              <a:t>127% return on the staff time.</a:t>
            </a:r>
            <a:endParaRPr lang="en-US" sz="1200" dirty="0"/>
          </a:p>
        </p:txBody>
      </p:sp>
      <p:graphicFrame>
        <p:nvGraphicFramePr>
          <p:cNvPr id="8" name="payback table"/>
          <p:cNvGraphicFramePr>
            <a:graphicFrameLocks noGrp="1"/>
          </p:cNvGraphicFramePr>
          <p:nvPr>
            <p:extLst>
              <p:ext uri="{D42A27DB-BD31-4B8C-83A1-F6EECF244321}">
                <p14:modId xmlns:p14="http://schemas.microsoft.com/office/powerpoint/2010/main" val="1579011935"/>
              </p:ext>
            </p:extLst>
          </p:nvPr>
        </p:nvGraphicFramePr>
        <p:xfrm>
          <a:off x="5852160" y="3291840"/>
          <a:ext cx="2834640" cy="914400"/>
        </p:xfrm>
        <a:graphic>
          <a:graphicData uri="http://schemas.openxmlformats.org/drawingml/2006/table">
            <a:tbl>
              <a:tblPr/>
              <a:tblGrid>
                <a:gridCol w="1463040"/>
                <a:gridCol w="1371600"/>
              </a:tblGrid>
              <a:tr h="23774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Disputes, % of trips</a:t>
                      </a:r>
                      <a:endParaRPr lang="en-US" sz="11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Payback</a:t>
                      </a:r>
                      <a:endParaRPr lang="en-US" sz="11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r>
              <a:tr h="23774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month 33</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37744">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1% (base)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E93864"/>
                          </a:solidFill>
                          <a:latin typeface="Calibri" pitchFamily="34" charset="0"/>
                          <a:ea typeface="Calibri" pitchFamily="34" charset="-122"/>
                          <a:cs typeface="Calibri" pitchFamily="34" charset="-120"/>
                        </a:rPr>
                        <a:t>month 21</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3774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month 17</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3774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month 14</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0" name="Text 6"/>
          <p:cNvSpPr txBox="1"/>
          <p:nvPr/>
        </p:nvSpPr>
        <p:spPr>
          <a:xfrm>
            <a:off x="457200" y="4681728"/>
            <a:ext cx="768096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ASSUMPTIONS: 1% of trips disputed, 40% in scope, S$7.50 each, 10% yearly growth, AI decides 60%. Cost = Ryde staff time + API tokens. Uber reference: slide 9.</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Reference: cost breakdown</a:t>
            </a:r>
            <a:endParaRPr lang="en-US" sz="3000" dirty="0"/>
          </a:p>
        </p:txBody>
      </p:sp>
      <p:graphicFrame>
        <p:nvGraphicFramePr>
          <p:cNvPr id="9" name="staff cost table"/>
          <p:cNvGraphicFramePr>
            <a:graphicFrameLocks noGrp="1"/>
          </p:cNvGraphicFramePr>
          <p:nvPr>
            <p:extLst>
              <p:ext uri="{D42A27DB-BD31-4B8C-83A1-F6EECF244321}">
                <p14:modId xmlns:p14="http://schemas.microsoft.com/office/powerpoint/2010/main" val="1579011935"/>
              </p:ext>
            </p:extLst>
          </p:nvPr>
        </p:nvGraphicFramePr>
        <p:xfrm>
          <a:off x="457200" y="1143000"/>
          <a:ext cx="4206240" cy="914400"/>
        </p:xfrm>
        <a:graphic>
          <a:graphicData uri="http://schemas.openxmlformats.org/drawingml/2006/table">
            <a:tbl>
              <a:tblPr/>
              <a:tblGrid>
                <a:gridCol w="2560320"/>
                <a:gridCol w="640080"/>
                <a:gridCol w="10058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One-off: Ryde staff time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S$k</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Basis</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r>
              <a:tr h="457200">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2 engineers × 4 months at S$12,000 a month</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96</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B3264A"/>
                          </a:solidFill>
                          <a:latin typeface="Calibri" pitchFamily="34" charset="0"/>
                          <a:ea typeface="Calibri" pitchFamily="34" charset="-122"/>
                          <a:cs typeface="Calibri" pitchFamily="34" charset="-120"/>
                        </a:rPr>
                        <a:t>Assumed</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PM, QA and security review</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B3264A"/>
                          </a:solidFill>
                          <a:latin typeface="Calibri" pitchFamily="34" charset="0"/>
                          <a:ea typeface="Calibri" pitchFamily="34" charset="-122"/>
                          <a:cs typeface="Calibri" pitchFamily="34" charset="-120"/>
                        </a:rPr>
                        <a:t>Assumed</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10896">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4" name="Text 1"/>
          <p:cNvSpPr txBox="1"/>
          <p:nvPr/>
        </p:nvSpPr>
        <p:spPr>
          <a:xfrm>
            <a:off x="457200" y="3017520"/>
            <a:ext cx="4206240" cy="1005840"/>
          </a:xfrm>
          <a:prstGeom prst="rect">
            <a:avLst/>
          </a:prstGeom>
          <a:noFill/>
          <a:ln/>
        </p:spPr>
        <p:txBody>
          <a:bodyPr wrap="square" lIns="0" tIns="0" rIns="0" bIns="0" rtlCol="0" anchor="t"/>
          <a:lstStyle/>
          <a:p>
            <a:pPr indent="0" marL="0">
              <a:buNone/>
            </a:pPr>
            <a:r>
              <a:rPr lang="en-US" sz="1200" dirty="0">
                <a:solidFill>
                  <a:srgbClr val="5A6470"/>
                </a:solidFill>
                <a:latin typeface="Calibri" pitchFamily="34" charset="0"/>
                <a:ea typeface="Calibri" pitchFamily="34" charset="-122"/>
                <a:cs typeface="Calibri" pitchFamily="34" charset="-120"/>
              </a:rPr>
              <a:t>Staff time is an opportunity cost, not cash: Ryde’s engineers are already salaried. There is no new infrastructure: the service runs on what Ryde already operates, and support is absorbed by the existing team.</a:t>
            </a:r>
            <a:endParaRPr lang="en-US" sz="1200" dirty="0"/>
          </a:p>
        </p:txBody>
      </p:sp>
      <p:graphicFrame>
        <p:nvGraphicFramePr>
          <p:cNvPr id="17" name="model cost table"/>
          <p:cNvGraphicFramePr>
            <a:graphicFrameLocks noGrp="1"/>
          </p:cNvGraphicFramePr>
          <p:nvPr>
            <p:extLst>
              <p:ext uri="{D42A27DB-BD31-4B8C-83A1-F6EECF244321}">
                <p14:modId xmlns:p14="http://schemas.microsoft.com/office/powerpoint/2010/main" val="1579011935"/>
              </p:ext>
            </p:extLst>
          </p:nvPr>
        </p:nvGraphicFramePr>
        <p:xfrm>
          <a:off x="4937760" y="1143000"/>
          <a:ext cx="3749040" cy="914400"/>
        </p:xfrm>
        <a:graphic>
          <a:graphicData uri="http://schemas.openxmlformats.org/drawingml/2006/table">
            <a:tbl>
              <a:tblPr/>
              <a:tblGrid>
                <a:gridCol w="2011680"/>
                <a:gridCol w="822960"/>
                <a:gridCol w="9144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 (ADP)</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US$/mo</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S$/mo</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r>
              <a:tr h="310896">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DeepSeek V4 Flash (base)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10896">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DeepSeek V4 Pro</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171</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10896">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DeepSeek V3.1</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342</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443</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10896">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GPT-5.5</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473</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612</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6" name="total box"/>
          <p:cNvSpPr/>
          <p:nvPr/>
        </p:nvSpPr>
        <p:spPr>
          <a:xfrm>
            <a:off x="4937760" y="2926080"/>
            <a:ext cx="3749040" cy="1463040"/>
          </a:xfrm>
          <a:prstGeom prst="roundRect">
            <a:avLst>
              <a:gd name="adj" fmla="val 5000"/>
            </a:avLst>
          </a:prstGeom>
          <a:solidFill>
            <a:srgbClr val="F7DDE3"/>
          </a:solidFill>
          <a:ln w="12700">
            <a:solidFill>
              <a:srgbClr val="F7DDE3"/>
            </a:solidFill>
            <a:prstDash val="solid"/>
          </a:ln>
        </p:spPr>
      </p:sp>
      <p:sp>
        <p:nvSpPr>
          <p:cNvPr id="7" name="Text 3"/>
          <p:cNvSpPr txBox="1"/>
          <p:nvPr/>
        </p:nvSpPr>
        <p:spPr>
          <a:xfrm>
            <a:off x="5120640" y="3017520"/>
            <a:ext cx="3383280" cy="411480"/>
          </a:xfrm>
          <a:prstGeom prst="rect">
            <a:avLst/>
          </a:prstGeom>
          <a:noFill/>
          <a:ln/>
        </p:spPr>
        <p:txBody>
          <a:bodyPr wrap="square" lIns="0" tIns="0" rIns="0" bIns="0" rtlCol="0" anchor="ctr"/>
          <a:lstStyle/>
          <a:p>
            <a:pPr indent="0" marL="0">
              <a:buNone/>
            </a:pPr>
            <a:r>
              <a:rPr lang="en-US" sz="2000" b="1" dirty="0">
                <a:solidFill>
                  <a:srgbClr val="E93864"/>
                </a:solidFill>
                <a:latin typeface="Calibri" pitchFamily="34" charset="0"/>
                <a:ea typeface="Calibri" pitchFamily="34" charset="-122"/>
                <a:cs typeface="Calibri" pitchFamily="34" charset="-120"/>
              </a:rPr>
              <a:t>About S$14 a month to run</a:t>
            </a:r>
            <a:endParaRPr lang="en-US" sz="2000" dirty="0"/>
          </a:p>
        </p:txBody>
      </p:sp>
      <p:sp>
        <p:nvSpPr>
          <p:cNvPr id="8" name="Text 4"/>
          <p:cNvSpPr txBox="1"/>
          <p:nvPr/>
        </p:nvSpPr>
        <p:spPr>
          <a:xfrm>
            <a:off x="5120640" y="3474720"/>
            <a:ext cx="3383280" cy="868680"/>
          </a:xfrm>
          <a:prstGeom prst="rect">
            <a:avLst/>
          </a:prstGeom>
          <a:noFill/>
          <a:ln/>
        </p:spPr>
        <p:txBody>
          <a:bodyPr wrap="square" lIns="0" tIns="0" rIns="0" bIns="0" rtlCol="0" anchor="t"/>
          <a:lstStyle/>
          <a:p>
            <a:pPr indent="0" marL="0">
              <a:buNone/>
            </a:pPr>
            <a:r>
              <a:rPr lang="en-US" sz="1200" dirty="0">
                <a:solidFill>
                  <a:srgbClr val="31373E"/>
                </a:solidFill>
                <a:latin typeface="Calibri" pitchFamily="34" charset="0"/>
                <a:ea typeface="Calibri" pitchFamily="34" charset="-122"/>
                <a:cs typeface="Calibri" pitchFamily="34" charset="-120"/>
              </a:rPr>
              <a:t>API tokens only: about S$0.01 a case on DeepSeek V4 Flash, at 1,333 cases a month. Input caching could cut it further (not assumed).</a:t>
            </a:r>
            <a:endParaRPr lang="en-US" sz="1200" dirty="0"/>
          </a:p>
        </p:txBody>
      </p:sp>
      <p:sp>
        <p:nvSpPr>
          <p:cNvPr id="9" name="Text 5"/>
          <p:cNvSpPr txBox="1"/>
          <p:nvPr/>
        </p:nvSpPr>
        <p:spPr>
          <a:xfrm>
            <a:off x="457200" y="4681728"/>
            <a:ext cx="768096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Token rates per 1k tokens verified from Tencent Cloud ADP; tokens per case (50k in, 3.5k out) estimated. Excludes any ADP platform plan (Starter US$50 a month).</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Reference: dispute-rate sensitivity and benchmarks</a:t>
            </a:r>
            <a:endParaRPr lang="en-US" sz="3000" dirty="0"/>
          </a:p>
        </p:txBody>
      </p:sp>
      <p:graphicFrame>
        <p:nvGraphicFramePr>
          <p:cNvPr id="10" name="sensitivity table"/>
          <p:cNvGraphicFramePr>
            <a:graphicFrameLocks noGrp="1"/>
          </p:cNvGraphicFramePr>
          <p:nvPr>
            <p:extLst>
              <p:ext uri="{D42A27DB-BD31-4B8C-83A1-F6EECF244321}">
                <p14:modId xmlns:p14="http://schemas.microsoft.com/office/powerpoint/2010/main" val="1579011935"/>
              </p:ext>
            </p:extLst>
          </p:nvPr>
        </p:nvGraphicFramePr>
        <p:xfrm>
          <a:off x="457200" y="1143000"/>
          <a:ext cx="5303520" cy="914400"/>
        </p:xfrm>
        <a:graphic>
          <a:graphicData uri="http://schemas.openxmlformats.org/drawingml/2006/table">
            <a:tbl>
              <a:tblPr/>
              <a:tblGrid>
                <a:gridCol w="1554480"/>
                <a:gridCol w="1252728"/>
                <a:gridCol w="1252728"/>
                <a:gridCol w="1243584"/>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Disputes, % of trips</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Growth 0%</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Growth 10%</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Growth 17%</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r>
              <a:tr h="32918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0.25%</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B3264A"/>
                          </a:solidFill>
                          <a:latin typeface="Calibri" pitchFamily="34" charset="0"/>
                          <a:ea typeface="Calibri" pitchFamily="34" charset="-122"/>
                          <a:cs typeface="Calibri" pitchFamily="34" charset="-120"/>
                        </a:rPr>
                        <a:t>−59k · none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B3264A"/>
                          </a:solidFill>
                          <a:latin typeface="Calibri" pitchFamily="34" charset="0"/>
                          <a:ea typeface="Calibri" pitchFamily="34" charset="-122"/>
                          <a:cs typeface="Calibri" pitchFamily="34" charset="-120"/>
                        </a:rPr>
                        <a:t>−52k · none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B3264A"/>
                          </a:solidFill>
                          <a:latin typeface="Calibri" pitchFamily="34" charset="0"/>
                          <a:ea typeface="Calibri" pitchFamily="34" charset="-122"/>
                          <a:cs typeface="Calibri" pitchFamily="34" charset="-120"/>
                        </a:rPr>
                        <a:t>−46k · none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2918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+1k · m36</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+17k · m33</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+28k · m32</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29184">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+122k · m22</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+153k · m21</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+176k · m20</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2918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+243k · m17</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+290k · m17</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+324k · m16</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2918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+364k · m15</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+426k · m14</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+472k · m14</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4" name="Text 1"/>
          <p:cNvSpPr txBox="1"/>
          <p:nvPr/>
        </p:nvSpPr>
        <p:spPr>
          <a:xfrm>
            <a:off x="457200" y="3291840"/>
            <a:ext cx="5303520" cy="548640"/>
          </a:xfrm>
          <a:prstGeom prst="rect">
            <a:avLst/>
          </a:prstGeom>
          <a:noFill/>
          <a:ln/>
        </p:spPr>
        <p:txBody>
          <a:bodyPr wrap="square" lIns="0" tIns="0" rIns="0" bIns="0" rtlCol="0" anchor="t"/>
          <a:lstStyle/>
          <a:p>
            <a:pPr indent="0" marL="0">
              <a:buNone/>
            </a:pPr>
            <a:r>
              <a:rPr lang="en-US" sz="1200" dirty="0">
                <a:solidFill>
                  <a:srgbClr val="5A6470"/>
                </a:solidFill>
                <a:latin typeface="Calibri" pitchFamily="34" charset="0"/>
                <a:ea typeface="Calibri" pitchFamily="34" charset="-122"/>
                <a:cs typeface="Calibri" pitchFamily="34" charset="-120"/>
              </a:rPr>
              <a:t>Cells: 3-year net saving in S$k (staff time included) · payback month. Break-even rate over 3 years: about 0.50% of trips at flat volume, 0.44% at 10% growth.</a:t>
            </a:r>
            <a:endParaRPr lang="en-US" sz="1200" dirty="0"/>
          </a:p>
        </p:txBody>
      </p:sp>
      <p:sp>
        <p:nvSpPr>
          <p:cNvPr id="5" name="benchmarks box"/>
          <p:cNvSpPr/>
          <p:nvPr/>
        </p:nvSpPr>
        <p:spPr>
          <a:xfrm>
            <a:off x="5989320" y="1143000"/>
            <a:ext cx="2697480" cy="3383280"/>
          </a:xfrm>
          <a:prstGeom prst="roundRect">
            <a:avLst>
              <a:gd name="adj" fmla="val 2712"/>
            </a:avLst>
          </a:prstGeom>
          <a:solidFill>
            <a:srgbClr val="F7DDE3"/>
          </a:solidFill>
          <a:ln w="12700">
            <a:solidFill>
              <a:srgbClr val="F7DDE3"/>
            </a:solidFill>
            <a:prstDash val="solid"/>
          </a:ln>
        </p:spPr>
      </p:sp>
      <p:sp>
        <p:nvSpPr>
          <p:cNvPr id="6" name="Text 3"/>
          <p:cNvSpPr txBox="1"/>
          <p:nvPr/>
        </p:nvSpPr>
        <p:spPr>
          <a:xfrm>
            <a:off x="6172200" y="1280160"/>
            <a:ext cx="2377440" cy="256032"/>
          </a:xfrm>
          <a:prstGeom prst="rect">
            <a:avLst/>
          </a:prstGeom>
          <a:noFill/>
          <a:ln/>
        </p:spPr>
        <p:txBody>
          <a:bodyPr wrap="square" lIns="0" tIns="0" rIns="0" bIns="0" rtlCol="0" anchor="t"/>
          <a:lstStyle/>
          <a:p>
            <a:pPr indent="0" marL="0">
              <a:buNone/>
            </a:pPr>
            <a:r>
              <a:rPr lang="en-US" sz="1100" b="1" spc="100" kern="0" dirty="0">
                <a:solidFill>
                  <a:srgbClr val="E93864"/>
                </a:solidFill>
                <a:latin typeface="Calibri" pitchFamily="34" charset="0"/>
                <a:ea typeface="Calibri" pitchFamily="34" charset="-122"/>
                <a:cs typeface="Calibri" pitchFamily="34" charset="-120"/>
              </a:rPr>
              <a:t>REFERENCE POINTS</a:t>
            </a:r>
            <a:endParaRPr lang="en-US" sz="1100" dirty="0"/>
          </a:p>
        </p:txBody>
      </p:sp>
      <p:sp>
        <p:nvSpPr>
          <p:cNvPr id="7" name="Text 4"/>
          <p:cNvSpPr txBox="1"/>
          <p:nvPr/>
        </p:nvSpPr>
        <p:spPr>
          <a:xfrm>
            <a:off x="6172200" y="1600200"/>
            <a:ext cx="2377440" cy="2834640"/>
          </a:xfrm>
          <a:prstGeom prst="rect">
            <a:avLst/>
          </a:prstGeom>
          <a:noFill/>
          <a:ln/>
        </p:spPr>
        <p:txBody>
          <a:bodyPr wrap="square" lIns="0" tIns="0" rIns="0" bIns="0" rtlCol="0" anchor="t"/>
          <a:lstStyle/>
          <a:p>
            <a:pPr indent="0" marL="0">
              <a:spcAft>
                <a:spcPts val="600"/>
              </a:spcAft>
              <a:buNone/>
            </a:pPr>
            <a:r>
              <a:rPr lang="en-US" sz="1200" b="1" dirty="0">
                <a:solidFill>
                  <a:srgbClr val="31373E"/>
                </a:solidFill>
                <a:latin typeface="Calibri" pitchFamily="34" charset="0"/>
                <a:ea typeface="Calibri" pitchFamily="34" charset="-122"/>
                <a:cs typeface="Calibri" pitchFamily="34" charset="-120"/>
              </a:rPr>
              <a:t>Grab: </a:t>
            </a:r>
            <a:pPr indent="0" marL="0">
              <a:spcAft>
                <a:spcPts val="600"/>
              </a:spcAft>
              <a:buNone/>
            </a:pPr>
            <a:r>
              <a:rPr lang="en-US" sz="1200" dirty="0">
                <a:solidFill>
                  <a:srgbClr val="31373E"/>
                </a:solidFill>
                <a:latin typeface="Calibri" pitchFamily="34" charset="0"/>
                <a:ea typeface="Calibri" pitchFamily="34" charset="-122"/>
                <a:cs typeface="Calibri" pitchFamily="34" charset="-120"/>
              </a:rPr>
              <a:t>publishes no dispute or contact rate.</a:t>
            </a:r>
            <a:endParaRPr lang="en-US" sz="1200" dirty="0"/>
          </a:p>
          <a:p>
            <a:pPr indent="0" marL="0">
              <a:spcAft>
                <a:spcPts val="600"/>
              </a:spcAft>
              <a:buNone/>
            </a:pPr>
            <a:r>
              <a:rPr lang="en-US" sz="1200" b="1" dirty="0">
                <a:solidFill>
                  <a:srgbClr val="31373E"/>
                </a:solidFill>
                <a:latin typeface="Calibri" pitchFamily="34" charset="0"/>
                <a:ea typeface="Calibri" pitchFamily="34" charset="-122"/>
                <a:cs typeface="Calibri" pitchFamily="34" charset="-120"/>
              </a:rPr>
              <a:t>Uber: </a:t>
            </a:r>
            <a:pPr indent="0" marL="0">
              <a:spcAft>
                <a:spcPts val="600"/>
              </a:spcAft>
              <a:buNone/>
            </a:pPr>
            <a:r>
              <a:rPr lang="en-US" sz="1200" dirty="0">
                <a:solidFill>
                  <a:srgbClr val="31373E"/>
                </a:solidFill>
                <a:latin typeface="Calibri" pitchFamily="34" charset="0"/>
                <a:ea typeface="Calibri" pitchFamily="34" charset="-122"/>
                <a:cs typeface="Calibri" pitchFamily="34" charset="-120"/>
              </a:rPr>
              <a:t>about 1.3 support contacts per 100 trips, all topics (3M tickets a week ÷ about 288M trips a week). Disputes are a subset.</a:t>
            </a:r>
            <a:endParaRPr lang="en-US" sz="1200" dirty="0"/>
          </a:p>
          <a:p>
            <a:pPr indent="0" marL="0">
              <a:spcAft>
                <a:spcPts val="600"/>
              </a:spcAft>
              <a:buNone/>
            </a:pPr>
            <a:r>
              <a:rPr lang="en-US" sz="1200" b="1" dirty="0">
                <a:solidFill>
                  <a:srgbClr val="31373E"/>
                </a:solidFill>
                <a:latin typeface="Calibri" pitchFamily="34" charset="0"/>
                <a:ea typeface="Calibri" pitchFamily="34" charset="-122"/>
                <a:cs typeface="Calibri" pitchFamily="34" charset="-120"/>
              </a:rPr>
              <a:t>Ryde (verified): </a:t>
            </a:r>
            <a:pPr indent="0" marL="0">
              <a:spcAft>
                <a:spcPts val="600"/>
              </a:spcAft>
              <a:buNone/>
            </a:pPr>
            <a:r>
              <a:rPr lang="en-US" sz="1200" dirty="0">
                <a:solidFill>
                  <a:srgbClr val="31373E"/>
                </a:solidFill>
                <a:latin typeface="Calibri" pitchFamily="34" charset="0"/>
                <a:ea typeface="Calibri" pitchFamily="34" charset="-122"/>
                <a:cs typeface="Calibri" pitchFamily="34" charset="-120"/>
              </a:rPr>
              <a:t>revenue +17%, mobility +8%.</a:t>
            </a:r>
            <a:endParaRPr lang="en-US" sz="1200" dirty="0"/>
          </a:p>
        </p:txBody>
      </p:sp>
      <p:sp>
        <p:nvSpPr>
          <p:cNvPr id="8" name="Text 5"/>
          <p:cNvSpPr txBox="1"/>
          <p:nvPr/>
        </p:nvSpPr>
        <p:spPr>
          <a:xfrm>
            <a:off x="457200" y="4681728"/>
            <a:ext cx="768096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Sources: Uber engineering blog (Feb 2024); Uber FY2025 10-K (Q4 trips 3,751M); Ryde 1H 2026 results. The Uber figure is derived from figures two years apart: a rough indicator only.</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Reference: how it plugs into Ryde</a:t>
            </a:r>
            <a:endParaRPr lang="en-US" sz="3000" dirty="0"/>
          </a:p>
        </p:txBody>
      </p:sp>
      <p:graphicFrame>
        <p:nvGraphicFramePr>
          <p:cNvPr id="11" name="integration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4114800"/>
                <a:gridCol w="4114800"/>
              </a:tblGrid>
              <a:tr h="31089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Ryde does</a:t>
                      </a:r>
                      <a:endParaRPr lang="en-US" sz="13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The service does</a:t>
                      </a:r>
                      <a:endParaRPr lang="en-US" sz="13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r>
              <a:tr h="51206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Publishes a dispute event from its CS tool, with trip id, category, claim</a:t>
                      </a:r>
                      <a:endParaRPr lang="en-US" sz="12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Reads evidence read-only from Ryde’s own services, builds the Evidence Pack, runs the agents</a:t>
                      </a:r>
                      <a:endParaRPr lang="en-US" sz="12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1206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Shows status in its own ticket screen</a:t>
                      </a:r>
                      <a:endParaRPr lang="en-US" sz="12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Returns ruling.issued, ruling.withheld, needs_info or human_review</a:t>
                      </a:r>
                      <a:endParaRPr lang="en-US" sz="12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1206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Applies the refund through its payments, idempotently</a:t>
                      </a:r>
                      <a:endParaRPr lang="en-US" sz="12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Never moves money, never talks to the rider’s app</a:t>
                      </a:r>
                      <a:endParaRPr lang="en-US" sz="12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1206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Shows withheld cases to its CS agents in the tool they already use</a:t>
                      </a:r>
                      <a:endParaRPr lang="en-US" sz="12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Records every reviewer decision and who made it</a:t>
                      </a:r>
                      <a:endParaRPr lang="en-US" sz="12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4" name="Text 1"/>
          <p:cNvSpPr txBox="1"/>
          <p:nvPr/>
        </p:nvSpPr>
        <p:spPr>
          <a:xfrm>
            <a:off x="457200" y="3611880"/>
            <a:ext cx="8229600" cy="9601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31373E"/>
                </a:solidFill>
                <a:latin typeface="Calibri" pitchFamily="34" charset="0"/>
                <a:ea typeface="Calibri" pitchFamily="34" charset="-122"/>
                <a:cs typeface="Calibri" pitchFamily="34" charset="-120"/>
              </a:rPr>
              <a:t>Runs in Ryde’s own cluster: only the model calls leave, to Tencent Cloud ADP.</a:t>
            </a:r>
            <a:endParaRPr lang="en-US" sz="1300" dirty="0"/>
          </a:p>
          <a:p>
            <a:pPr marL="342900" indent="-342900">
              <a:spcAft>
                <a:spcPts val="400"/>
              </a:spcAft>
              <a:buSzPct val="100000"/>
              <a:buChar char="•"/>
            </a:pPr>
            <a:r>
              <a:rPr lang="en-US" sz="1300" dirty="0">
                <a:solidFill>
                  <a:srgbClr val="31373E"/>
                </a:solidFill>
                <a:latin typeface="Calibri" pitchFamily="34" charset="0"/>
                <a:ea typeface="Calibri" pitchFamily="34" charset="-122"/>
                <a:cs typeface="Calibri" pitchFamily="34" charset="-120"/>
              </a:rPr>
              <a:t>The party view stays a five-key allowlist: no confidence, no model text.</a:t>
            </a:r>
            <a:endParaRPr lang="en-US" sz="1300" dirty="0"/>
          </a:p>
          <a:p>
            <a:pPr marL="342900" indent="-342900">
              <a:spcAft>
                <a:spcPts val="400"/>
              </a:spcAft>
              <a:buSzPct val="100000"/>
              <a:buChar char="•"/>
            </a:pPr>
            <a:r>
              <a:rPr lang="en-US" sz="1300" dirty="0">
                <a:solidFill>
                  <a:srgbClr val="31373E"/>
                </a:solidFill>
                <a:latin typeface="Calibri" pitchFamily="34" charset="0"/>
                <a:ea typeface="Calibri" pitchFamily="34" charset="-122"/>
                <a:cs typeface="Calibri" pitchFamily="34" charset="-120"/>
              </a:rPr>
              <a:t>The same contract works if Ryde prefers a hosted service (slide 13).</a:t>
            </a:r>
            <a:endParaRPr lang="en-US" sz="1300" dirty="0"/>
          </a:p>
        </p:txBody>
      </p:sp>
      <p:sp>
        <p:nvSpPr>
          <p:cNvPr id="5" name="Text 2"/>
          <p:cNvSpPr txBox="1"/>
          <p:nvPr/>
        </p:nvSpPr>
        <p:spPr>
          <a:xfrm>
            <a:off x="457200" y="4681728"/>
            <a:ext cx="768096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Contract: tools/deployment/openapi.json (proposal, not a deployed API).</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Reference: controls and honest limits</a:t>
            </a:r>
            <a:endParaRPr lang="en-US" sz="3000" dirty="0"/>
          </a:p>
        </p:txBody>
      </p:sp>
      <p:sp>
        <p:nvSpPr>
          <p:cNvPr id="3" name="card"/>
          <p:cNvSpPr/>
          <p:nvPr/>
        </p:nvSpPr>
        <p:spPr>
          <a:xfrm>
            <a:off x="457200" y="1143000"/>
            <a:ext cx="4023360" cy="3200400"/>
          </a:xfrm>
          <a:prstGeom prst="roundRect">
            <a:avLst>
              <a:gd name="adj" fmla="val 2286"/>
            </a:avLst>
          </a:prstGeom>
          <a:solidFill>
            <a:srgbClr val="FFFFFF"/>
          </a:solidFill>
          <a:ln w="9525">
            <a:solidFill>
              <a:srgbClr val="E3E6EA"/>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640080" y="1280160"/>
            <a:ext cx="3657600" cy="256032"/>
          </a:xfrm>
          <a:prstGeom prst="rect">
            <a:avLst/>
          </a:prstGeom>
          <a:noFill/>
          <a:ln/>
        </p:spPr>
        <p:txBody>
          <a:bodyPr wrap="square" lIns="0" tIns="0" rIns="0" bIns="0" rtlCol="0" anchor="t"/>
          <a:lstStyle/>
          <a:p>
            <a:pPr indent="0" marL="0">
              <a:buNone/>
            </a:pPr>
            <a:r>
              <a:rPr lang="en-US" sz="1100" b="1" spc="100" kern="0" dirty="0">
                <a:solidFill>
                  <a:srgbClr val="E93864"/>
                </a:solidFill>
                <a:latin typeface="Calibri" pitchFamily="34" charset="0"/>
                <a:ea typeface="Calibri" pitchFamily="34" charset="-122"/>
                <a:cs typeface="Calibri" pitchFamily="34" charset="-120"/>
              </a:rPr>
              <a:t>CONTROLS FROM DAY ONE</a:t>
            </a:r>
            <a:endParaRPr lang="en-US" sz="1100" dirty="0"/>
          </a:p>
        </p:txBody>
      </p:sp>
      <p:sp>
        <p:nvSpPr>
          <p:cNvPr id="5" name="Text 3"/>
          <p:cNvSpPr txBox="1"/>
          <p:nvPr/>
        </p:nvSpPr>
        <p:spPr>
          <a:xfrm>
            <a:off x="640080" y="1600200"/>
            <a:ext cx="365760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SGD 50 cap and 0.65 confidence floor, enforced in code</a:t>
            </a:r>
            <a:endParaRPr lang="en-US" sz="1300" dirty="0"/>
          </a:p>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Kill switch that withholds every ruling</a:t>
            </a:r>
            <a:endParaRPr lang="en-US" sz="1300" dirty="0"/>
          </a:p>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PII redaction before any model call</a:t>
            </a:r>
            <a:endParaRPr lang="en-US" sz="1300" dirty="0"/>
          </a:p>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Data stays in Ryde’s environment; only model calls leave</a:t>
            </a:r>
            <a:endParaRPr lang="en-US" sz="1300" dirty="0"/>
          </a:p>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Every reviewer decision logged with who made it</a:t>
            </a:r>
            <a:endParaRPr lang="en-US" sz="1300" dirty="0"/>
          </a:p>
        </p:txBody>
      </p:sp>
      <p:sp>
        <p:nvSpPr>
          <p:cNvPr id="6" name="card"/>
          <p:cNvSpPr/>
          <p:nvPr/>
        </p:nvSpPr>
        <p:spPr>
          <a:xfrm>
            <a:off x="4663440" y="1143000"/>
            <a:ext cx="4023360" cy="3200400"/>
          </a:xfrm>
          <a:prstGeom prst="roundRect">
            <a:avLst>
              <a:gd name="adj" fmla="val 2286"/>
            </a:avLst>
          </a:prstGeom>
          <a:solidFill>
            <a:srgbClr val="FFFFFF"/>
          </a:solidFill>
          <a:ln w="9525">
            <a:solidFill>
              <a:srgbClr val="E3E6EA"/>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4846320" y="1280160"/>
            <a:ext cx="3657600" cy="256032"/>
          </a:xfrm>
          <a:prstGeom prst="rect">
            <a:avLst/>
          </a:prstGeom>
          <a:noFill/>
          <a:ln/>
        </p:spPr>
        <p:txBody>
          <a:bodyPr wrap="square" lIns="0" tIns="0" rIns="0" bIns="0" rtlCol="0" anchor="t"/>
          <a:lstStyle/>
          <a:p>
            <a:pPr indent="0" marL="0">
              <a:buNone/>
            </a:pPr>
            <a:r>
              <a:rPr lang="en-US" sz="1100" b="1" spc="100" kern="0" dirty="0">
                <a:solidFill>
                  <a:srgbClr val="E93864"/>
                </a:solidFill>
                <a:latin typeface="Calibri" pitchFamily="34" charset="0"/>
                <a:ea typeface="Calibri" pitchFamily="34" charset="-122"/>
                <a:cs typeface="Calibri" pitchFamily="34" charset="-120"/>
              </a:rPr>
              <a:t>HONEST LIMITS</a:t>
            </a:r>
            <a:endParaRPr lang="en-US" sz="1100" dirty="0"/>
          </a:p>
        </p:txBody>
      </p:sp>
      <p:sp>
        <p:nvSpPr>
          <p:cNvPr id="8" name="Text 6"/>
          <p:cNvSpPr txBox="1"/>
          <p:nvPr/>
        </p:nvSpPr>
        <p:spPr>
          <a:xfrm>
            <a:off x="4846320" y="1600200"/>
            <a:ext cx="365760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Policy is synthesised: Ryde ops, legal and finance adopt it before autonomy</a:t>
            </a:r>
            <a:endParaRPr lang="en-US" sz="1300" dirty="0"/>
          </a:p>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17 labelled cases show consistency, not real-world accuracy</a:t>
            </a:r>
            <a:endParaRPr lang="en-US" sz="1300" dirty="0"/>
          </a:p>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No platform publishes its dispute rate; ours is an assumption until shadow mode</a:t>
            </a:r>
            <a:endParaRPr lang="en-US" sz="1300" dirty="0"/>
          </a:p>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DeepSeek V4 Flash is unproven here: score it first; V4 Pro is the fallback</a:t>
            </a:r>
            <a:endParaRPr lang="en-US" sz="1300" dirty="0"/>
          </a:p>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Staff time is not cash: savings are cash only if Ryde avoids hiring</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Reference: system architecture</a:t>
            </a:r>
            <a:endParaRPr lang="en-US" sz="3000" dirty="0"/>
          </a:p>
        </p:txBody>
      </p:sp>
      <p:pic>
        <p:nvPicPr>
          <p:cNvPr id="3" name="Image 0" descr="System architecture flow: intake forms and the command-line runner feed the server; a category check routes out-of-scope disputes to human review and the two handled categories to the Evidence Pack; Rider and Driver Advocates, with the policy document, argue; a question check either asks the party once or sends both cases to the Judge; code gates then decide whether the ruling is issued or withheld for human review; every step emits an event that the operator console shows.">    </p:cNvPr>
          <p:cNvPicPr>
            <a:picLocks noChangeAspect="1"/>
          </p:cNvPicPr>
          <p:nvPr/>
        </p:nvPicPr>
        <p:blipFill>
          <a:blip r:embed="rId1"/>
          <a:stretch>
            <a:fillRect/>
          </a:stretch>
        </p:blipFill>
        <p:spPr>
          <a:xfrm>
            <a:off x="274320" y="1024128"/>
            <a:ext cx="8595360" cy="3781958"/>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Reference: deployment options compared</a:t>
            </a:r>
            <a:endParaRPr lang="en-US" sz="3000" dirty="0"/>
          </a:p>
        </p:txBody>
      </p:sp>
      <p:graphicFrame>
        <p:nvGraphicFramePr>
          <p:cNvPr id="14" name="option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188720"/>
                <a:gridCol w="2651760"/>
                <a:gridCol w="2651760"/>
                <a:gridCol w="1737360"/>
              </a:tblGrid>
              <a:tr h="310896">
                <a:tc>
                  <a:txBody>
                    <a:bodyPr/>
                    <a:lstStyle/>
                    <a:p>
                      <a:pPr indent="0" marL="0">
                        <a:buNone/>
                      </a:pP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 Embedded in Ryde (proposed)</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9386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 Hosted service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 No AI</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r>
              <a:tr h="502920">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How</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Our service runs in Ryde’s cluster, inside its CS tool</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We host it on Tencent Cloud: signed events in, decisions out</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Human agents, as today</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11480">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One-off</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S$120k of Ryde staff time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S$90k, paid to build it</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02920">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Running / month</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About S$14 (tokens only)</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About S$1.7k (cloud, tokens, 0.1 engineer)</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None, but cost grows with volume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3-year spend</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S$244k</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S$262k</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S$397k</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Payback</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Month 21</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Month 20</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n/a</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02920">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Trade-off</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Needs Ryde engineers; slower start</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Fast and isolated; new infrastructure to run</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24–72 h resolution, inconsistent rulings</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4" name="Text 1"/>
          <p:cNvSpPr txBox="1"/>
          <p:nvPr/>
        </p:nvSpPr>
        <p:spPr>
          <a:xfrm>
            <a:off x="457200" y="4681728"/>
            <a:ext cx="768096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ASSUMPTIONS: 1% of trips disputed, 40% in scope, S$7.50 each, 10% yearly growth, AI decides 60%, DeepSeek V4 Flash in both options. Spend is on in-scope disputes.</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Ryde Dispute Pitch">
  <a:themeElements>
    <a:clrScheme name="Ryde Dispute Pitch">
      <a:dk1>
        <a:srgbClr val="31373E"/>
      </a:dk1>
      <a:lt1>
        <a:srgbClr val="FFFFFF"/>
      </a:lt1>
      <a:dk2>
        <a:srgbClr val="5A6470"/>
      </a:dk2>
      <a:lt2>
        <a:srgbClr val="F7DDE3"/>
      </a:lt2>
      <a:accent1>
        <a:srgbClr val="E93864"/>
      </a:accent1>
      <a:accent2>
        <a:srgbClr val="31373E"/>
      </a:accent2>
      <a:accent3>
        <a:srgbClr val="8A94A0"/>
      </a:accent3>
      <a:accent4>
        <a:srgbClr val="F6A5B8"/>
      </a:accent4>
      <a:accent5>
        <a:srgbClr val="B3264A"/>
      </a:accent5>
      <a:accent6>
        <a:srgbClr val="D9DEE4"/>
      </a:accent6>
      <a:hlink>
        <a:srgbClr val="E93864"/>
      </a:hlink>
      <a:folHlink>
        <a:srgbClr val="5A6470"/>
      </a:folHlink>
    </a:clrScheme>
    <a:fontScheme name="Ryde Dispute Pitc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Ryde: Multi-Agent Autonomous Dispute Resolution</dc:title>
  <dc:subject>PptxGenJS Presentation</dc:subject>
  <dc:creator>Ryde dispute resolution team</dc:creator>
  <cp:lastModifiedBy>Ryde dispute resolution team</cp:lastModifiedBy>
  <cp:revision>1</cp:revision>
  <dcterms:created xsi:type="dcterms:W3CDTF">2026-10-13T15:57:05Z</dcterms:created>
  <dcterms:modified xsi:type="dcterms:W3CDTF">2026-10-13T15:57:05Z</dcterms:modified>
</cp:coreProperties>
</file>