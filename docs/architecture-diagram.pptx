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13"/>
    <p:sldId id="258" r:id="rId4"/>
    <p:sldId id="260" r:id="rId6"/>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2.xml"/><Relationship Id="rId6" Type="http://schemas.openxmlformats.org/officeDocument/2006/relationships/slide" Target="slides/slide3.xml"/><Relationship Id="rId13"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31373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System architecture, as built</a:t>
            </a:r>
            <a:endParaRPr lang="en-US" sz="3000" dirty="0"/>
          </a:p>
        </p:txBody>
      </p:sp>
      <p:pic>
        <p:nvPicPr>
          <p:cNvPr id="3" name="Picture 2" descr="system-architecture-v2.png"/>
          <p:cNvPicPr>
            <a:picLocks noChangeAspect="1"/>
          </p:cNvPicPr>
          <p:nvPr/>
        </p:nvPicPr>
        <p:blipFill>
          <a:blip r:embed="rId3"/>
          <a:stretch>
            <a:fillRect/>
          </a:stretch>
        </p:blipFill>
        <p:spPr>
          <a:xfrm>
            <a:off x="961949" y="990000"/>
            <a:ext cx="7220102" cy="3176844"/>
          </a:xfrm>
          <a:prstGeom prst="rect">
            <a:avLst/>
          </a:prstGeom>
        </p:spPr>
      </p:pic>
      <p:sp>
        <p:nvSpPr>
          <p:cNvPr id="4" name="Gate key: checks"/>
          <p:cNvSpPr txBox="1"/>
          <p:nvPr/>
        </p:nvSpPr>
        <p:spPr>
          <a:xfrm>
            <a:off x="457200" y="4216844"/>
            <a:ext cx="2743200" cy="886656"/>
          </a:xfrm>
          <a:prstGeom prst="rect">
            <a:avLst/>
          </a:prstGeom>
          <a:noFill/>
        </p:spPr>
        <p:txBody>
          <a:bodyPr wrap="square" lIns="0" rIns="0" tIns="0" bIns="0">
            <a:spAutoFit/>
          </a:bodyPr>
          <a:lstStyle/>
          <a:p>
            <a:r>
              <a:rPr sz="950" b="1">
                <a:solidFill>
                  <a:srgbClr val="E93864"/>
                </a:solidFill>
                <a:latin typeface="Calibri"/>
              </a:rPr>
              <a:t>Gates pass? Every check must hold, or a person decides.</a:t>
            </a:r>
          </a:p>
          <a:p>
            <a:pPr>
              <a:spcBef>
                <a:spcPts val="150"/>
              </a:spcBef>
            </a:pPr>
            <a:r>
              <a:rPr sz="900" b="1">
                <a:solidFill>
                  <a:srgbClr val="31373E"/>
                </a:solidFill>
                <a:latin typeface="Calibri"/>
              </a:rPr>
              <a:t>Confidence  </a:t>
            </a:r>
            <a:r>
              <a:rPr sz="900">
                <a:solidFill>
                  <a:srgbClr val="5A6470"/>
                </a:solidFill>
                <a:latin typeface="Calibri"/>
              </a:rPr>
              <a:t>Judge's confidence at least 0.65</a:t>
            </a:r>
          </a:p>
          <a:p>
            <a:pPr>
              <a:spcBef>
                <a:spcPts val="150"/>
              </a:spcBef>
            </a:pPr>
            <a:r>
              <a:rPr sz="900" b="1">
                <a:solidFill>
                  <a:srgbClr val="31373E"/>
                </a:solidFill>
                <a:latin typeface="Calibri"/>
              </a:rPr>
              <a:t>Cap  </a:t>
            </a:r>
            <a:r>
              <a:rPr sz="900">
                <a:solidFill>
                  <a:srgbClr val="5A6470"/>
                </a:solidFill>
                <a:latin typeface="Calibri"/>
              </a:rPr>
              <a:t>no automatic decision above SGD 50</a:t>
            </a:r>
          </a:p>
          <a:p>
            <a:pPr>
              <a:spcBef>
                <a:spcPts val="150"/>
              </a:spcBef>
            </a:pPr>
            <a:r>
              <a:rPr sz="900" b="1">
                <a:solidFill>
                  <a:srgbClr val="31373E"/>
                </a:solidFill>
                <a:latin typeface="Calibri"/>
              </a:rPr>
              <a:t>Measured deviation  </a:t>
            </a:r>
            <a:r>
              <a:rPr sz="900">
                <a:solidFill>
                  <a:srgbClr val="5A6470"/>
                </a:solidFill>
                <a:latin typeface="Calibri"/>
              </a:rPr>
              <a:t>a route ruling needs a measured detour and a readable fare</a:t>
            </a:r>
          </a:p>
        </p:txBody>
      </p:sp>
      <p:sp>
        <p:nvSpPr>
          <p:cNvPr id="5" name="Gate key: policy rules"/>
          <p:cNvSpPr txBox="1"/>
          <p:nvPr/>
        </p:nvSpPr>
        <p:spPr>
          <a:xfrm>
            <a:off x="3429000" y="4216844"/>
            <a:ext cx="5257800" cy="886656"/>
          </a:xfrm>
          <a:prstGeom prst="rect">
            <a:avLst/>
          </a:prstGeom>
          <a:noFill/>
        </p:spPr>
        <p:txBody>
          <a:bodyPr wrap="square" lIns="0" rIns="0" tIns="0" bIns="0">
            <a:spAutoFit/>
          </a:bodyPr>
          <a:lstStyle/>
          <a:p>
            <a:r>
              <a:rPr sz="950" b="1">
                <a:solidFill>
                  <a:srgbClr val="E93864"/>
                </a:solidFill>
                <a:latin typeface="Calibri"/>
              </a:rPr>
              <a:t>NS-6, NS-8, RD-4, RD-5 are rules in the project policy (docs/policy.md):</a:t>
            </a:r>
          </a:p>
          <a:p>
            <a:pPr>
              <a:spcBef>
                <a:spcPts val="150"/>
              </a:spcBef>
            </a:pPr>
            <a:r>
              <a:rPr sz="900" b="1">
                <a:solidFill>
                  <a:srgbClr val="31373E"/>
                </a:solidFill>
                <a:latin typeface="Calibri"/>
              </a:rPr>
              <a:t>NS-6  </a:t>
            </a:r>
            <a:r>
              <a:rPr sz="900">
                <a:solidFill>
                  <a:srgbClr val="5A6470"/>
                </a:solidFill>
                <a:latin typeface="Calibri"/>
              </a:rPr>
              <a:t>contested no-show with no GPS proof of the driver: only a full refund of a fee of SGD 10 or less, to a rider with a clean record, is automatic</a:t>
            </a:r>
          </a:p>
          <a:p>
            <a:pPr>
              <a:spcBef>
                <a:spcPts val="150"/>
              </a:spcBef>
            </a:pPr>
            <a:r>
              <a:rPr sz="900" b="1">
                <a:solidFill>
                  <a:srgbClr val="31373E"/>
                </a:solidFill>
                <a:latin typeface="Calibri"/>
              </a:rPr>
              <a:t>NS-8  </a:t>
            </a:r>
            <a:r>
              <a:rPr sz="900">
                <a:solidFill>
                  <a:srgbClr val="5A6470"/>
                </a:solidFill>
                <a:latin typeface="Calibri"/>
              </a:rPr>
              <a:t>a no-show refund cannot exceed the cancellation fee charged</a:t>
            </a:r>
          </a:p>
          <a:p>
            <a:pPr>
              <a:spcBef>
                <a:spcPts val="150"/>
              </a:spcBef>
            </a:pPr>
            <a:r>
              <a:rPr sz="900" b="1">
                <a:solidFill>
                  <a:srgbClr val="31373E"/>
                </a:solidFill>
                <a:latin typeface="Calibri"/>
              </a:rPr>
              <a:t>RD-4  </a:t>
            </a:r>
            <a:r>
              <a:rPr sz="900">
                <a:solidFill>
                  <a:srgbClr val="5A6470"/>
                </a:solidFill>
                <a:latin typeface="Calibri"/>
              </a:rPr>
              <a:t>a route refund cannot exceed what the trip records prove was overpaid</a:t>
            </a:r>
          </a:p>
          <a:p>
            <a:pPr>
              <a:spcBef>
                <a:spcPts val="150"/>
              </a:spcBef>
            </a:pPr>
            <a:r>
              <a:rPr sz="900" b="1">
                <a:solidFill>
                  <a:srgbClr val="31373E"/>
                </a:solidFill>
                <a:latin typeface="Calibri"/>
              </a:rPr>
              <a:t>RD-5  </a:t>
            </a:r>
            <a:r>
              <a:rPr sz="900">
                <a:solidFill>
                  <a:srgbClr val="5A6470"/>
                </a:solidFill>
                <a:latin typeface="Calibri"/>
              </a:rPr>
              <a:t>a route refund cannot be less than a proven overcharge of SGD 1 or more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Agents argue, a Judge rules, code guards the money</a:t>
            </a:r>
            <a:endParaRPr lang="en-US" sz="3000" dirty="0"/>
          </a:p>
        </p:txBody>
      </p:sp>
      <p:sp>
        <p:nvSpPr>
          <p:cNvPr id="3" name="flow Evidence Pack"/>
          <p:cNvSpPr/>
          <p:nvPr/>
        </p:nvSpPr>
        <p:spPr>
          <a:xfrm>
            <a:off x="457200" y="1280160"/>
            <a:ext cx="1417320" cy="914400"/>
          </a:xfrm>
          <a:prstGeom prst="roundRect">
            <a:avLst>
              <a:gd name="adj" fmla="val 8000"/>
            </a:avLst>
          </a:prstGeom>
          <a:solidFill>
            <a:srgbClr val="F7DDE3"/>
          </a:solidFill>
          <a:ln w="12700">
            <a:solidFill>
              <a:srgbClr val="F7DDE3"/>
            </a:solidFill>
            <a:prstDash val="solid"/>
          </a:ln>
        </p:spPr>
      </p:sp>
      <p:sp>
        <p:nvSpPr>
          <p:cNvPr id="4" name="Text 2"/>
          <p:cNvSpPr txBox="1"/>
          <p:nvPr/>
        </p:nvSpPr>
        <p:spPr>
          <a:xfrm>
            <a:off x="530352" y="1280160"/>
            <a:ext cx="1271016" cy="914400"/>
          </a:xfrm>
          <a:prstGeom prst="rect">
            <a:avLst/>
          </a:prstGeom>
          <a:noFill/>
          <a:ln/>
        </p:spPr>
        <p:txBody>
          <a:bodyPr wrap="square" lIns="0" tIns="0" rIns="0" bIns="0" rtlCol="0" anchor="ctr"/>
          <a:lstStyle/>
          <a:p>
            <a:pPr algn="ctr" indent="0" marL="0">
              <a:buNone/>
            </a:pPr>
            <a:r>
              <a:rPr lang="en-US" sz="1400" b="1" dirty="0">
                <a:solidFill>
                  <a:srgbClr val="31373E"/>
                </a:solidFill>
                <a:latin typeface="Calibri" pitchFamily="34" charset="0"/>
                <a:ea typeface="Calibri" pitchFamily="34" charset="-122"/>
                <a:cs typeface="Calibri" pitchFamily="34" charset="-120"/>
              </a:rPr>
              <a:t>Evidence Pack</a:t>
            </a:r>
            <a:endParaRPr lang="en-US" sz="1400" dirty="0"/>
          </a:p>
          <a:p>
            <a:pPr algn="ctr" indent="0" marL="0">
              <a:buNone/>
            </a:pPr>
            <a:r>
              <a:rPr lang="en-US" sz="1100" dirty="0">
                <a:solidFill>
                  <a:srgbClr val="5A6470"/>
                </a:solidFill>
                <a:latin typeface="Calibri" pitchFamily="34" charset="0"/>
                <a:ea typeface="Calibri" pitchFamily="34" charset="-122"/>
                <a:cs typeface="Calibri" pitchFamily="34" charset="-120"/>
              </a:rPr>
              <a:t>computed in Python</a:t>
            </a:r>
            <a:endParaRPr lang="en-US" sz="1400" dirty="0"/>
          </a:p>
        </p:txBody>
      </p:sp>
      <p:sp>
        <p:nvSpPr>
          <p:cNvPr id="5" name="Shape 3"/>
          <p:cNvSpPr/>
          <p:nvPr/>
        </p:nvSpPr>
        <p:spPr>
          <a:xfrm>
            <a:off x="1901952" y="1737360"/>
            <a:ext cx="219456" cy="0"/>
          </a:xfrm>
          <a:prstGeom prst="line">
            <a:avLst/>
          </a:prstGeom>
          <a:noFill/>
          <a:ln w="19050">
            <a:solidFill>
              <a:srgbClr val="5A6470"/>
            </a:solidFill>
            <a:prstDash val="solid"/>
            <a:tailEnd type="triangle"/>
          </a:ln>
        </p:spPr>
      </p:sp>
      <p:sp>
        <p:nvSpPr>
          <p:cNvPr id="6" name="flow Rider Advocate"/>
          <p:cNvSpPr/>
          <p:nvPr/>
        </p:nvSpPr>
        <p:spPr>
          <a:xfrm>
            <a:off x="2148840" y="1280160"/>
            <a:ext cx="1417320" cy="914400"/>
          </a:xfrm>
          <a:prstGeom prst="roundRect">
            <a:avLst>
              <a:gd name="adj" fmla="val 8000"/>
            </a:avLst>
          </a:prstGeom>
          <a:solidFill>
            <a:srgbClr val="31373E"/>
          </a:solidFill>
          <a:ln w="12700">
            <a:solidFill>
              <a:srgbClr val="31373E"/>
            </a:solidFill>
            <a:prstDash val="solid"/>
          </a:ln>
        </p:spPr>
      </p:sp>
      <p:sp>
        <p:nvSpPr>
          <p:cNvPr id="7" name="Text 5"/>
          <p:cNvSpPr txBox="1"/>
          <p:nvPr/>
        </p:nvSpPr>
        <p:spPr>
          <a:xfrm>
            <a:off x="222199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Rider Advocate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argues the rider</a:t>
            </a:r>
            <a:endParaRPr lang="en-US" sz="1400" dirty="0"/>
          </a:p>
        </p:txBody>
      </p:sp>
      <p:sp>
        <p:nvSpPr>
          <p:cNvPr id="8" name="Shape 6"/>
          <p:cNvSpPr/>
          <p:nvPr/>
        </p:nvSpPr>
        <p:spPr>
          <a:xfrm>
            <a:off x="3593592" y="1737360"/>
            <a:ext cx="219456" cy="0"/>
          </a:xfrm>
          <a:prstGeom prst="line">
            <a:avLst/>
          </a:prstGeom>
          <a:noFill/>
          <a:ln w="19050">
            <a:solidFill>
              <a:srgbClr val="5A6470"/>
            </a:solidFill>
            <a:prstDash val="solid"/>
            <a:tailEnd type="triangle"/>
          </a:ln>
        </p:spPr>
      </p:sp>
      <p:sp>
        <p:nvSpPr>
          <p:cNvPr id="9" name="flow Driver Advocate"/>
          <p:cNvSpPr/>
          <p:nvPr/>
        </p:nvSpPr>
        <p:spPr>
          <a:xfrm>
            <a:off x="3840480" y="1280160"/>
            <a:ext cx="1417320" cy="914400"/>
          </a:xfrm>
          <a:prstGeom prst="roundRect">
            <a:avLst>
              <a:gd name="adj" fmla="val 8000"/>
            </a:avLst>
          </a:prstGeom>
          <a:solidFill>
            <a:srgbClr val="31373E"/>
          </a:solidFill>
          <a:ln w="12700">
            <a:solidFill>
              <a:srgbClr val="31373E"/>
            </a:solidFill>
            <a:prstDash val="solid"/>
          </a:ln>
        </p:spPr>
      </p:sp>
      <p:sp>
        <p:nvSpPr>
          <p:cNvPr id="10" name="Text 8"/>
          <p:cNvSpPr txBox="1"/>
          <p:nvPr/>
        </p:nvSpPr>
        <p:spPr>
          <a:xfrm>
            <a:off x="391363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Driver Advocate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argues the driver</a:t>
            </a:r>
            <a:endParaRPr lang="en-US" sz="1400" dirty="0"/>
          </a:p>
        </p:txBody>
      </p:sp>
      <p:sp>
        <p:nvSpPr>
          <p:cNvPr id="11" name="Shape 9"/>
          <p:cNvSpPr/>
          <p:nvPr/>
        </p:nvSpPr>
        <p:spPr>
          <a:xfrm>
            <a:off x="5285232" y="1737360"/>
            <a:ext cx="219456" cy="0"/>
          </a:xfrm>
          <a:prstGeom prst="line">
            <a:avLst/>
          </a:prstGeom>
          <a:noFill/>
          <a:ln w="19050">
            <a:solidFill>
              <a:srgbClr val="5A6470"/>
            </a:solidFill>
            <a:prstDash val="solid"/>
            <a:tailEnd type="triangle"/>
          </a:ln>
        </p:spPr>
      </p:sp>
      <p:sp>
        <p:nvSpPr>
          <p:cNvPr id="12" name="flow Judge"/>
          <p:cNvSpPr/>
          <p:nvPr/>
        </p:nvSpPr>
        <p:spPr>
          <a:xfrm>
            <a:off x="5532120" y="1280160"/>
            <a:ext cx="1417320" cy="914400"/>
          </a:xfrm>
          <a:prstGeom prst="roundRect">
            <a:avLst>
              <a:gd name="adj" fmla="val 8000"/>
            </a:avLst>
          </a:prstGeom>
          <a:solidFill>
            <a:srgbClr val="31373E"/>
          </a:solidFill>
          <a:ln w="12700">
            <a:solidFill>
              <a:srgbClr val="31373E"/>
            </a:solidFill>
            <a:prstDash val="solid"/>
          </a:ln>
        </p:spPr>
      </p:sp>
      <p:sp>
        <p:nvSpPr>
          <p:cNvPr id="13" name="Text 11"/>
          <p:cNvSpPr txBox="1"/>
          <p:nvPr/>
        </p:nvSpPr>
        <p:spPr>
          <a:xfrm>
            <a:off x="560527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Judge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rules + confidence</a:t>
            </a:r>
            <a:endParaRPr lang="en-US" sz="1400" dirty="0"/>
          </a:p>
        </p:txBody>
      </p:sp>
      <p:sp>
        <p:nvSpPr>
          <p:cNvPr id="14" name="Shape 12"/>
          <p:cNvSpPr/>
          <p:nvPr/>
        </p:nvSpPr>
        <p:spPr>
          <a:xfrm>
            <a:off x="6976872" y="1737360"/>
            <a:ext cx="219456" cy="0"/>
          </a:xfrm>
          <a:prstGeom prst="line">
            <a:avLst/>
          </a:prstGeom>
          <a:noFill/>
          <a:ln w="19050">
            <a:solidFill>
              <a:srgbClr val="5A6470"/>
            </a:solidFill>
            <a:prstDash val="solid"/>
            <a:tailEnd type="triangle"/>
          </a:ln>
        </p:spPr>
      </p:sp>
      <p:sp>
        <p:nvSpPr>
          <p:cNvPr id="15" name="flow Gates in code"/>
          <p:cNvSpPr/>
          <p:nvPr/>
        </p:nvSpPr>
        <p:spPr>
          <a:xfrm>
            <a:off x="7223760" y="1280160"/>
            <a:ext cx="1417320" cy="914400"/>
          </a:xfrm>
          <a:prstGeom prst="roundRect">
            <a:avLst>
              <a:gd name="adj" fmla="val 8000"/>
            </a:avLst>
          </a:prstGeom>
          <a:solidFill>
            <a:srgbClr val="E93864"/>
          </a:solidFill>
          <a:ln w="12700">
            <a:solidFill>
              <a:srgbClr val="E93864"/>
            </a:solidFill>
            <a:prstDash val="solid"/>
          </a:ln>
        </p:spPr>
      </p:sp>
      <p:sp>
        <p:nvSpPr>
          <p:cNvPr id="16" name="Text 14"/>
          <p:cNvSpPr txBox="1"/>
          <p:nvPr/>
        </p:nvSpPr>
        <p:spPr>
          <a:xfrm>
            <a:off x="7296912" y="1280160"/>
            <a:ext cx="1271016"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Gates in code</a:t>
            </a:r>
            <a:endParaRPr lang="en-US" sz="1400" dirty="0"/>
          </a:p>
          <a:p>
            <a:pPr algn="ctr" indent="0" marL="0">
              <a:buNone/>
            </a:pPr>
            <a:r>
              <a:rPr lang="en-US" sz="1100" dirty="0">
                <a:solidFill>
                  <a:srgbClr val="F3D3DB"/>
                </a:solidFill>
                <a:latin typeface="Calibri" pitchFamily="34" charset="0"/>
                <a:ea typeface="Calibri" pitchFamily="34" charset="-122"/>
                <a:cs typeface="Calibri" pitchFamily="34" charset="-120"/>
              </a:rPr>
              <a:t>cap, confidence, NS/RD</a:t>
            </a:r>
            <a:endParaRPr lang="en-US" sz="1400" dirty="0"/>
          </a:p>
        </p:txBody>
      </p:sp>
      <p:sp>
        <p:nvSpPr>
          <p:cNvPr id="17" name="Text 15"/>
          <p:cNvSpPr txBox="1"/>
          <p:nvPr/>
        </p:nvSpPr>
        <p:spPr>
          <a:xfrm>
            <a:off x="457200" y="2331720"/>
            <a:ext cx="8229600" cy="320040"/>
          </a:xfrm>
          <a:prstGeom prst="rect">
            <a:avLst/>
          </a:prstGeom>
          <a:noFill/>
          <a:ln/>
        </p:spPr>
        <p:txBody>
          <a:bodyPr wrap="square" lIns="0" tIns="0" rIns="0" bIns="0" rtlCol="0" anchor="t"/>
          <a:lstStyle/>
          <a:p>
            <a:pPr indent="0" marL="0">
              <a:buNone/>
            </a:pPr>
            <a:r>
              <a:rPr lang="en-US" sz="1200" dirty="0">
                <a:solidFill>
                  <a:srgbClr val="5A6470"/>
                </a:solidFill>
                <a:latin typeface="Calibri" pitchFamily="34" charset="0"/>
                <a:ea typeface="Calibri" pitchFamily="34" charset="-122"/>
                <a:cs typeface="Calibri" pitchFamily="34" charset="-120"/>
              </a:rPr>
              <a:t>Ruled: the party gets a plain-language decision.   Withheld: a person decides, and the party sees only “still under review”.</a:t>
            </a:r>
            <a:endParaRPr lang="en-US" sz="1200" dirty="0"/>
          </a:p>
        </p:txBody>
      </p:sp>
      <p:sp>
        <p:nvSpPr>
          <p:cNvPr id="18" name="card"/>
          <p:cNvSpPr/>
          <p:nvPr/>
        </p:nvSpPr>
        <p:spPr>
          <a:xfrm>
            <a:off x="457200" y="2834640"/>
            <a:ext cx="2560320" cy="1691640"/>
          </a:xfrm>
          <a:prstGeom prst="roundRect">
            <a:avLst>
              <a:gd name="adj" fmla="val 4324"/>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621792" y="2944368"/>
            <a:ext cx="2231136" cy="320040"/>
          </a:xfrm>
          <a:prstGeom prst="rect">
            <a:avLst/>
          </a:prstGeom>
          <a:noFill/>
          <a:ln/>
        </p:spPr>
        <p:txBody>
          <a:bodyPr wrap="square" lIns="0" tIns="0" rIns="0" bIns="0" rtlCol="0" anchor="t"/>
          <a:lstStyle/>
          <a:p>
            <a:pPr indent="0" marL="0">
              <a:buNone/>
            </a:pPr>
            <a:r>
              <a:rPr lang="en-US" sz="1600" b="1" dirty="0">
                <a:solidFill>
                  <a:srgbClr val="E93864"/>
                </a:solidFill>
                <a:latin typeface="Calibri" pitchFamily="34" charset="0"/>
                <a:ea typeface="Calibri" pitchFamily="34" charset="-122"/>
                <a:cs typeface="Calibri" pitchFamily="34" charset="-120"/>
              </a:rPr>
              <a:t>No AI arithmetic</a:t>
            </a:r>
            <a:endParaRPr lang="en-US" sz="1600" dirty="0"/>
          </a:p>
        </p:txBody>
      </p:sp>
      <p:sp>
        <p:nvSpPr>
          <p:cNvPr id="20" name="Text 18"/>
          <p:cNvSpPr txBox="1"/>
          <p:nvPr/>
        </p:nvSpPr>
        <p:spPr>
          <a:xfrm>
            <a:off x="621792" y="3310128"/>
            <a:ext cx="2231136" cy="1143000"/>
          </a:xfrm>
          <a:prstGeom prst="rect">
            <a:avLst/>
          </a:prstGeom>
          <a:noFill/>
          <a:ln/>
        </p:spPr>
        <p:txBody>
          <a:bodyPr wrap="square" lIns="0" tIns="0" rIns="0" bIns="0" rtlCol="0" anchor="t"/>
          <a:lstStyle/>
          <a:p>
            <a:pPr indent="0" marL="0">
              <a:buNone/>
            </a:pPr>
            <a:r>
              <a:rPr lang="en-US" sz="1400" dirty="0">
                <a:solidFill>
                  <a:srgbClr val="31373E"/>
                </a:solidFill>
                <a:latin typeface="Calibri" pitchFamily="34" charset="0"/>
                <a:ea typeface="Calibri" pitchFamily="34" charset="-122"/>
                <a:cs typeface="Calibri" pitchFamily="34" charset="-120"/>
              </a:rPr>
              <a:t>Every number comes from the Evidence Pack. Agents cite fields, never calculate.</a:t>
            </a:r>
            <a:endParaRPr lang="en-US" sz="1400" dirty="0"/>
          </a:p>
        </p:txBody>
      </p:sp>
      <p:sp>
        <p:nvSpPr>
          <p:cNvPr id="21" name="card"/>
          <p:cNvSpPr/>
          <p:nvPr/>
        </p:nvSpPr>
        <p:spPr>
          <a:xfrm>
            <a:off x="3291840" y="2834640"/>
            <a:ext cx="2560320" cy="1691640"/>
          </a:xfrm>
          <a:prstGeom prst="roundRect">
            <a:avLst>
              <a:gd name="adj" fmla="val 4324"/>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3456432" y="2944368"/>
            <a:ext cx="2231136" cy="320040"/>
          </a:xfrm>
          <a:prstGeom prst="rect">
            <a:avLst/>
          </a:prstGeom>
          <a:noFill/>
          <a:ln/>
        </p:spPr>
        <p:txBody>
          <a:bodyPr wrap="square" lIns="0" tIns="0" rIns="0" bIns="0" rtlCol="0" anchor="t"/>
          <a:lstStyle/>
          <a:p>
            <a:pPr indent="0" marL="0">
              <a:buNone/>
            </a:pPr>
            <a:r>
              <a:rPr lang="en-US" sz="1600" b="1" dirty="0">
                <a:solidFill>
                  <a:srgbClr val="E93864"/>
                </a:solidFill>
                <a:latin typeface="Calibri" pitchFamily="34" charset="0"/>
                <a:ea typeface="Calibri" pitchFamily="34" charset="-122"/>
                <a:cs typeface="Calibri" pitchFamily="34" charset="-120"/>
              </a:rPr>
              <a:t>Rules enforced in code</a:t>
            </a:r>
            <a:endParaRPr lang="en-US" sz="1600" dirty="0"/>
          </a:p>
        </p:txBody>
      </p:sp>
      <p:sp>
        <p:nvSpPr>
          <p:cNvPr id="23" name="Text 21"/>
          <p:cNvSpPr txBox="1"/>
          <p:nvPr/>
        </p:nvSpPr>
        <p:spPr>
          <a:xfrm>
            <a:off x="3456432" y="3310128"/>
            <a:ext cx="2231136" cy="1143000"/>
          </a:xfrm>
          <a:prstGeom prst="rect">
            <a:avLst/>
          </a:prstGeom>
          <a:noFill/>
          <a:ln/>
        </p:spPr>
        <p:txBody>
          <a:bodyPr wrap="square" lIns="0" tIns="0" rIns="0" bIns="0" rtlCol="0" anchor="t"/>
          <a:lstStyle/>
          <a:p>
            <a:pPr indent="0" marL="0">
              <a:buNone/>
            </a:pPr>
            <a:r>
              <a:rPr lang="en-US" sz="1400" dirty="0">
                <a:solidFill>
                  <a:srgbClr val="31373E"/>
                </a:solidFill>
                <a:latin typeface="Calibri" pitchFamily="34" charset="0"/>
                <a:ea typeface="Calibri" pitchFamily="34" charset="-122"/>
                <a:cs typeface="Calibri" pitchFamily="34" charset="-120"/>
              </a:rPr>
              <a:t>SGD 50 cap, 0.65 confidence floor and four money gates. A prompt is a request, code is a guarantee.</a:t>
            </a:r>
            <a:endParaRPr lang="en-US" sz="1400" dirty="0"/>
          </a:p>
        </p:txBody>
      </p:sp>
      <p:sp>
        <p:nvSpPr>
          <p:cNvPr id="24" name="card"/>
          <p:cNvSpPr/>
          <p:nvPr/>
        </p:nvSpPr>
        <p:spPr>
          <a:xfrm>
            <a:off x="6126480" y="2834640"/>
            <a:ext cx="2560320" cy="1691640"/>
          </a:xfrm>
          <a:prstGeom prst="roundRect">
            <a:avLst>
              <a:gd name="adj" fmla="val 4324"/>
            </a:avLst>
          </a:prstGeom>
          <a:solidFill>
            <a:srgbClr val="FFFFFF"/>
          </a:solidFill>
          <a:ln w="9525">
            <a:solidFill>
              <a:srgbClr val="E3E6EA"/>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291072" y="2944368"/>
            <a:ext cx="2231136" cy="320040"/>
          </a:xfrm>
          <a:prstGeom prst="rect">
            <a:avLst/>
          </a:prstGeom>
          <a:noFill/>
          <a:ln/>
        </p:spPr>
        <p:txBody>
          <a:bodyPr wrap="square" lIns="0" tIns="0" rIns="0" bIns="0" rtlCol="0" anchor="t"/>
          <a:lstStyle/>
          <a:p>
            <a:pPr indent="0" marL="0">
              <a:buNone/>
            </a:pPr>
            <a:r>
              <a:rPr lang="en-US" sz="1600" b="1" dirty="0">
                <a:solidFill>
                  <a:srgbClr val="E93864"/>
                </a:solidFill>
                <a:latin typeface="Calibri" pitchFamily="34" charset="0"/>
                <a:ea typeface="Calibri" pitchFamily="34" charset="-122"/>
                <a:cs typeface="Calibri" pitchFamily="34" charset="-120"/>
              </a:rPr>
              <a:t>Every step observable</a:t>
            </a:r>
            <a:endParaRPr lang="en-US" sz="1600" dirty="0"/>
          </a:p>
        </p:txBody>
      </p:sp>
      <p:sp>
        <p:nvSpPr>
          <p:cNvPr id="26" name="Text 24"/>
          <p:cNvSpPr txBox="1"/>
          <p:nvPr/>
        </p:nvSpPr>
        <p:spPr>
          <a:xfrm>
            <a:off x="6291072" y="3310128"/>
            <a:ext cx="2231136" cy="1143000"/>
          </a:xfrm>
          <a:prstGeom prst="rect">
            <a:avLst/>
          </a:prstGeom>
          <a:noFill/>
          <a:ln/>
        </p:spPr>
        <p:txBody>
          <a:bodyPr wrap="square" lIns="0" tIns="0" rIns="0" bIns="0" rtlCol="0" anchor="t"/>
          <a:lstStyle/>
          <a:p>
            <a:pPr indent="0" marL="0">
              <a:buNone/>
            </a:pPr>
            <a:r>
              <a:rPr lang="en-US" sz="1400" dirty="0">
                <a:solidFill>
                  <a:srgbClr val="31373E"/>
                </a:solidFill>
                <a:latin typeface="Calibri" pitchFamily="34" charset="0"/>
                <a:ea typeface="Calibri" pitchFamily="34" charset="-122"/>
                <a:cs typeface="Calibri" pitchFamily="34" charset="-120"/>
              </a:rPr>
              <a:t>A timestamped event strip shows who sent what to whom. One click opens the full payload.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31373E"/>
                </a:solidFill>
                <a:latin typeface="Calibri" pitchFamily="34" charset="0"/>
                <a:ea typeface="Calibri" pitchFamily="34" charset="-122"/>
                <a:cs typeface="Calibri" pitchFamily="34" charset="-120"/>
              </a:rPr>
              <a:t>Proposed deployment in Ryde’s system</a:t>
            </a:r>
            <a:endParaRPr lang="en-US" sz="3000" dirty="0"/>
          </a:p>
        </p:txBody>
      </p:sp>
      <p:pic>
        <p:nvPicPr>
          <p:cNvPr id="3" name="Image 0" descr="Architecture: the Ryde app creates a ticket in Ryde's existing CS tool; a dispute event goes to the decision service running in Ryde's own cluster (Evidence Pack, three agents, gates), which reads trips, GPS, fares and chat from Ryde's data services, calls Tencent Cloud ADP: V4 Flash for the two advocates, V4 Pro for the Judge, and returns a ruling or a withheld case to the CS tool; Ryde payments apply any refund and CS agents review withheld cases.">    </p:cNvPr>
          <p:cNvPicPr>
            <a:picLocks noChangeAspect="1"/>
          </p:cNvPicPr>
          <p:nvPr/>
        </p:nvPicPr>
        <p:blipFill>
          <a:blip r:embed="rId1"/>
          <a:stretch>
            <a:fillRect/>
          </a:stretch>
        </p:blipFill>
        <p:spPr>
          <a:xfrm>
            <a:off x="640080" y="1051560"/>
            <a:ext cx="7863840" cy="3099396"/>
          </a:xfrm>
          <a:prstGeom prst="rect">
            <a:avLst/>
          </a:prstGeom>
        </p:spPr>
      </p:pic>
      <p:sp>
        <p:nvSpPr>
          <p:cNvPr id="4" name="Text 1"/>
          <p:cNvSpPr txBox="1"/>
          <p:nvPr/>
        </p:nvSpPr>
        <p:spPr>
          <a:xfrm>
            <a:off x="457200" y="4224528"/>
            <a:ext cx="8229600" cy="502920"/>
          </a:xfrm>
          <a:prstGeom prst="rect">
            <a:avLst/>
          </a:prstGeom>
          <a:noFill/>
          <a:ln/>
        </p:spPr>
        <p:txBody>
          <a:bodyPr wrap="square" lIns="0" tIns="0" rIns="0" bIns="0" rtlCol="0" anchor="t"/>
          <a:lstStyle/>
          <a:p>
            <a:pPr indent="0" marL="0">
              <a:buNone/>
            </a:pPr>
            <a:r>
              <a:rPr lang="en-US" sz="1400" b="1" dirty="0">
                <a:solidFill>
                  <a:srgbClr val="E93864"/>
                </a:solidFill>
                <a:latin typeface="Calibri" pitchFamily="34" charset="0"/>
                <a:ea typeface="Calibri" pitchFamily="34" charset="-122"/>
                <a:cs typeface="Calibri" pitchFamily="34" charset="-120"/>
              </a:rPr>
              <a:t>Ryde keeps the money and the customer: the service only recommends. </a:t>
            </a:r>
            <a:pPr indent="0" marL="0">
              <a:buNone/>
            </a:pPr>
            <a:r>
              <a:rPr lang="en-US" sz="1400" dirty="0">
                <a:solidFill>
                  <a:srgbClr val="31373E"/>
                </a:solidFill>
                <a:latin typeface="Calibri" pitchFamily="34" charset="0"/>
                <a:ea typeface="Calibri" pitchFamily="34" charset="-122"/>
                <a:cs typeface="Calibri" pitchFamily="34" charset="-120"/>
              </a:rPr>
              <a:t>Rollout: shadow, assist, limited autonomy, expand.</a:t>
            </a:r>
            <a:endParaRPr lang="en-US" sz="1400" dirty="0"/>
          </a:p>
        </p:txBody>
      </p:sp>
      <p:sp>
        <p:nvSpPr>
          <p:cNvPr id="5" name="Text 2"/>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rgbClr val="5A6470"/>
                </a:solidFill>
                <a:latin typeface="Calibri" pitchFamily="34" charset="0"/>
                <a:ea typeface="Calibri" pitchFamily="34" charset="-122"/>
                <a:cs typeface="Calibri" pitchFamily="34" charset="-120"/>
              </a:rPr>
              <a:t>Runs on Ryde’s own infrastructure: only the model calls leave, to Tencent Cloud ADP.</a:t>
            </a:r>
            <a:endParaRPr lang="en-US" sz="1000" dirty="0"/>
          </a:p>
        </p:txBody>
      </p:sp>
    </p:spTree>
  </p:cSld>
  <p:clrMapOvr>
    <a:masterClrMapping/>
  </p:clrMapOvr>
</p:sld>
</file>

<file path=ppt/theme/theme1.xml><?xml version="1.0" encoding="utf-8"?>
<a:theme xmlns:a="http://schemas.openxmlformats.org/drawingml/2006/main" name="Ryde Dispute Pitch">
  <a:themeElements>
    <a:clrScheme name="Ryde Dispute Pitch">
      <a:dk1>
        <a:srgbClr val="31373E"/>
      </a:dk1>
      <a:lt1>
        <a:srgbClr val="FFFFFF"/>
      </a:lt1>
      <a:dk2>
        <a:srgbClr val="5A6470"/>
      </a:dk2>
      <a:lt2>
        <a:srgbClr val="F7DDE3"/>
      </a:lt2>
      <a:accent1>
        <a:srgbClr val="E93864"/>
      </a:accent1>
      <a:accent2>
        <a:srgbClr val="31373E"/>
      </a:accent2>
      <a:accent3>
        <a:srgbClr val="8A94A0"/>
      </a:accent3>
      <a:accent4>
        <a:srgbClr val="F6A5B8"/>
      </a:accent4>
      <a:accent5>
        <a:srgbClr val="B3264A"/>
      </a:accent5>
      <a:accent6>
        <a:srgbClr val="D9DEE4"/>
      </a:accent6>
      <a:hlink>
        <a:srgbClr val="E93864"/>
      </a:hlink>
      <a:folHlink>
        <a:srgbClr val="5A6470"/>
      </a:folHlink>
    </a:clrScheme>
    <a:fontScheme name="Ryde Dispute Pit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Ryde: Multi-Agent Autonomous Dispute Resolution</dc:title>
  <dc:subject>PptxGenJS Presentation</dc:subject>
  <dc:creator>Ryde dispute resolution team</dc:creator>
  <cp:lastModifiedBy>Ryde dispute resolution team</cp:lastModifiedBy>
  <cp:revision>1</cp:revision>
  <dcterms:created xsi:type="dcterms:W3CDTF">2026-10-13T15:57:05Z</dcterms:created>
  <dcterms:modified xsi:type="dcterms:W3CDTF">2026-10-13T15:57:05Z</dcterms:modified>
</cp:coreProperties>
</file>